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Marks of 200</c:v>
                </c:pt>
              </c:strCache>
            </c:strRef>
          </c:tx>
          <c:spPr>
            <a:solidFill>
              <a:srgbClr val="0D2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D2B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2B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A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Number &amp; algebra</c:v>
                  </c:pt>
                  <c:pt idx="1">
                    <c:v>Shape, space &amp; measure</c:v>
                  </c:pt>
                  <c:pt idx="2">
                    <c:v>Handling data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50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D2B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0D2B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b"/>
        <c:majorGridlines>
          <c:spPr>
            <a:ln w="12700" cap="flat">
              <a:solidFill>
                <a:srgbClr val="E4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for the November 2026 resit. Audience: student and parent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runs 27 Oct to 19 Nov. She must stay available to 19 Nov.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 2025 Higher boundaries: 9=166, 8=136, 7=107, 6=86, 5=65, 4=45. Verify against Pearson before quoting.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Weightings from the 4MA1 spec: AO1 Number &amp; algebra 57-63%, AO2 Shape 22-28%, AO3 Data 12-18%.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 papers are a measuring tool, not a teaching tool. We do not spend them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daily drill is not happening by end of week 2, that is the problem to solve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852160" cy="5852160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TUTORS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Plan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Edexcel IGCSE Mathematics A (4MA1)  ·  Higher Tier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57200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57200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to Paper 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806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21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papers, two days apart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38144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0195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Paper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9067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teaching weeks and two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38144" cy="2286000"/>
          </a:xfrm>
          <a:prstGeom prst="roundRect">
            <a:avLst>
              <a:gd name="adj" fmla="val 4000"/>
            </a:avLst>
          </a:prstGeom>
          <a:solidFill>
            <a:srgbClr val="FDF3E2"/>
          </a:solidFill>
          <a:ln w="12700">
            <a:solidFill>
              <a:srgbClr val="FDF3E2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190195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4 Nov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1H  ·  morning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09067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100 marks · calculator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38144" cy="2286000"/>
          </a:xfrm>
          <a:prstGeom prst="roundRect">
            <a:avLst>
              <a:gd name="adj" fmla="val 4000"/>
            </a:avLst>
          </a:prstGeom>
          <a:solidFill>
            <a:srgbClr val="FDF3E2"/>
          </a:solidFill>
          <a:ln w="12700">
            <a:solidFill>
              <a:srgbClr val="FDF3E2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9328" y="190195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Nov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2H  ·  morning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09067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100 marks · calculator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10917936" cy="1737360"/>
          </a:xfrm>
          <a:prstGeom prst="roundRect">
            <a:avLst>
              <a:gd name="adj" fmla="val 5263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5720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papers allow a calculator.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029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 more than it sounds. Every mark lost to arithmetic is recoverable with calculator technique rather than months of number work — so we teach the calculator properly in week one, and check the degree mode every single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hunting 65 marks, not a syllabus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47088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out of 200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114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the grade 5 boundary on Higher tier in November 2025 — just under a third of the paper.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against 70 to leave margin, because boundaries move each series.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91640"/>
          <a:ext cx="5888736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/ 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D2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2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2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/ 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3977640"/>
            <a:ext cx="5888736" cy="1874520"/>
          </a:xfrm>
          <a:prstGeom prst="roundRect">
            <a:avLst>
              <a:gd name="adj" fmla="val 48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4206240"/>
            <a:ext cx="5248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40% of every Higher paper — about 80 marks — is pitched at grades 4 and 5.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892040"/>
            <a:ext cx="5248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mark she needs is sitting in the easiest 40% of the paper. The plan is to harvest that band almost perfectly — not to climb the whole tier.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MARKS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and algebra is 60% of the qualification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105656" cy="1874520"/>
          </a:xfrm>
          <a:prstGeom prst="roundRect">
            <a:avLst>
              <a:gd name="adj" fmla="val 4878"/>
            </a:avLst>
          </a:prstGeom>
          <a:solidFill>
            <a:srgbClr val="FDF3E2"/>
          </a:solidFill>
          <a:ln w="12700">
            <a:solidFill>
              <a:srgbClr val="FDF3E2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0" y="1965960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weakest area is also the biggest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560320"/>
            <a:ext cx="3465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9 gaps sit in number and algebra. Fixing them pays out across 120 marks, not 20.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52360" y="3886200"/>
            <a:ext cx="4105656" cy="1874520"/>
          </a:xfrm>
          <a:prstGeom prst="roundRect">
            <a:avLst>
              <a:gd name="adj" fmla="val 48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0" y="4114800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data is the cheapest 25 marks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709160"/>
            <a:ext cx="3465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Averages, tables, probability and Venn diagrams barely touch algebra — so weak algebra does not block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weeks,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17320" y="2505456"/>
            <a:ext cx="9354312" cy="50292"/>
          </a:xfrm>
          <a:prstGeom prst="rect">
            <a:avLst/>
          </a:prstGeom>
          <a:solidFill>
            <a:srgbClr val="2C4A6B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385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21–27 Sep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92908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290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99132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Sep–4 Oct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9132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51960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58184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5–11 Oct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58184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11012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11012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17236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Oct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17236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+ 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70064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7006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19–25 Oct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29116" y="22860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2911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3534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Oct–1 Nov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353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488168" y="2286000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8816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&amp; 6 Nov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994392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43400"/>
            <a:ext cx="10917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shifts as we go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3438144" cy="1051560"/>
          </a:xfrm>
          <a:prstGeom prst="roundRect">
            <a:avLst>
              <a:gd name="adj" fmla="val 869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96112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2486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teaching  ·  10% exam questions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52544" y="4800600"/>
            <a:ext cx="3438144" cy="1051560"/>
          </a:xfrm>
          <a:prstGeom prst="roundRect">
            <a:avLst>
              <a:gd name="adj" fmla="val 869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608576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608576" y="52486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papers, roughly evenly split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65008" y="4800600"/>
            <a:ext cx="3438144" cy="1051560"/>
          </a:xfrm>
          <a:prstGeom prst="roundRect">
            <a:avLst>
              <a:gd name="adj" fmla="val 869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32104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52486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teaching  ·  70% full timed papers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AND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foundations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21–27 Sep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audit — 35 questions, 50 minutes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numbers, to automaticity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drill: fraction key, ANS, degree mode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error 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negatives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work this week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28 Sep–4 Oct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engine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— all four operations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multipliers: increase and decrease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percentages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per topic, used every 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negatives + fractions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past-paper percentage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AND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block of marks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5–11 Oct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algebra spine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terms and expanding brackets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with x on both sides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and rearranging formulae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audit — checkpoint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fractions + percentages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timed section — 25 minutes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12–18 Oct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marks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by the unitary method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and frequency tables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mean from grouped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Probability, tree diagrams and Venn diagrams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solving + ratio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section — 40 minutes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AND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then papers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19–25 Oct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space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facts, area and perimeter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Circles, prisms and cylinders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Pythagoras and SOHCAHTOA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sheet, as a topic in itself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all six bottleneck skills, mixed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paper — 2 hours, exam conditions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664208"/>
            <a:ext cx="5413248" cy="4133088"/>
          </a:xfrm>
          <a:prstGeom prst="roundRect">
            <a:avLst>
              <a:gd name="adj" fmla="val 22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956816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26 Oct–1 Nov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term: papers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779776"/>
            <a:ext cx="4754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and patch the full paper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formula, sine and cosine rules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technique and pacing session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audit — checkpoint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361688"/>
            <a:ext cx="4736592" cy="18288"/>
          </a:xfrm>
          <a:prstGeom prst="rect">
            <a:avLst/>
          </a:prstGeom>
          <a:solidFill>
            <a:srgbClr val="D3DFEA"/>
          </a:solidFill>
          <a:ln w="12700">
            <a:solidFill>
              <a:srgbClr val="D3D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4988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709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drill: straight from the error log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06577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WORK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2760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full paper, then patch the top five losses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6 November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78608" cy="4023360"/>
          </a:xfrm>
          <a:prstGeom prst="roundRect">
            <a:avLst>
              <a:gd name="adj" fmla="val 354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9659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 NOV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71800"/>
            <a:ext cx="20665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content. Retrieval of everything, pacing rehearsal, calculator check. Finish on something she is good 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737360"/>
            <a:ext cx="2578608" cy="4023360"/>
          </a:xfrm>
          <a:prstGeom prst="roundRect">
            <a:avLst>
              <a:gd name="adj" fmla="val 354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94176" y="19659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4 NOV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94176" y="22402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94176" y="2971800"/>
            <a:ext cx="20665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· 2 hours · 100 marks. Two passes: everything she recognises first, then return. Last 10 minutes checking what she got right.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737360"/>
            <a:ext cx="2578608" cy="4023360"/>
          </a:xfrm>
          <a:prstGeom prst="roundRect">
            <a:avLst>
              <a:gd name="adj" fmla="val 354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19659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5 NOV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2402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day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71800"/>
            <a:ext cx="20665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session in the plan. No detailed post-mortem — find the two or three topics she could not start, and drill exactly those.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4272" y="1737360"/>
            <a:ext cx="2578608" cy="4023360"/>
          </a:xfrm>
          <a:prstGeom prst="roundRect">
            <a:avLst>
              <a:gd name="adj" fmla="val 354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0304" y="19659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NOV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90304" y="22402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07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2H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971800"/>
            <a:ext cx="20665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· 2 hours · 100 marks. Same pacing. Both papers cover the full specification, so topics recur.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17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content after 28 October. The last week consolidates what is already there.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teach, and what we deliberately skip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13248" cy="411480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12064" cy="512064"/>
          </a:xfrm>
          <a:prstGeom prst="ellipse">
            <a:avLst/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teach this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80 marks live here. This list alone, done well, is a grade 5.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2004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Fractions, decimals, percentages, reverse percentages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Negatives, indices, standard form, rounding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and proportion by the unitary method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Solving, expanding, substituting, rearranging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and straight-line graphs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Angles, area, circles, prisms, Pythagoras, trigonometry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Averages, frequency tables, probability, Venn diagrams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1691640"/>
            <a:ext cx="523036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1691640"/>
            <a:ext cx="523036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2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1965960"/>
            <a:ext cx="512064" cy="512064"/>
          </a:xfrm>
          <a:prstGeom prst="ellipse">
            <a:avLst/>
          </a:prstGeom>
          <a:solidFill>
            <a:srgbClr val="C24B3F"/>
          </a:solidFill>
          <a:ln w="12700">
            <a:solidFill>
              <a:srgbClr val="C24B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768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011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skip this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60–80 marks she would convert almost none of in six weeks.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2004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theorems and their proofs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and vector geometry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unequal class widths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fractions, functions, graph transformations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Surds, bounds, 3D trigonometry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simultaneous equations and inequalities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volume scale factors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25312"/>
            <a:ext cx="10917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she learns to recognise one of these in ten seconds and move on. Time spent on a question she was never going to get is how you lose marks you already had.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SESSIONS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 a day is half the plan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917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days a week for six weeks is twelve hours — as much as every lesson combined. Automaticity comes from spacing, and no single long session substitutes for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38144" cy="2194560"/>
          </a:xfrm>
          <a:prstGeom prst="roundRect">
            <a:avLst>
              <a:gd name="adj" fmla="val 41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50592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drill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4670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quick reps of this week's target skill. Timed, score written down.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2240280"/>
            <a:ext cx="3438144" cy="2194560"/>
          </a:xfrm>
          <a:prstGeom prst="roundRect">
            <a:avLst>
              <a:gd name="adj" fmla="val 4167"/>
            </a:avLst>
          </a:prstGeom>
          <a:solidFill>
            <a:srgbClr val="FDF3E2"/>
          </a:solidFill>
          <a:ln w="12700">
            <a:solidFill>
              <a:srgbClr val="FDF3E2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26864" y="2450592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retrieval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34670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from topics already taught, deliberately not grouped together.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2240280"/>
            <a:ext cx="3438144" cy="2194560"/>
          </a:xfrm>
          <a:prstGeom prst="roundRect">
            <a:avLst>
              <a:gd name="adj" fmla="val 41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9328" y="2450592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346704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it, then redo two past errors without looking at the correction.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917936" cy="1371600"/>
          </a:xfrm>
          <a:prstGeom prst="roundRect">
            <a:avLst>
              <a:gd name="adj" fmla="val 6667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5074920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5102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learning at home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85032" y="5074920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85032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15384" y="5102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marks her own work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64224" y="5074920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4224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94576" y="5102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every day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43416" y="5074920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43416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573768" y="5102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the marked sheet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it is working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numbers, tracked all the way through: her audit score, and her marks on a timed paper. Nothing else.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37744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3347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101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7764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map, not a grade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8144" y="214884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94176" y="237744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63347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33101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re-run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94176" y="397764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should have moved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6208" y="214884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237744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3347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paper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101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100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97764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a grade 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34272" y="214884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90304" y="237744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63347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full paper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33101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100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397764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rising from week 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230368"/>
            <a:ext cx="10917936" cy="868680"/>
          </a:xfrm>
          <a:prstGeom prst="roundRect">
            <a:avLst>
              <a:gd name="adj" fmla="val 10526"/>
            </a:avLst>
          </a:prstGeom>
          <a:solidFill>
            <a:srgbClr val="FDF3E2"/>
          </a:solidFill>
          <a:ln w="12700">
            <a:solidFill>
              <a:srgbClr val="FDF3E2"/>
            </a:solidFill>
            <a:prstDash val="solid"/>
          </a:ln>
          <a:effectLst>
            <a:outerShdw sx="100000" sy="100000" kx="0" ky="0" algn="bl" rotWithShape="0" blurRad="152400" dist="25400" dir="5400000">
              <a:srgbClr val="1A2E45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 you get one line: what we taught, her retrieval score out of six, and whether the homework came back.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035040" cy="6035040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4173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plan, in one 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01168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six broken fundamentals,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the easiest 40% of the paper,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leave the rest alone.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2628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4892040"/>
            <a:ext cx="420624" cy="42062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entry, tier and exam times with school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0288" y="4892040"/>
            <a:ext cx="420624" cy="42062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fluency audit in session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0416" y="4892040"/>
            <a:ext cx="420624" cy="42062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0416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00416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error log and the daily 20 minutes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6172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Tutors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Ali Tutors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IGCSE Maths Higher — November Plan</dc:title>
  <dc:subject>PptxGenJS Presentation</dc:subject>
  <dc:creator>Ali Tutors</dc:creator>
  <cp:lastModifiedBy>Ali Tutors</cp:lastModifiedBy>
  <cp:revision>1</cp:revision>
  <dcterms:created xsi:type="dcterms:W3CDTF">2026-09-21T11:53:59Z</dcterms:created>
  <dcterms:modified xsi:type="dcterms:W3CDTF">2026-09-21T11:53:59Z</dcterms:modified>
</cp:coreProperties>
</file>