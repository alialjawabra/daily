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Marks of 200</c:v>
                </c:pt>
              </c:strCache>
            </c:strRef>
          </c:tx>
          <c:spPr>
            <a:solidFill>
              <a:srgbClr val="9AA6B8"/>
            </a:solidFill>
            <a:effectLst/>
          </c:spPr>
          <c:invertIfNegative val="0"/>
          <c:dLbls>
            <c:numFmt formatCode="#,##0" sourceLinked="0"/>
            <c:txPr>
              <a:bodyPr/>
              <a:lstStyle/>
              <a:p>
                <a:pPr>
                  <a:defRPr b="1" i="0" strike="noStrike" sz="1200" u="none">
                    <a:solidFill>
                      <a:srgbClr val="162947"/>
                    </a:solidFill>
                    <a:latin typeface="Arial"/>
                  </a:defRPr>
                </a:pPr>
              </a:p>
            </c:txPr>
            <c:showLegendKey val="0"/>
            <c:showVal val="1"/>
            <c:showCatName val="0"/>
            <c:showSerName val="0"/>
            <c:showPercent val="0"/>
            <c:showBubbleSize val="0"/>
            <c:showLeaderLines val="0"/>
          </c:dLbls>
          <c:dPt>
            <c:idx val="0"/>
            <c:invertIfNegative val="0"/>
            <c:bubble3D val="0"/>
            <c:spPr>
              <a:solidFill>
                <a:srgbClr val="9AA6B8"/>
              </a:solidFill>
              <a:effectLst/>
            </c:spPr>
          </c:dPt>
          <c:dPt>
            <c:idx val="1"/>
            <c:invertIfNegative val="0"/>
            <c:bubble3D val="0"/>
            <c:spPr>
              <a:solidFill>
                <a:srgbClr val="C3A965"/>
              </a:solidFill>
              <a:effectLst/>
            </c:spPr>
          </c:dPt>
          <c:dPt>
            <c:idx val="2"/>
            <c:invertIfNegative val="0"/>
            <c:bubble3D val="0"/>
            <c:spPr>
              <a:solidFill>
                <a:srgbClr val="162947"/>
              </a:solidFill>
              <a:effectLst/>
            </c:spPr>
          </c:dPt>
          <c:cat>
            <c:multiLvlStrRef>
              <c:f>Sheet1!$A$2:$A$4</c:f>
              <c:multiLvlStrCache>
                <c:ptCount val="3"/>
                <c:lvl>
                  <c:pt idx="0">
                    <c:v>Handling data</c:v>
                  </c:pt>
                  <c:pt idx="1">
                    <c:v>Shape, space and measure</c:v>
                  </c:pt>
                  <c:pt idx="2">
                    <c:v>Number and algebra</c:v>
                  </c:pt>
                </c:lvl>
              </c:multiLvlStrCache>
            </c:multiLvlStrRef>
          </c:cat>
          <c:val>
            <c:numRef>
              <c:f>Sheet1!$B$2:$B$4</c:f>
              <c:numCache>
                <c:formatCode>General</c:formatCode>
                <c:ptCount val="3"/>
                <c:pt idx="0">
                  <c:v>30</c:v>
                </c:pt>
                <c:pt idx="1">
                  <c:v>50</c:v>
                </c:pt>
                <c:pt idx="2">
                  <c:v>120</c:v>
                </c:pt>
              </c:numCache>
            </c:numRef>
          </c:val>
        </c:ser>
        <c:dLbls>
          <c:numFmt formatCode="#,##0" sourceLinked="0"/>
          <c:txPr>
            <a:bodyPr/>
            <a:lstStyle/>
            <a:p>
              <a:pPr>
                <a:defRPr b="1" i="0" strike="noStrike" sz="1200" u="none">
                  <a:solidFill>
                    <a:srgbClr val="162947"/>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162947"/>
                </a:solidFill>
                <a:latin typeface="Arial"/>
              </a:defRPr>
            </a:pPr>
            <a:endParaRPr lang="en-US"/>
          </a:p>
        </c:txPr>
        <c:crossAx val="2094734552"/>
        <c:crosses val="autoZero"/>
        <c:auto val="1"/>
        <c:lblAlgn val="ctr"/>
        <c:noMultiLvlLbl val="1"/>
      </c:catAx>
      <c:valAx>
        <c:axId val="2094734552"/>
        <c:scaling>
          <c:orientation val="minMax"/>
          <c:max val="1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6F4EF"/>
        </a:solidFill>
        <a:ln>
          <a:noFill/>
        </a:ln>
        <a:effectLst/>
      </c:spPr>
    </c:plotArea>
    <c:plotVisOnly val="1"/>
    <c:dispBlanksAs val="span"/>
  </c:chart>
  <c:spPr>
    <a:solidFill>
      <a:srgbClr val="F6F4E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Audience: student and parent together. Series runs 27 Oct to 19 Nov, so she must stay available to 19 Nov.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exact session times with the school. Late entry deadlines for the November series fall in early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 2025 Higher boundaries used here: 9=166, 8=136, 7=107, 6=86, 5=65, 4=45. Verify against the Pearson published boundaries before quoting to the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Weightings from the 4MA1 specification: Number and algebra 57 to 63%, Shape space and measure 22 to 28%, Handling data 12 to 18%. The pool figures are estimates from past paper analysis, not published values.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 papers are a measuring tool as well as a teaching tool. The week 1 paper is a baseline, sat at home over the first weekend and marked together in session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 1 baseline is the argument to make if it is questioned. A paper she can only start a third of still tells us what she reaches for, where she blanks and how she uses the clock, and none of that comes out of a fluency audit. Weeks 2 to 4 have no full paper because a second low score teaches nothing the first has not already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Thursday is the highest-value session in the week. Keep it short and specific. Do not review the whole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additions to the teach list since the first draft are linear simultaneous equations and scale factors. Both are single-rule topics that recur and cost under half a session each. The quadratic formula and the sine and cosine rules move to the leave list: they sit above her band and were the only new content previously scheduled for the final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new. On a calculator paper at grade 5, blanks and missing working are usually worth more than any topic we could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947"/>
        </a:solidFill>
      </p:bgPr>
    </p:bg>
    <p:spTree>
      <p:nvGrpSpPr>
        <p:cNvPr id="1" name=""/>
        <p:cNvGrpSpPr/>
        <p:nvPr/>
      </p:nvGrpSpPr>
      <p:grpSpPr>
        <a:xfrm>
          <a:off x="0" y="0"/>
          <a:ext cx="0" cy="0"/>
          <a:chOff x="0" y="0"/>
          <a:chExt cx="0" cy="0"/>
        </a:xfrm>
      </p:grpSpPr>
      <p:sp>
        <p:nvSpPr>
          <p:cNvPr id="2" name="Shape 0"/>
          <p:cNvSpPr/>
          <p:nvPr/>
        </p:nvSpPr>
        <p:spPr>
          <a:xfrm>
            <a:off x="8732520" y="-1554480"/>
            <a:ext cx="4754880" cy="4754880"/>
          </a:xfrm>
          <a:prstGeom prst="ellipse">
            <a:avLst/>
          </a:prstGeom>
          <a:solidFill>
            <a:srgbClr val="1C3255"/>
          </a:solidFill>
          <a:ln/>
        </p:spPr>
      </p:sp>
      <p:sp>
        <p:nvSpPr>
          <p:cNvPr id="3" name="Shape 1"/>
          <p:cNvSpPr/>
          <p:nvPr/>
        </p:nvSpPr>
        <p:spPr>
          <a:xfrm>
            <a:off x="10378440" y="4709160"/>
            <a:ext cx="2834640" cy="2834640"/>
          </a:xfrm>
          <a:prstGeom prst="ellipse">
            <a:avLst/>
          </a:prstGeom>
          <a:solidFill>
            <a:srgbClr val="C3A965"/>
          </a:solidFill>
          <a:ln/>
        </p:spPr>
      </p:sp>
      <p:sp>
        <p:nvSpPr>
          <p:cNvPr id="4" name="Text 2"/>
          <p:cNvSpPr txBox="1"/>
          <p:nvPr/>
        </p:nvSpPr>
        <p:spPr>
          <a:xfrm>
            <a:off x="685800" y="777240"/>
            <a:ext cx="5486400" cy="274320"/>
          </a:xfrm>
          <a:prstGeom prst="rect">
            <a:avLst/>
          </a:prstGeom>
          <a:noFill/>
          <a:ln/>
        </p:spPr>
        <p:txBody>
          <a:bodyPr wrap="square" lIns="0" tIns="0" rIns="0" bIns="0" rtlCol="0" anchor="ctr"/>
          <a:lstStyle/>
          <a:p>
            <a:pPr indent="0" marL="0">
              <a:buNone/>
            </a:pPr>
            <a:r>
              <a:rPr lang="en-US" sz="1100" b="1" spc="300" kern="0" dirty="0">
                <a:solidFill>
                  <a:srgbClr val="C3A965"/>
                </a:solidFill>
                <a:latin typeface="Arial" pitchFamily="34" charset="0"/>
                <a:ea typeface="Arial" pitchFamily="34" charset="-122"/>
                <a:cs typeface="Arial" pitchFamily="34" charset="-120"/>
              </a:rPr>
              <a:t>ALI TUTORS</a:t>
            </a:r>
            <a:endParaRPr lang="en-US" sz="1100" dirty="0"/>
          </a:p>
        </p:txBody>
      </p:sp>
      <p:sp>
        <p:nvSpPr>
          <p:cNvPr id="5" name="Text 3"/>
          <p:cNvSpPr txBox="1"/>
          <p:nvPr/>
        </p:nvSpPr>
        <p:spPr>
          <a:xfrm>
            <a:off x="685800" y="1371600"/>
            <a:ext cx="7315200" cy="2011680"/>
          </a:xfrm>
          <a:prstGeom prst="rect">
            <a:avLst/>
          </a:prstGeom>
          <a:noFill/>
          <a:ln/>
        </p:spPr>
        <p:txBody>
          <a:bodyPr wrap="square" lIns="0" tIns="0" rIns="0" bIns="0" rtlCol="0" anchor="ctr"/>
          <a:lstStyle/>
          <a:p>
            <a:pPr indent="0" marL="0">
              <a:lnSpc>
                <a:spcPts val="6200"/>
              </a:lnSpc>
              <a:buNone/>
            </a:pPr>
            <a:r>
              <a:rPr lang="en-US" sz="5800" dirty="0">
                <a:solidFill>
                  <a:srgbClr val="F6F4EF"/>
                </a:solidFill>
                <a:latin typeface="Cambria" pitchFamily="34" charset="0"/>
                <a:ea typeface="Cambria" pitchFamily="34" charset="-122"/>
                <a:cs typeface="Cambria" pitchFamily="34" charset="-120"/>
              </a:rPr>
              <a:t>November</a:t>
            </a:r>
            <a:endParaRPr lang="en-US" sz="5800" dirty="0"/>
          </a:p>
          <a:p>
            <a:pPr indent="0" marL="0">
              <a:lnSpc>
                <a:spcPts val="6200"/>
              </a:lnSpc>
              <a:buNone/>
            </a:pPr>
            <a:r>
              <a:rPr lang="en-US" sz="5800" dirty="0">
                <a:solidFill>
                  <a:srgbClr val="F6F4EF"/>
                </a:solidFill>
                <a:latin typeface="Cambria" pitchFamily="34" charset="0"/>
                <a:ea typeface="Cambria" pitchFamily="34" charset="-122"/>
                <a:cs typeface="Cambria" pitchFamily="34" charset="-120"/>
              </a:rPr>
              <a:t>Maths Plan</a:t>
            </a:r>
            <a:endParaRPr lang="en-US" sz="5800" dirty="0"/>
          </a:p>
        </p:txBody>
      </p:sp>
      <p:sp>
        <p:nvSpPr>
          <p:cNvPr id="6" name="Text 4"/>
          <p:cNvSpPr txBox="1"/>
          <p:nvPr/>
        </p:nvSpPr>
        <p:spPr>
          <a:xfrm>
            <a:off x="685800" y="3611880"/>
            <a:ext cx="7315200" cy="329184"/>
          </a:xfrm>
          <a:prstGeom prst="rect">
            <a:avLst/>
          </a:prstGeom>
          <a:noFill/>
          <a:ln/>
        </p:spPr>
        <p:txBody>
          <a:bodyPr wrap="square" lIns="0" tIns="0" rIns="0" bIns="0" rtlCol="0" anchor="ctr"/>
          <a:lstStyle/>
          <a:p>
            <a:pPr indent="0" marL="0">
              <a:buNone/>
            </a:pPr>
            <a:r>
              <a:rPr lang="en-US" sz="1500" dirty="0">
                <a:solidFill>
                  <a:srgbClr val="E8E4DA"/>
                </a:solidFill>
                <a:latin typeface="Arial" pitchFamily="34" charset="0"/>
                <a:ea typeface="Arial" pitchFamily="34" charset="-122"/>
                <a:cs typeface="Arial" pitchFamily="34" charset="-120"/>
              </a:rPr>
              <a:t>Edexcel IGCSE Mathematics A (4MA1)  ·  Higher Tier</a:t>
            </a:r>
            <a:endParaRPr lang="en-US" sz="1500" dirty="0"/>
          </a:p>
        </p:txBody>
      </p:sp>
      <p:sp>
        <p:nvSpPr>
          <p:cNvPr id="7" name="Shape 5"/>
          <p:cNvSpPr/>
          <p:nvPr/>
        </p:nvSpPr>
        <p:spPr>
          <a:xfrm>
            <a:off x="685800" y="4224528"/>
            <a:ext cx="2670048" cy="512064"/>
          </a:xfrm>
          <a:prstGeom prst="roundRect">
            <a:avLst>
              <a:gd name="adj" fmla="val 50000"/>
            </a:avLst>
          </a:prstGeom>
          <a:ln w="12700">
            <a:solidFill>
              <a:srgbClr val="C3A965"/>
            </a:solidFill>
            <a:prstDash val="solid"/>
          </a:ln>
        </p:spPr>
      </p:sp>
      <p:sp>
        <p:nvSpPr>
          <p:cNvPr id="8" name="Text 6"/>
          <p:cNvSpPr txBox="1"/>
          <p:nvPr/>
        </p:nvSpPr>
        <p:spPr>
          <a:xfrm>
            <a:off x="685800" y="4224528"/>
            <a:ext cx="2670048" cy="512064"/>
          </a:xfrm>
          <a:prstGeom prst="rect">
            <a:avLst/>
          </a:prstGeom>
          <a:noFill/>
          <a:ln/>
        </p:spPr>
        <p:txBody>
          <a:bodyPr wrap="square" lIns="0" tIns="0" rIns="0" bIns="0" rtlCol="0" anchor="ctr"/>
          <a:lstStyle/>
          <a:p>
            <a:pPr algn="ctr" indent="0" marL="0">
              <a:buNone/>
            </a:pPr>
            <a:r>
              <a:rPr lang="en-US" sz="1000" b="1" spc="160" kern="0" dirty="0">
                <a:solidFill>
                  <a:srgbClr val="C3A965"/>
                </a:solidFill>
                <a:latin typeface="Arial" pitchFamily="34" charset="0"/>
                <a:ea typeface="Arial" pitchFamily="34" charset="-122"/>
                <a:cs typeface="Arial" pitchFamily="34" charset="-120"/>
              </a:rPr>
              <a:t>SIX WEEKS TO PAPER 1</a:t>
            </a:r>
            <a:endParaRPr lang="en-US" sz="1000" dirty="0"/>
          </a:p>
        </p:txBody>
      </p:sp>
      <p:sp>
        <p:nvSpPr>
          <p:cNvPr id="9" name="Text 7"/>
          <p:cNvSpPr txBox="1"/>
          <p:nvPr/>
        </p:nvSpPr>
        <p:spPr>
          <a:xfrm>
            <a:off x="685800" y="5806440"/>
            <a:ext cx="6400800" cy="274320"/>
          </a:xfrm>
          <a:prstGeom prst="rect">
            <a:avLst/>
          </a:prstGeom>
          <a:noFill/>
          <a:ln/>
        </p:spPr>
        <p:txBody>
          <a:bodyPr wrap="square" lIns="0" tIns="0" rIns="0" bIns="0" rtlCol="0" anchor="ctr"/>
          <a:lstStyle/>
          <a:p>
            <a:pPr indent="0" marL="0">
              <a:buNone/>
            </a:pPr>
            <a:r>
              <a:rPr lang="en-US" sz="1100" dirty="0">
                <a:solidFill>
                  <a:srgbClr val="A8B2C2"/>
                </a:solidFill>
                <a:latin typeface="Arial" pitchFamily="34" charset="0"/>
                <a:ea typeface="Arial" pitchFamily="34" charset="-122"/>
                <a:cs typeface="Arial" pitchFamily="34" charset="-120"/>
              </a:rPr>
              <a:t>Prepared for Charlotte  ·  21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EXAMS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Two papers, two days apart</a:t>
            </a:r>
            <a:endParaRPr lang="en-US" sz="3300" dirty="0"/>
          </a:p>
        </p:txBody>
      </p:sp>
      <p:sp>
        <p:nvSpPr>
          <p:cNvPr id="4" name="Shape 2"/>
          <p:cNvSpPr/>
          <p:nvPr/>
        </p:nvSpPr>
        <p:spPr>
          <a:xfrm>
            <a:off x="685800" y="1691640"/>
            <a:ext cx="3246120" cy="2834640"/>
          </a:xfrm>
          <a:prstGeom prst="roundRect">
            <a:avLst>
              <a:gd name="adj" fmla="val 1290"/>
            </a:avLst>
          </a:prstGeom>
          <a:solidFill>
            <a:srgbClr val="162947"/>
          </a:solidFill>
          <a:ln/>
        </p:spPr>
      </p:sp>
      <p:sp>
        <p:nvSpPr>
          <p:cNvPr id="5" name="Text 3"/>
          <p:cNvSpPr txBox="1"/>
          <p:nvPr/>
        </p:nvSpPr>
        <p:spPr>
          <a:xfrm>
            <a:off x="685800" y="1874520"/>
            <a:ext cx="3246120" cy="1143000"/>
          </a:xfrm>
          <a:prstGeom prst="rect">
            <a:avLst/>
          </a:prstGeom>
          <a:noFill/>
          <a:ln/>
        </p:spPr>
        <p:txBody>
          <a:bodyPr wrap="square" lIns="0" tIns="0" rIns="0" bIns="0" rtlCol="0" anchor="ctr"/>
          <a:lstStyle/>
          <a:p>
            <a:pPr algn="ctr" indent="0" marL="0">
              <a:buNone/>
            </a:pPr>
            <a:r>
              <a:rPr lang="en-US" sz="7600" dirty="0">
                <a:solidFill>
                  <a:srgbClr val="C3A965"/>
                </a:solidFill>
                <a:latin typeface="Cambria" pitchFamily="34" charset="0"/>
                <a:ea typeface="Cambria" pitchFamily="34" charset="-122"/>
                <a:cs typeface="Cambria" pitchFamily="34" charset="-120"/>
              </a:rPr>
              <a:t>44</a:t>
            </a:r>
            <a:endParaRPr lang="en-US" sz="7600" dirty="0"/>
          </a:p>
        </p:txBody>
      </p:sp>
      <p:sp>
        <p:nvSpPr>
          <p:cNvPr id="6" name="Text 4"/>
          <p:cNvSpPr txBox="1"/>
          <p:nvPr/>
        </p:nvSpPr>
        <p:spPr>
          <a:xfrm>
            <a:off x="685800" y="3017520"/>
            <a:ext cx="3246120" cy="274320"/>
          </a:xfrm>
          <a:prstGeom prst="rect">
            <a:avLst/>
          </a:prstGeom>
          <a:noFill/>
          <a:ln/>
        </p:spPr>
        <p:txBody>
          <a:bodyPr wrap="square" lIns="0" tIns="0" rIns="0" bIns="0" rtlCol="0" anchor="ctr"/>
          <a:lstStyle/>
          <a:p>
            <a:pPr algn="ctr" indent="0" marL="0">
              <a:buNone/>
            </a:pPr>
            <a:r>
              <a:rPr lang="en-US" sz="1300" b="1" dirty="0">
                <a:solidFill>
                  <a:srgbClr val="F6F4EF"/>
                </a:solidFill>
                <a:latin typeface="Arial" pitchFamily="34" charset="0"/>
                <a:ea typeface="Arial" pitchFamily="34" charset="-122"/>
                <a:cs typeface="Arial" pitchFamily="34" charset="-120"/>
              </a:rPr>
              <a:t>days until Paper 1</a:t>
            </a:r>
            <a:endParaRPr lang="en-US" sz="1300" dirty="0"/>
          </a:p>
        </p:txBody>
      </p:sp>
      <p:sp>
        <p:nvSpPr>
          <p:cNvPr id="7" name="Text 5"/>
          <p:cNvSpPr txBox="1"/>
          <p:nvPr/>
        </p:nvSpPr>
        <p:spPr>
          <a:xfrm>
            <a:off x="685800" y="3401568"/>
            <a:ext cx="3246120" cy="640080"/>
          </a:xfrm>
          <a:prstGeom prst="rect">
            <a:avLst/>
          </a:prstGeom>
          <a:noFill/>
          <a:ln/>
        </p:spPr>
        <p:txBody>
          <a:bodyPr wrap="square" lIns="0" tIns="0" rIns="0" bIns="0" rtlCol="0" anchor="ctr"/>
          <a:lstStyle/>
          <a:p>
            <a:pPr algn="ctr" indent="0" marL="0">
              <a:lnSpc>
                <a:spcPts val="1600"/>
              </a:lnSpc>
              <a:buNone/>
            </a:pPr>
            <a:r>
              <a:rPr lang="en-US" sz="1100" dirty="0">
                <a:solidFill>
                  <a:srgbClr val="A8B2C2"/>
                </a:solidFill>
                <a:latin typeface="Arial" pitchFamily="34" charset="0"/>
                <a:ea typeface="Arial" pitchFamily="34" charset="-122"/>
                <a:cs typeface="Arial" pitchFamily="34" charset="-120"/>
              </a:rPr>
              <a:t>Six teaching weeks</a:t>
            </a:r>
            <a:endParaRPr lang="en-US" sz="1100" dirty="0"/>
          </a:p>
          <a:p>
            <a:pPr algn="ctr" indent="0" marL="0">
              <a:lnSpc>
                <a:spcPts val="1600"/>
              </a:lnSpc>
              <a:buNone/>
            </a:pPr>
            <a:r>
              <a:rPr lang="en-US" sz="1100" dirty="0">
                <a:solidFill>
                  <a:srgbClr val="A8B2C2"/>
                </a:solidFill>
                <a:latin typeface="Arial" pitchFamily="34" charset="0"/>
                <a:ea typeface="Arial" pitchFamily="34" charset="-122"/>
                <a:cs typeface="Arial" pitchFamily="34" charset="-120"/>
              </a:rPr>
              <a:t>and two days</a:t>
            </a:r>
            <a:endParaRPr lang="en-US" sz="1100" dirty="0"/>
          </a:p>
        </p:txBody>
      </p:sp>
      <p:sp>
        <p:nvSpPr>
          <p:cNvPr id="8" name="Shape 6"/>
          <p:cNvSpPr/>
          <p:nvPr/>
        </p:nvSpPr>
        <p:spPr>
          <a:xfrm>
            <a:off x="4343400" y="1691640"/>
            <a:ext cx="7159752" cy="1298448"/>
          </a:xfrm>
          <a:prstGeom prst="roundRect">
            <a:avLst>
              <a:gd name="adj" fmla="val 2817"/>
            </a:avLst>
          </a:prstGeom>
          <a:solidFill>
            <a:srgbClr val="FFFFFF"/>
          </a:solidFill>
          <a:ln w="9525">
            <a:solidFill>
              <a:srgbClr val="E3DFD5"/>
            </a:solidFill>
            <a:prstDash val="solid"/>
          </a:ln>
        </p:spPr>
      </p:sp>
      <p:sp>
        <p:nvSpPr>
          <p:cNvPr id="9" name="Text 7"/>
          <p:cNvSpPr txBox="1"/>
          <p:nvPr/>
        </p:nvSpPr>
        <p:spPr>
          <a:xfrm>
            <a:off x="4663440" y="1911096"/>
            <a:ext cx="1920240" cy="329184"/>
          </a:xfrm>
          <a:prstGeom prst="rect">
            <a:avLst/>
          </a:prstGeom>
          <a:noFill/>
          <a:ln/>
        </p:spPr>
        <p:txBody>
          <a:bodyPr wrap="square" lIns="0" tIns="0" rIns="0" bIns="0" rtlCol="0" anchor="ctr"/>
          <a:lstStyle/>
          <a:p>
            <a:pPr indent="0" marL="0">
              <a:buNone/>
            </a:pPr>
            <a:r>
              <a:rPr lang="en-US" sz="2000" dirty="0">
                <a:solidFill>
                  <a:srgbClr val="C3A965"/>
                </a:solidFill>
                <a:latin typeface="Cambria" pitchFamily="34" charset="0"/>
                <a:ea typeface="Cambria" pitchFamily="34" charset="-122"/>
                <a:cs typeface="Cambria" pitchFamily="34" charset="-120"/>
              </a:rPr>
              <a:t>Wed 4 Nov</a:t>
            </a:r>
            <a:endParaRPr lang="en-US" sz="2000" dirty="0"/>
          </a:p>
        </p:txBody>
      </p:sp>
      <p:sp>
        <p:nvSpPr>
          <p:cNvPr id="10" name="Text 8"/>
          <p:cNvSpPr txBox="1"/>
          <p:nvPr/>
        </p:nvSpPr>
        <p:spPr>
          <a:xfrm>
            <a:off x="6492240" y="1947672"/>
            <a:ext cx="2011680" cy="292608"/>
          </a:xfrm>
          <a:prstGeom prst="rect">
            <a:avLst/>
          </a:prstGeom>
          <a:noFill/>
          <a:ln/>
        </p:spPr>
        <p:txBody>
          <a:bodyPr wrap="square" lIns="0" tIns="0" rIns="0" bIns="0" rtlCol="0" anchor="ctr"/>
          <a:lstStyle/>
          <a:p>
            <a:pPr indent="0" marL="0">
              <a:buNone/>
            </a:pPr>
            <a:r>
              <a:rPr lang="en-US" sz="1500" b="1" dirty="0">
                <a:solidFill>
                  <a:srgbClr val="162947"/>
                </a:solidFill>
                <a:latin typeface="Arial" pitchFamily="34" charset="0"/>
                <a:ea typeface="Arial" pitchFamily="34" charset="-122"/>
                <a:cs typeface="Arial" pitchFamily="34" charset="-120"/>
              </a:rPr>
              <a:t>Paper 1H</a:t>
            </a:r>
            <a:endParaRPr lang="en-US" sz="1500" dirty="0"/>
          </a:p>
        </p:txBody>
      </p:sp>
      <p:sp>
        <p:nvSpPr>
          <p:cNvPr id="11" name="Text 9"/>
          <p:cNvSpPr txBox="1"/>
          <p:nvPr/>
        </p:nvSpPr>
        <p:spPr>
          <a:xfrm>
            <a:off x="4663440" y="2404872"/>
            <a:ext cx="6492240"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Morning  ·  2 hours  ·  100 marks  ·  calculator</a:t>
            </a:r>
            <a:endParaRPr lang="en-US" sz="1150" dirty="0"/>
          </a:p>
        </p:txBody>
      </p:sp>
      <p:sp>
        <p:nvSpPr>
          <p:cNvPr id="12" name="Shape 10"/>
          <p:cNvSpPr/>
          <p:nvPr/>
        </p:nvSpPr>
        <p:spPr>
          <a:xfrm>
            <a:off x="4343400" y="3172968"/>
            <a:ext cx="7159752" cy="1298448"/>
          </a:xfrm>
          <a:prstGeom prst="roundRect">
            <a:avLst>
              <a:gd name="adj" fmla="val 2817"/>
            </a:avLst>
          </a:prstGeom>
          <a:solidFill>
            <a:srgbClr val="FFFFFF"/>
          </a:solidFill>
          <a:ln w="9525">
            <a:solidFill>
              <a:srgbClr val="E3DFD5"/>
            </a:solidFill>
            <a:prstDash val="solid"/>
          </a:ln>
        </p:spPr>
      </p:sp>
      <p:sp>
        <p:nvSpPr>
          <p:cNvPr id="13" name="Text 11"/>
          <p:cNvSpPr txBox="1"/>
          <p:nvPr/>
        </p:nvSpPr>
        <p:spPr>
          <a:xfrm>
            <a:off x="4663440" y="3392424"/>
            <a:ext cx="1920240" cy="329184"/>
          </a:xfrm>
          <a:prstGeom prst="rect">
            <a:avLst/>
          </a:prstGeom>
          <a:noFill/>
          <a:ln/>
        </p:spPr>
        <p:txBody>
          <a:bodyPr wrap="square" lIns="0" tIns="0" rIns="0" bIns="0" rtlCol="0" anchor="ctr"/>
          <a:lstStyle/>
          <a:p>
            <a:pPr indent="0" marL="0">
              <a:buNone/>
            </a:pPr>
            <a:r>
              <a:rPr lang="en-US" sz="2000" dirty="0">
                <a:solidFill>
                  <a:srgbClr val="C3A965"/>
                </a:solidFill>
                <a:latin typeface="Cambria" pitchFamily="34" charset="0"/>
                <a:ea typeface="Cambria" pitchFamily="34" charset="-122"/>
                <a:cs typeface="Cambria" pitchFamily="34" charset="-120"/>
              </a:rPr>
              <a:t>Fri 6 Nov</a:t>
            </a:r>
            <a:endParaRPr lang="en-US" sz="2000" dirty="0"/>
          </a:p>
        </p:txBody>
      </p:sp>
      <p:sp>
        <p:nvSpPr>
          <p:cNvPr id="14" name="Text 12"/>
          <p:cNvSpPr txBox="1"/>
          <p:nvPr/>
        </p:nvSpPr>
        <p:spPr>
          <a:xfrm>
            <a:off x="6492240" y="3429000"/>
            <a:ext cx="2011680" cy="292608"/>
          </a:xfrm>
          <a:prstGeom prst="rect">
            <a:avLst/>
          </a:prstGeom>
          <a:noFill/>
          <a:ln/>
        </p:spPr>
        <p:txBody>
          <a:bodyPr wrap="square" lIns="0" tIns="0" rIns="0" bIns="0" rtlCol="0" anchor="ctr"/>
          <a:lstStyle/>
          <a:p>
            <a:pPr indent="0" marL="0">
              <a:buNone/>
            </a:pPr>
            <a:r>
              <a:rPr lang="en-US" sz="1500" b="1" dirty="0">
                <a:solidFill>
                  <a:srgbClr val="162947"/>
                </a:solidFill>
                <a:latin typeface="Arial" pitchFamily="34" charset="0"/>
                <a:ea typeface="Arial" pitchFamily="34" charset="-122"/>
                <a:cs typeface="Arial" pitchFamily="34" charset="-120"/>
              </a:rPr>
              <a:t>Paper 2H</a:t>
            </a:r>
            <a:endParaRPr lang="en-US" sz="1500" dirty="0"/>
          </a:p>
        </p:txBody>
      </p:sp>
      <p:sp>
        <p:nvSpPr>
          <p:cNvPr id="15" name="Text 13"/>
          <p:cNvSpPr txBox="1"/>
          <p:nvPr/>
        </p:nvSpPr>
        <p:spPr>
          <a:xfrm>
            <a:off x="4663440" y="3886200"/>
            <a:ext cx="6492240"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Morning  ·  2 hours  ·  100 marks  ·  calculator</a:t>
            </a:r>
            <a:endParaRPr lang="en-US" sz="1150" dirty="0"/>
          </a:p>
        </p:txBody>
      </p:sp>
      <p:sp>
        <p:nvSpPr>
          <p:cNvPr id="16" name="Shape 14"/>
          <p:cNvSpPr/>
          <p:nvPr/>
        </p:nvSpPr>
        <p:spPr>
          <a:xfrm>
            <a:off x="685800" y="4800600"/>
            <a:ext cx="10817352" cy="1325880"/>
          </a:xfrm>
          <a:prstGeom prst="roundRect">
            <a:avLst>
              <a:gd name="adj" fmla="val 2759"/>
            </a:avLst>
          </a:prstGeom>
          <a:solidFill>
            <a:srgbClr val="EFEBE1"/>
          </a:solidFill>
          <a:ln/>
        </p:spPr>
      </p:sp>
      <p:sp>
        <p:nvSpPr>
          <p:cNvPr id="17" name="Text 15"/>
          <p:cNvSpPr txBox="1"/>
          <p:nvPr/>
        </p:nvSpPr>
        <p:spPr>
          <a:xfrm>
            <a:off x="960120" y="5010912"/>
            <a:ext cx="10241280" cy="274320"/>
          </a:xfrm>
          <a:prstGeom prst="rect">
            <a:avLst/>
          </a:prstGeom>
          <a:noFill/>
          <a:ln/>
        </p:spPr>
        <p:txBody>
          <a:bodyPr wrap="square" lIns="0" tIns="0" rIns="0" bIns="0" rtlCol="0" anchor="ctr"/>
          <a:lstStyle/>
          <a:p>
            <a:pPr indent="0" marL="0">
              <a:buNone/>
            </a:pPr>
            <a:r>
              <a:rPr lang="en-US" sz="1300" b="1" dirty="0">
                <a:solidFill>
                  <a:srgbClr val="162947"/>
                </a:solidFill>
                <a:latin typeface="Arial" pitchFamily="34" charset="0"/>
                <a:ea typeface="Arial" pitchFamily="34" charset="-122"/>
                <a:cs typeface="Arial" pitchFamily="34" charset="-120"/>
              </a:rPr>
              <a:t>Both papers allow a calculator, and both cover the full specification.</a:t>
            </a:r>
            <a:endParaRPr lang="en-US" sz="1300" dirty="0"/>
          </a:p>
        </p:txBody>
      </p:sp>
      <p:sp>
        <p:nvSpPr>
          <p:cNvPr id="18" name="Text 16"/>
          <p:cNvSpPr txBox="1"/>
          <p:nvPr/>
        </p:nvSpPr>
        <p:spPr>
          <a:xfrm>
            <a:off x="960120" y="5321808"/>
            <a:ext cx="10241280" cy="603504"/>
          </a:xfrm>
          <a:prstGeom prst="rect">
            <a:avLst/>
          </a:prstGeom>
          <a:noFill/>
          <a:ln/>
        </p:spPr>
        <p:txBody>
          <a:bodyPr wrap="square" lIns="0" tIns="0" rIns="0" bIns="0" rtlCol="0" anchor="ctr"/>
          <a:lstStyle/>
          <a:p>
            <a:pPr indent="0" marL="0">
              <a:lnSpc>
                <a:spcPts val="1600"/>
              </a:lnSpc>
              <a:buNone/>
            </a:pPr>
            <a:r>
              <a:rPr lang="en-US" sz="1150" dirty="0">
                <a:solidFill>
                  <a:srgbClr val="5D6471"/>
                </a:solidFill>
                <a:latin typeface="Arial" pitchFamily="34" charset="0"/>
                <a:ea typeface="Arial" pitchFamily="34" charset="-122"/>
                <a:cs typeface="Arial" pitchFamily="34" charset="-120"/>
              </a:rPr>
              <a:t>Calculator technique is taught in session one, not left to habit, and the mode is checked before every timed piece of work. Because both papers sample the whole specification, a topic missed on Paper 1 is likely to reappear on Paper 2.</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TARGET</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The number we are working to</a:t>
            </a:r>
            <a:endParaRPr lang="en-US" sz="3300" dirty="0"/>
          </a:p>
        </p:txBody>
      </p:sp>
      <p:sp>
        <p:nvSpPr>
          <p:cNvPr id="4" name="Shape 2"/>
          <p:cNvSpPr/>
          <p:nvPr/>
        </p:nvSpPr>
        <p:spPr>
          <a:xfrm>
            <a:off x="685800" y="1691640"/>
            <a:ext cx="3566160" cy="3794760"/>
          </a:xfrm>
          <a:prstGeom prst="roundRect">
            <a:avLst>
              <a:gd name="adj" fmla="val 1026"/>
            </a:avLst>
          </a:prstGeom>
          <a:solidFill>
            <a:srgbClr val="162947"/>
          </a:solidFill>
          <a:ln/>
        </p:spPr>
      </p:sp>
      <p:sp>
        <p:nvSpPr>
          <p:cNvPr id="5" name="Text 3"/>
          <p:cNvSpPr txBox="1"/>
          <p:nvPr/>
        </p:nvSpPr>
        <p:spPr>
          <a:xfrm>
            <a:off x="685800" y="1965960"/>
            <a:ext cx="3566160" cy="1280160"/>
          </a:xfrm>
          <a:prstGeom prst="rect">
            <a:avLst/>
          </a:prstGeom>
          <a:noFill/>
          <a:ln/>
        </p:spPr>
        <p:txBody>
          <a:bodyPr wrap="square" lIns="0" tIns="0" rIns="0" bIns="0" rtlCol="0" anchor="ctr"/>
          <a:lstStyle/>
          <a:p>
            <a:pPr algn="ctr" indent="0" marL="0">
              <a:buNone/>
            </a:pPr>
            <a:r>
              <a:rPr lang="en-US" sz="8600" dirty="0">
                <a:solidFill>
                  <a:srgbClr val="C3A965"/>
                </a:solidFill>
                <a:latin typeface="Cambria" pitchFamily="34" charset="0"/>
                <a:ea typeface="Cambria" pitchFamily="34" charset="-122"/>
                <a:cs typeface="Cambria" pitchFamily="34" charset="-120"/>
              </a:rPr>
              <a:t>65</a:t>
            </a:r>
            <a:endParaRPr lang="en-US" sz="8600" dirty="0"/>
          </a:p>
        </p:txBody>
      </p:sp>
      <p:sp>
        <p:nvSpPr>
          <p:cNvPr id="6" name="Text 4"/>
          <p:cNvSpPr txBox="1"/>
          <p:nvPr/>
        </p:nvSpPr>
        <p:spPr>
          <a:xfrm>
            <a:off x="685800" y="3291840"/>
            <a:ext cx="3566160" cy="274320"/>
          </a:xfrm>
          <a:prstGeom prst="rect">
            <a:avLst/>
          </a:prstGeom>
          <a:noFill/>
          <a:ln/>
        </p:spPr>
        <p:txBody>
          <a:bodyPr wrap="square" lIns="0" tIns="0" rIns="0" bIns="0" rtlCol="0" anchor="ctr"/>
          <a:lstStyle/>
          <a:p>
            <a:pPr algn="ctr" indent="0" marL="0">
              <a:buNone/>
            </a:pPr>
            <a:r>
              <a:rPr lang="en-US" sz="1400" b="1" dirty="0">
                <a:solidFill>
                  <a:srgbClr val="F6F4EF"/>
                </a:solidFill>
                <a:latin typeface="Arial" pitchFamily="34" charset="0"/>
                <a:ea typeface="Arial" pitchFamily="34" charset="-122"/>
                <a:cs typeface="Arial" pitchFamily="34" charset="-120"/>
              </a:rPr>
              <a:t>marks out of 200</a:t>
            </a:r>
            <a:endParaRPr lang="en-US" sz="1400" dirty="0"/>
          </a:p>
        </p:txBody>
      </p:sp>
      <p:sp>
        <p:nvSpPr>
          <p:cNvPr id="7" name="Text 5"/>
          <p:cNvSpPr txBox="1"/>
          <p:nvPr/>
        </p:nvSpPr>
        <p:spPr>
          <a:xfrm>
            <a:off x="1005840" y="3794760"/>
            <a:ext cx="2926080" cy="1371600"/>
          </a:xfrm>
          <a:prstGeom prst="rect">
            <a:avLst/>
          </a:prstGeom>
          <a:noFill/>
          <a:ln/>
        </p:spPr>
        <p:txBody>
          <a:bodyPr wrap="square" lIns="0" tIns="0" rIns="0" bIns="0" rtlCol="0" anchor="ctr"/>
          <a:lstStyle/>
          <a:p>
            <a:pPr indent="0" marL="0">
              <a:lnSpc>
                <a:spcPts val="1650"/>
              </a:lnSpc>
              <a:buNone/>
            </a:pPr>
            <a:r>
              <a:rPr lang="en-US" sz="1150" dirty="0">
                <a:solidFill>
                  <a:srgbClr val="A8B2C2"/>
                </a:solidFill>
                <a:latin typeface="Arial" pitchFamily="34" charset="0"/>
                <a:ea typeface="Arial" pitchFamily="34" charset="-122"/>
                <a:cs typeface="Arial" pitchFamily="34" charset="-120"/>
              </a:rPr>
              <a:t>The grade 5 boundary on Higher tier in November 2025, which is just under a third of the paper. Boundaries move each series, so this is a reference point, not a guarantee.</a:t>
            </a:r>
            <a:endParaRPr lang="en-US" sz="1150" dirty="0"/>
          </a:p>
        </p:txBody>
      </p:sp>
      <p:sp>
        <p:nvSpPr>
          <p:cNvPr id="8" name="Shape 6"/>
          <p:cNvSpPr/>
          <p:nvPr/>
        </p:nvSpPr>
        <p:spPr>
          <a:xfrm>
            <a:off x="4617720" y="1691640"/>
            <a:ext cx="6885432" cy="420624"/>
          </a:xfrm>
          <a:prstGeom prst="rect">
            <a:avLst/>
          </a:prstGeom>
          <a:solidFill>
            <a:srgbClr val="162947"/>
          </a:solidFill>
          <a:ln/>
        </p:spPr>
      </p:sp>
      <p:sp>
        <p:nvSpPr>
          <p:cNvPr id="9" name="Text 7"/>
          <p:cNvSpPr txBox="1"/>
          <p:nvPr/>
        </p:nvSpPr>
        <p:spPr>
          <a:xfrm>
            <a:off x="4818888" y="1691640"/>
            <a:ext cx="2459736" cy="420624"/>
          </a:xfrm>
          <a:prstGeom prst="rect">
            <a:avLst/>
          </a:prstGeom>
          <a:noFill/>
          <a:ln/>
        </p:spPr>
        <p:txBody>
          <a:bodyPr wrap="square" lIns="0" tIns="0" rIns="0" bIns="0" rtlCol="0" anchor="ctr"/>
          <a:lstStyle/>
          <a:p>
            <a:pPr algn="l" indent="0" marL="0">
              <a:buNone/>
            </a:pPr>
            <a:r>
              <a:rPr lang="en-US" sz="1150" b="1" spc="60" kern="0" dirty="0">
                <a:solidFill>
                  <a:srgbClr val="F6F4EF"/>
                </a:solidFill>
                <a:latin typeface="Arial" pitchFamily="34" charset="0"/>
                <a:ea typeface="Arial" pitchFamily="34" charset="-122"/>
                <a:cs typeface="Arial" pitchFamily="34" charset="-120"/>
              </a:rPr>
              <a:t>Grade</a:t>
            </a:r>
            <a:endParaRPr lang="en-US" sz="1150" dirty="0"/>
          </a:p>
        </p:txBody>
      </p:sp>
      <p:sp>
        <p:nvSpPr>
          <p:cNvPr id="10" name="Text 8"/>
          <p:cNvSpPr txBox="1"/>
          <p:nvPr/>
        </p:nvSpPr>
        <p:spPr>
          <a:xfrm>
            <a:off x="7680960" y="1691640"/>
            <a:ext cx="1609344" cy="420624"/>
          </a:xfrm>
          <a:prstGeom prst="rect">
            <a:avLst/>
          </a:prstGeom>
          <a:noFill/>
          <a:ln/>
        </p:spPr>
        <p:txBody>
          <a:bodyPr wrap="square" lIns="0" tIns="0" rIns="0" bIns="0" rtlCol="0" anchor="ctr"/>
          <a:lstStyle/>
          <a:p>
            <a:pPr algn="ctr" indent="0" marL="0">
              <a:buNone/>
            </a:pPr>
            <a:r>
              <a:rPr lang="en-US" sz="1150" b="1" spc="60" kern="0" dirty="0">
                <a:solidFill>
                  <a:srgbClr val="F6F4EF"/>
                </a:solidFill>
                <a:latin typeface="Arial" pitchFamily="34" charset="0"/>
                <a:ea typeface="Arial" pitchFamily="34" charset="-122"/>
                <a:cs typeface="Arial" pitchFamily="34" charset="-120"/>
              </a:rPr>
              <a:t>Marks needed</a:t>
            </a:r>
            <a:endParaRPr lang="en-US" sz="1150" dirty="0"/>
          </a:p>
        </p:txBody>
      </p:sp>
      <p:sp>
        <p:nvSpPr>
          <p:cNvPr id="11" name="Text 9"/>
          <p:cNvSpPr txBox="1"/>
          <p:nvPr/>
        </p:nvSpPr>
        <p:spPr>
          <a:xfrm>
            <a:off x="9692640" y="1691640"/>
            <a:ext cx="1609344" cy="420624"/>
          </a:xfrm>
          <a:prstGeom prst="rect">
            <a:avLst/>
          </a:prstGeom>
          <a:noFill/>
          <a:ln/>
        </p:spPr>
        <p:txBody>
          <a:bodyPr wrap="square" lIns="0" tIns="0" rIns="0" bIns="0" rtlCol="0" anchor="ctr"/>
          <a:lstStyle/>
          <a:p>
            <a:pPr algn="ctr" indent="0" marL="0">
              <a:buNone/>
            </a:pPr>
            <a:r>
              <a:rPr lang="en-US" sz="1150" b="1" spc="60" kern="0" dirty="0">
                <a:solidFill>
                  <a:srgbClr val="F6F4EF"/>
                </a:solidFill>
                <a:latin typeface="Arial" pitchFamily="34" charset="0"/>
                <a:ea typeface="Arial" pitchFamily="34" charset="-122"/>
                <a:cs typeface="Arial" pitchFamily="34" charset="-120"/>
              </a:rPr>
              <a:t>Share of total</a:t>
            </a:r>
            <a:endParaRPr lang="en-US" sz="1150" dirty="0"/>
          </a:p>
        </p:txBody>
      </p:sp>
      <p:sp>
        <p:nvSpPr>
          <p:cNvPr id="12" name="Shape 10"/>
          <p:cNvSpPr/>
          <p:nvPr/>
        </p:nvSpPr>
        <p:spPr>
          <a:xfrm>
            <a:off x="4617720" y="2112264"/>
            <a:ext cx="6885432" cy="420624"/>
          </a:xfrm>
          <a:prstGeom prst="rect">
            <a:avLst/>
          </a:prstGeom>
          <a:solidFill>
            <a:srgbClr val="FFFFFF"/>
          </a:solidFill>
          <a:ln w="7620">
            <a:solidFill>
              <a:srgbClr val="E3DFD5"/>
            </a:solidFill>
            <a:prstDash val="solid"/>
          </a:ln>
        </p:spPr>
      </p:sp>
      <p:sp>
        <p:nvSpPr>
          <p:cNvPr id="13" name="Text 11"/>
          <p:cNvSpPr txBox="1"/>
          <p:nvPr/>
        </p:nvSpPr>
        <p:spPr>
          <a:xfrm>
            <a:off x="4818888" y="2112264"/>
            <a:ext cx="2459736" cy="420624"/>
          </a:xfrm>
          <a:prstGeom prst="rect">
            <a:avLst/>
          </a:prstGeom>
          <a:noFill/>
          <a:ln/>
        </p:spPr>
        <p:txBody>
          <a:bodyPr wrap="square" lIns="0" tIns="0" rIns="0" bIns="0" rtlCol="0" anchor="ctr"/>
          <a:lstStyle/>
          <a:p>
            <a:pPr algn="l" indent="0" marL="0">
              <a:buNone/>
            </a:pPr>
            <a:r>
              <a:rPr lang="en-US" sz="1250" dirty="0">
                <a:solidFill>
                  <a:srgbClr val="5D6471"/>
                </a:solidFill>
                <a:latin typeface="Arial" pitchFamily="34" charset="0"/>
                <a:ea typeface="Arial" pitchFamily="34" charset="-122"/>
                <a:cs typeface="Arial" pitchFamily="34" charset="-120"/>
              </a:rPr>
              <a:t>Grade 6</a:t>
            </a:r>
            <a:endParaRPr lang="en-US" sz="1250" dirty="0"/>
          </a:p>
        </p:txBody>
      </p:sp>
      <p:sp>
        <p:nvSpPr>
          <p:cNvPr id="14" name="Text 12"/>
          <p:cNvSpPr txBox="1"/>
          <p:nvPr/>
        </p:nvSpPr>
        <p:spPr>
          <a:xfrm>
            <a:off x="7680960" y="2112264"/>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86 / 200</a:t>
            </a:r>
            <a:endParaRPr lang="en-US" sz="1250" dirty="0"/>
          </a:p>
        </p:txBody>
      </p:sp>
      <p:sp>
        <p:nvSpPr>
          <p:cNvPr id="15" name="Text 13"/>
          <p:cNvSpPr txBox="1"/>
          <p:nvPr/>
        </p:nvSpPr>
        <p:spPr>
          <a:xfrm>
            <a:off x="9692640" y="2112264"/>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43%</a:t>
            </a:r>
            <a:endParaRPr lang="en-US" sz="1250" dirty="0"/>
          </a:p>
        </p:txBody>
      </p:sp>
      <p:sp>
        <p:nvSpPr>
          <p:cNvPr id="16" name="Shape 14"/>
          <p:cNvSpPr/>
          <p:nvPr/>
        </p:nvSpPr>
        <p:spPr>
          <a:xfrm>
            <a:off x="4617720" y="2532888"/>
            <a:ext cx="6885432" cy="420624"/>
          </a:xfrm>
          <a:prstGeom prst="rect">
            <a:avLst/>
          </a:prstGeom>
          <a:solidFill>
            <a:srgbClr val="EFEBE1"/>
          </a:solidFill>
          <a:ln w="7620">
            <a:solidFill>
              <a:srgbClr val="E3DFD5"/>
            </a:solidFill>
            <a:prstDash val="solid"/>
          </a:ln>
        </p:spPr>
      </p:sp>
      <p:sp>
        <p:nvSpPr>
          <p:cNvPr id="17" name="Text 15"/>
          <p:cNvSpPr txBox="1"/>
          <p:nvPr/>
        </p:nvSpPr>
        <p:spPr>
          <a:xfrm>
            <a:off x="4818888" y="2532888"/>
            <a:ext cx="2459736" cy="420624"/>
          </a:xfrm>
          <a:prstGeom prst="rect">
            <a:avLst/>
          </a:prstGeom>
          <a:noFill/>
          <a:ln/>
        </p:spPr>
        <p:txBody>
          <a:bodyPr wrap="square" lIns="0" tIns="0" rIns="0" bIns="0" rtlCol="0" anchor="ctr"/>
          <a:lstStyle/>
          <a:p>
            <a:pPr algn="l" indent="0" marL="0">
              <a:buNone/>
            </a:pPr>
            <a:r>
              <a:rPr lang="en-US" sz="1250" b="1" dirty="0">
                <a:solidFill>
                  <a:srgbClr val="162947"/>
                </a:solidFill>
                <a:latin typeface="Arial" pitchFamily="34" charset="0"/>
                <a:ea typeface="Arial" pitchFamily="34" charset="-122"/>
                <a:cs typeface="Arial" pitchFamily="34" charset="-120"/>
              </a:rPr>
              <a:t>Grade 5</a:t>
            </a:r>
            <a:endParaRPr lang="en-US" sz="1250" dirty="0"/>
          </a:p>
        </p:txBody>
      </p:sp>
      <p:sp>
        <p:nvSpPr>
          <p:cNvPr id="18" name="Text 16"/>
          <p:cNvSpPr txBox="1"/>
          <p:nvPr/>
        </p:nvSpPr>
        <p:spPr>
          <a:xfrm>
            <a:off x="7680960" y="2532888"/>
            <a:ext cx="1609344" cy="420624"/>
          </a:xfrm>
          <a:prstGeom prst="rect">
            <a:avLst/>
          </a:prstGeom>
          <a:noFill/>
          <a:ln/>
        </p:spPr>
        <p:txBody>
          <a:bodyPr wrap="square" lIns="0" tIns="0" rIns="0" bIns="0" rtlCol="0" anchor="ctr"/>
          <a:lstStyle/>
          <a:p>
            <a:pPr algn="ctr" indent="0" marL="0">
              <a:buNone/>
            </a:pPr>
            <a:r>
              <a:rPr lang="en-US" sz="1250" b="1" dirty="0">
                <a:solidFill>
                  <a:srgbClr val="162947"/>
                </a:solidFill>
                <a:latin typeface="Arial" pitchFamily="34" charset="0"/>
                <a:ea typeface="Arial" pitchFamily="34" charset="-122"/>
                <a:cs typeface="Arial" pitchFamily="34" charset="-120"/>
              </a:rPr>
              <a:t>65 / 200</a:t>
            </a:r>
            <a:endParaRPr lang="en-US" sz="1250" dirty="0"/>
          </a:p>
        </p:txBody>
      </p:sp>
      <p:sp>
        <p:nvSpPr>
          <p:cNvPr id="19" name="Text 17"/>
          <p:cNvSpPr txBox="1"/>
          <p:nvPr/>
        </p:nvSpPr>
        <p:spPr>
          <a:xfrm>
            <a:off x="9692640" y="2532888"/>
            <a:ext cx="1609344" cy="420624"/>
          </a:xfrm>
          <a:prstGeom prst="rect">
            <a:avLst/>
          </a:prstGeom>
          <a:noFill/>
          <a:ln/>
        </p:spPr>
        <p:txBody>
          <a:bodyPr wrap="square" lIns="0" tIns="0" rIns="0" bIns="0" rtlCol="0" anchor="ctr"/>
          <a:lstStyle/>
          <a:p>
            <a:pPr algn="ctr" indent="0" marL="0">
              <a:buNone/>
            </a:pPr>
            <a:r>
              <a:rPr lang="en-US" sz="1250" b="1" dirty="0">
                <a:solidFill>
                  <a:srgbClr val="162947"/>
                </a:solidFill>
                <a:latin typeface="Arial" pitchFamily="34" charset="0"/>
                <a:ea typeface="Arial" pitchFamily="34" charset="-122"/>
                <a:cs typeface="Arial" pitchFamily="34" charset="-120"/>
              </a:rPr>
              <a:t>33%</a:t>
            </a:r>
            <a:endParaRPr lang="en-US" sz="1250" dirty="0"/>
          </a:p>
        </p:txBody>
      </p:sp>
      <p:sp>
        <p:nvSpPr>
          <p:cNvPr id="20" name="Shape 18"/>
          <p:cNvSpPr/>
          <p:nvPr/>
        </p:nvSpPr>
        <p:spPr>
          <a:xfrm>
            <a:off x="4617720" y="2953512"/>
            <a:ext cx="6885432" cy="420624"/>
          </a:xfrm>
          <a:prstGeom prst="rect">
            <a:avLst/>
          </a:prstGeom>
          <a:solidFill>
            <a:srgbClr val="FFFFFF"/>
          </a:solidFill>
          <a:ln w="7620">
            <a:solidFill>
              <a:srgbClr val="E3DFD5"/>
            </a:solidFill>
            <a:prstDash val="solid"/>
          </a:ln>
        </p:spPr>
      </p:sp>
      <p:sp>
        <p:nvSpPr>
          <p:cNvPr id="21" name="Text 19"/>
          <p:cNvSpPr txBox="1"/>
          <p:nvPr/>
        </p:nvSpPr>
        <p:spPr>
          <a:xfrm>
            <a:off x="4818888" y="2953512"/>
            <a:ext cx="2459736" cy="420624"/>
          </a:xfrm>
          <a:prstGeom prst="rect">
            <a:avLst/>
          </a:prstGeom>
          <a:noFill/>
          <a:ln/>
        </p:spPr>
        <p:txBody>
          <a:bodyPr wrap="square" lIns="0" tIns="0" rIns="0" bIns="0" rtlCol="0" anchor="ctr"/>
          <a:lstStyle/>
          <a:p>
            <a:pPr algn="l" indent="0" marL="0">
              <a:buNone/>
            </a:pPr>
            <a:r>
              <a:rPr lang="en-US" sz="1250" dirty="0">
                <a:solidFill>
                  <a:srgbClr val="5D6471"/>
                </a:solidFill>
                <a:latin typeface="Arial" pitchFamily="34" charset="0"/>
                <a:ea typeface="Arial" pitchFamily="34" charset="-122"/>
                <a:cs typeface="Arial" pitchFamily="34" charset="-120"/>
              </a:rPr>
              <a:t>Grade 4</a:t>
            </a:r>
            <a:endParaRPr lang="en-US" sz="1250" dirty="0"/>
          </a:p>
        </p:txBody>
      </p:sp>
      <p:sp>
        <p:nvSpPr>
          <p:cNvPr id="22" name="Text 20"/>
          <p:cNvSpPr txBox="1"/>
          <p:nvPr/>
        </p:nvSpPr>
        <p:spPr>
          <a:xfrm>
            <a:off x="7680960" y="2953512"/>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45 / 200</a:t>
            </a:r>
            <a:endParaRPr lang="en-US" sz="1250" dirty="0"/>
          </a:p>
        </p:txBody>
      </p:sp>
      <p:sp>
        <p:nvSpPr>
          <p:cNvPr id="23" name="Text 21"/>
          <p:cNvSpPr txBox="1"/>
          <p:nvPr/>
        </p:nvSpPr>
        <p:spPr>
          <a:xfrm>
            <a:off x="9692640" y="2953512"/>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23%</a:t>
            </a:r>
            <a:endParaRPr lang="en-US" sz="1250" dirty="0"/>
          </a:p>
        </p:txBody>
      </p:sp>
      <p:sp>
        <p:nvSpPr>
          <p:cNvPr id="24" name="Shape 22"/>
          <p:cNvSpPr/>
          <p:nvPr/>
        </p:nvSpPr>
        <p:spPr>
          <a:xfrm>
            <a:off x="4617720" y="3675888"/>
            <a:ext cx="6885432" cy="1810512"/>
          </a:xfrm>
          <a:prstGeom prst="roundRect">
            <a:avLst>
              <a:gd name="adj" fmla="val 2020"/>
            </a:avLst>
          </a:prstGeom>
          <a:solidFill>
            <a:srgbClr val="FFFFFF"/>
          </a:solidFill>
          <a:ln w="9525">
            <a:solidFill>
              <a:srgbClr val="E3DFD5"/>
            </a:solidFill>
            <a:prstDash val="solid"/>
          </a:ln>
        </p:spPr>
      </p:sp>
      <p:sp>
        <p:nvSpPr>
          <p:cNvPr id="25" name="Text 23"/>
          <p:cNvSpPr txBox="1"/>
          <p:nvPr/>
        </p:nvSpPr>
        <p:spPr>
          <a:xfrm>
            <a:off x="4937760" y="3877056"/>
            <a:ext cx="6309360" cy="310896"/>
          </a:xfrm>
          <a:prstGeom prst="rect">
            <a:avLst/>
          </a:prstGeom>
          <a:noFill/>
          <a:ln/>
        </p:spPr>
        <p:txBody>
          <a:bodyPr wrap="square" lIns="0" tIns="0" rIns="0" bIns="0" rtlCol="0" anchor="t"/>
          <a:lstStyle/>
          <a:p>
            <a:pPr indent="0" marL="0">
              <a:buNone/>
            </a:pPr>
            <a:r>
              <a:rPr lang="en-US" sz="1900" dirty="0">
                <a:solidFill>
                  <a:srgbClr val="162947"/>
                </a:solidFill>
                <a:latin typeface="Cambria" pitchFamily="34" charset="0"/>
                <a:ea typeface="Cambria" pitchFamily="34" charset="-122"/>
                <a:cs typeface="Cambria" pitchFamily="34" charset="-120"/>
              </a:rPr>
              <a:t>We plan to 80 marks, not to 65</a:t>
            </a:r>
            <a:endParaRPr lang="en-US" sz="1900" dirty="0"/>
          </a:p>
        </p:txBody>
      </p:sp>
      <p:sp>
        <p:nvSpPr>
          <p:cNvPr id="26" name="Text 24"/>
          <p:cNvSpPr txBox="1"/>
          <p:nvPr/>
        </p:nvSpPr>
        <p:spPr>
          <a:xfrm>
            <a:off x="4937760" y="4279392"/>
            <a:ext cx="6309360" cy="1051560"/>
          </a:xfrm>
          <a:prstGeom prst="rect">
            <a:avLst/>
          </a:prstGeom>
          <a:noFill/>
          <a:ln/>
        </p:spPr>
        <p:txBody>
          <a:bodyPr wrap="square" lIns="0" tIns="0" rIns="0" bIns="0" rtlCol="0" anchor="t"/>
          <a:lstStyle/>
          <a:p>
            <a:pPr indent="0" marL="0">
              <a:lnSpc>
                <a:spcPts val="1700"/>
              </a:lnSpc>
              <a:buNone/>
            </a:pPr>
            <a:r>
              <a:rPr lang="en-US" sz="1200" dirty="0">
                <a:solidFill>
                  <a:srgbClr val="5D6471"/>
                </a:solidFill>
                <a:latin typeface="Arial" pitchFamily="34" charset="0"/>
                <a:ea typeface="Arial" pitchFamily="34" charset="-122"/>
                <a:cs typeface="Arial" pitchFamily="34" charset="-120"/>
              </a:rPr>
              <a:t>Two reasons. Boundaries move, so a plan that lands exactly on last year's number can still miss. More importantly, margin does not come from the target we set. It comes from the size of the pool of marks we teach, which is the next slide.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WHERE THE MARKS ARE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Number and algebra is 60% of the qualification</a:t>
            </a:r>
            <a:endParaRPr lang="en-US" sz="3300" dirty="0"/>
          </a:p>
        </p:txBody>
      </p:sp>
      <p:graphicFrame>
        <p:nvGraphicFramePr>
          <p:cNvPr id="4" name="Chart 0" descr=""/>
          <p:cNvGraphicFramePr/>
          <p:nvPr/>
        </p:nvGraphicFramePr>
        <p:xfrm>
          <a:off x="502920" y="1600200"/>
          <a:ext cx="5760720" cy="26517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92240" y="1645920"/>
            <a:ext cx="5010912" cy="1207008"/>
          </a:xfrm>
          <a:prstGeom prst="roundRect">
            <a:avLst>
              <a:gd name="adj" fmla="val 3030"/>
            </a:avLst>
          </a:prstGeom>
          <a:solidFill>
            <a:srgbClr val="FFFFFF"/>
          </a:solidFill>
          <a:ln w="9525">
            <a:solidFill>
              <a:srgbClr val="E3DFD5"/>
            </a:solidFill>
            <a:prstDash val="solid"/>
          </a:ln>
        </p:spPr>
      </p:sp>
      <p:sp>
        <p:nvSpPr>
          <p:cNvPr id="6" name="Text 3"/>
          <p:cNvSpPr txBox="1"/>
          <p:nvPr/>
        </p:nvSpPr>
        <p:spPr>
          <a:xfrm>
            <a:off x="6784848" y="1810512"/>
            <a:ext cx="4434840" cy="256032"/>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Her weakest area is also the largest</a:t>
            </a:r>
            <a:endParaRPr lang="en-US" sz="1250" dirty="0"/>
          </a:p>
        </p:txBody>
      </p:sp>
      <p:sp>
        <p:nvSpPr>
          <p:cNvPr id="7" name="Text 4"/>
          <p:cNvSpPr txBox="1"/>
          <p:nvPr/>
        </p:nvSpPr>
        <p:spPr>
          <a:xfrm>
            <a:off x="6784848" y="2103120"/>
            <a:ext cx="4434840" cy="640080"/>
          </a:xfrm>
          <a:prstGeom prst="rect">
            <a:avLst/>
          </a:prstGeom>
          <a:noFill/>
          <a:ln/>
        </p:spPr>
        <p:txBody>
          <a:bodyPr wrap="square" lIns="0" tIns="0" rIns="0" bIns="0" rtlCol="0" anchor="ctr"/>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The Year 9 gaps sit in number and algebra. Fixing them pays out across 120 marks rather than 20, so the first three weeks go there and nowhere else.</a:t>
            </a:r>
            <a:endParaRPr lang="en-US" sz="1100" dirty="0"/>
          </a:p>
        </p:txBody>
      </p:sp>
      <p:sp>
        <p:nvSpPr>
          <p:cNvPr id="8" name="Shape 5"/>
          <p:cNvSpPr/>
          <p:nvPr/>
        </p:nvSpPr>
        <p:spPr>
          <a:xfrm>
            <a:off x="6492240" y="3017520"/>
            <a:ext cx="5010912" cy="1207008"/>
          </a:xfrm>
          <a:prstGeom prst="roundRect">
            <a:avLst>
              <a:gd name="adj" fmla="val 3030"/>
            </a:avLst>
          </a:prstGeom>
          <a:solidFill>
            <a:srgbClr val="FFFFFF"/>
          </a:solidFill>
          <a:ln w="9525">
            <a:solidFill>
              <a:srgbClr val="E3DFD5"/>
            </a:solidFill>
            <a:prstDash val="solid"/>
          </a:ln>
        </p:spPr>
      </p:sp>
      <p:sp>
        <p:nvSpPr>
          <p:cNvPr id="9" name="Text 6"/>
          <p:cNvSpPr txBox="1"/>
          <p:nvPr/>
        </p:nvSpPr>
        <p:spPr>
          <a:xfrm>
            <a:off x="6784848" y="3182112"/>
            <a:ext cx="4434840" cy="256032"/>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Handling data needs very little algebra</a:t>
            </a:r>
            <a:endParaRPr lang="en-US" sz="1250" dirty="0"/>
          </a:p>
        </p:txBody>
      </p:sp>
      <p:sp>
        <p:nvSpPr>
          <p:cNvPr id="10" name="Text 7"/>
          <p:cNvSpPr txBox="1"/>
          <p:nvPr/>
        </p:nvSpPr>
        <p:spPr>
          <a:xfrm>
            <a:off x="6784848" y="3474720"/>
            <a:ext cx="4434840" cy="640080"/>
          </a:xfrm>
          <a:prstGeom prst="rect">
            <a:avLst/>
          </a:prstGeom>
          <a:noFill/>
          <a:ln/>
        </p:spPr>
        <p:txBody>
          <a:bodyPr wrap="square" lIns="0" tIns="0" rIns="0" bIns="0" rtlCol="0" anchor="ctr"/>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Averages, tables, probability and Venn diagrams are 30 marks that weak algebra does not block. They are taught in week 4, once the algebra spine is in place.</a:t>
            </a:r>
            <a:endParaRPr lang="en-US" sz="1100" dirty="0"/>
          </a:p>
        </p:txBody>
      </p:sp>
      <p:sp>
        <p:nvSpPr>
          <p:cNvPr id="11" name="Shape 8"/>
          <p:cNvSpPr/>
          <p:nvPr/>
        </p:nvSpPr>
        <p:spPr>
          <a:xfrm>
            <a:off x="685800" y="4526280"/>
            <a:ext cx="10817352" cy="1600200"/>
          </a:xfrm>
          <a:prstGeom prst="roundRect">
            <a:avLst>
              <a:gd name="adj" fmla="val 2286"/>
            </a:avLst>
          </a:prstGeom>
          <a:solidFill>
            <a:srgbClr val="162947"/>
          </a:solidFill>
          <a:ln/>
        </p:spPr>
      </p:sp>
      <p:sp>
        <p:nvSpPr>
          <p:cNvPr id="12" name="Text 9"/>
          <p:cNvSpPr txBox="1"/>
          <p:nvPr/>
        </p:nvSpPr>
        <p:spPr>
          <a:xfrm>
            <a:off x="1005840" y="4709160"/>
            <a:ext cx="10149840" cy="292608"/>
          </a:xfrm>
          <a:prstGeom prst="rect">
            <a:avLst/>
          </a:prstGeom>
          <a:noFill/>
          <a:ln/>
        </p:spPr>
        <p:txBody>
          <a:bodyPr wrap="square" lIns="0" tIns="0" rIns="0" bIns="0" rtlCol="0" anchor="ctr"/>
          <a:lstStyle/>
          <a:p>
            <a:pPr indent="0" marL="0">
              <a:buNone/>
            </a:pPr>
            <a:r>
              <a:rPr lang="en-US" sz="1900" dirty="0">
                <a:solidFill>
                  <a:srgbClr val="C3A965"/>
                </a:solidFill>
                <a:latin typeface="Cambria" pitchFamily="34" charset="0"/>
                <a:ea typeface="Cambria" pitchFamily="34" charset="-122"/>
                <a:cs typeface="Cambria" pitchFamily="34" charset="-120"/>
              </a:rPr>
              <a:t>The pool, and why it decides the plan</a:t>
            </a:r>
            <a:endParaRPr lang="en-US" sz="1900" dirty="0"/>
          </a:p>
        </p:txBody>
      </p:sp>
      <p:sp>
        <p:nvSpPr>
          <p:cNvPr id="13" name="Text 10"/>
          <p:cNvSpPr txBox="1"/>
          <p:nvPr/>
        </p:nvSpPr>
        <p:spPr>
          <a:xfrm>
            <a:off x="1005840" y="5056632"/>
            <a:ext cx="1600200" cy="365760"/>
          </a:xfrm>
          <a:prstGeom prst="rect">
            <a:avLst/>
          </a:prstGeom>
          <a:noFill/>
          <a:ln/>
        </p:spPr>
        <p:txBody>
          <a:bodyPr wrap="square" lIns="0" tIns="0" rIns="0" bIns="0" rtlCol="0" anchor="t"/>
          <a:lstStyle/>
          <a:p>
            <a:pPr indent="0" marL="0">
              <a:buNone/>
            </a:pPr>
            <a:r>
              <a:rPr lang="en-US" sz="2300" dirty="0">
                <a:solidFill>
                  <a:srgbClr val="F6F4EF"/>
                </a:solidFill>
                <a:latin typeface="Cambria" pitchFamily="34" charset="0"/>
                <a:ea typeface="Cambria" pitchFamily="34" charset="-122"/>
                <a:cs typeface="Cambria" pitchFamily="34" charset="-120"/>
              </a:rPr>
              <a:t>about 80</a:t>
            </a:r>
            <a:endParaRPr lang="en-US" sz="2300" dirty="0"/>
          </a:p>
        </p:txBody>
      </p:sp>
      <p:sp>
        <p:nvSpPr>
          <p:cNvPr id="14" name="Text 11"/>
          <p:cNvSpPr txBox="1"/>
          <p:nvPr/>
        </p:nvSpPr>
        <p:spPr>
          <a:xfrm>
            <a:off x="2670048" y="5120640"/>
            <a:ext cx="3154680" cy="310896"/>
          </a:xfrm>
          <a:prstGeom prst="rect">
            <a:avLst/>
          </a:prstGeom>
          <a:noFill/>
          <a:ln/>
        </p:spPr>
        <p:txBody>
          <a:bodyPr wrap="square" lIns="0" tIns="0" rIns="0" bIns="0" rtlCol="0" anchor="t"/>
          <a:lstStyle/>
          <a:p>
            <a:pPr indent="0" marL="0">
              <a:lnSpc>
                <a:spcPts val="1400"/>
              </a:lnSpc>
              <a:buNone/>
            </a:pPr>
            <a:r>
              <a:rPr lang="en-US" sz="1100" b="1" dirty="0">
                <a:solidFill>
                  <a:srgbClr val="E8E4DA"/>
                </a:solidFill>
                <a:latin typeface="Arial" pitchFamily="34" charset="0"/>
                <a:ea typeface="Arial" pitchFamily="34" charset="-122"/>
                <a:cs typeface="Arial" pitchFamily="34" charset="-120"/>
              </a:rPr>
              <a:t>marks are pitched at grades 4 and 5</a:t>
            </a:r>
            <a:endParaRPr lang="en-US" sz="1100" dirty="0"/>
          </a:p>
        </p:txBody>
      </p:sp>
      <p:sp>
        <p:nvSpPr>
          <p:cNvPr id="15" name="Text 12"/>
          <p:cNvSpPr txBox="1"/>
          <p:nvPr/>
        </p:nvSpPr>
        <p:spPr>
          <a:xfrm>
            <a:off x="1005840" y="5486400"/>
            <a:ext cx="4846320" cy="5486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Teach only this band and she must convert 65 of 80, so she can afford to drop 15 marks in two hours.</a:t>
            </a:r>
            <a:endParaRPr lang="en-US" sz="1050" dirty="0"/>
          </a:p>
        </p:txBody>
      </p:sp>
      <p:sp>
        <p:nvSpPr>
          <p:cNvPr id="16" name="Text 13"/>
          <p:cNvSpPr txBox="1"/>
          <p:nvPr/>
        </p:nvSpPr>
        <p:spPr>
          <a:xfrm>
            <a:off x="6126480" y="5056632"/>
            <a:ext cx="1600200" cy="365760"/>
          </a:xfrm>
          <a:prstGeom prst="rect">
            <a:avLst/>
          </a:prstGeom>
          <a:noFill/>
          <a:ln/>
        </p:spPr>
        <p:txBody>
          <a:bodyPr wrap="square" lIns="0" tIns="0" rIns="0" bIns="0" rtlCol="0" anchor="t"/>
          <a:lstStyle/>
          <a:p>
            <a:pPr indent="0" marL="0">
              <a:buNone/>
            </a:pPr>
            <a:r>
              <a:rPr lang="en-US" sz="2300" dirty="0">
                <a:solidFill>
                  <a:srgbClr val="F6F4EF"/>
                </a:solidFill>
                <a:latin typeface="Cambria" pitchFamily="34" charset="0"/>
                <a:ea typeface="Cambria" pitchFamily="34" charset="-122"/>
                <a:cs typeface="Cambria" pitchFamily="34" charset="-120"/>
              </a:rPr>
              <a:t>about 105</a:t>
            </a:r>
            <a:endParaRPr lang="en-US" sz="2300" dirty="0"/>
          </a:p>
        </p:txBody>
      </p:sp>
      <p:sp>
        <p:nvSpPr>
          <p:cNvPr id="17" name="Text 14"/>
          <p:cNvSpPr txBox="1"/>
          <p:nvPr/>
        </p:nvSpPr>
        <p:spPr>
          <a:xfrm>
            <a:off x="7790688" y="5120640"/>
            <a:ext cx="3154680" cy="310896"/>
          </a:xfrm>
          <a:prstGeom prst="rect">
            <a:avLst/>
          </a:prstGeom>
          <a:noFill/>
          <a:ln/>
        </p:spPr>
        <p:txBody>
          <a:bodyPr wrap="square" lIns="0" tIns="0" rIns="0" bIns="0" rtlCol="0" anchor="t"/>
          <a:lstStyle/>
          <a:p>
            <a:pPr indent="0" marL="0">
              <a:lnSpc>
                <a:spcPts val="1400"/>
              </a:lnSpc>
              <a:buNone/>
            </a:pPr>
            <a:r>
              <a:rPr lang="en-US" sz="1100" b="1" dirty="0">
                <a:solidFill>
                  <a:srgbClr val="E8E4DA"/>
                </a:solidFill>
                <a:latin typeface="Arial" pitchFamily="34" charset="0"/>
                <a:ea typeface="Arial" pitchFamily="34" charset="-122"/>
                <a:cs typeface="Arial" pitchFamily="34" charset="-120"/>
              </a:rPr>
              <a:t>marks once we add single-step grade 6 work</a:t>
            </a:r>
            <a:endParaRPr lang="en-US" sz="1100" dirty="0"/>
          </a:p>
        </p:txBody>
      </p:sp>
      <p:sp>
        <p:nvSpPr>
          <p:cNvPr id="18" name="Text 15"/>
          <p:cNvSpPr txBox="1"/>
          <p:nvPr/>
        </p:nvSpPr>
        <p:spPr>
          <a:xfrm>
            <a:off x="6126480" y="5486400"/>
            <a:ext cx="4846320" cy="5486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Same target of 65 to pass, but now she can afford to drop 40 marks and still get there.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ROUTE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Six weeks, at a glance</a:t>
            </a:r>
            <a:endParaRPr lang="en-US" sz="3300" dirty="0"/>
          </a:p>
        </p:txBody>
      </p:sp>
      <p:sp>
        <p:nvSpPr>
          <p:cNvPr id="4" name="Shape 2"/>
          <p:cNvSpPr/>
          <p:nvPr/>
        </p:nvSpPr>
        <p:spPr>
          <a:xfrm>
            <a:off x="1115568" y="2048256"/>
            <a:ext cx="10469880" cy="0"/>
          </a:xfrm>
          <a:prstGeom prst="line">
            <a:avLst/>
          </a:prstGeom>
          <a:noFill/>
          <a:ln w="15875">
            <a:solidFill>
              <a:srgbClr val="C9CEDB"/>
            </a:solidFill>
            <a:prstDash val="solid"/>
          </a:ln>
        </p:spPr>
      </p:sp>
      <p:sp>
        <p:nvSpPr>
          <p:cNvPr id="5" name="Shape 3"/>
          <p:cNvSpPr/>
          <p:nvPr/>
        </p:nvSpPr>
        <p:spPr>
          <a:xfrm>
            <a:off x="868680" y="1847088"/>
            <a:ext cx="402336" cy="402336"/>
          </a:xfrm>
          <a:prstGeom prst="ellipse">
            <a:avLst/>
          </a:prstGeom>
          <a:solidFill>
            <a:srgbClr val="162947"/>
          </a:solidFill>
          <a:ln/>
        </p:spPr>
      </p:sp>
      <p:sp>
        <p:nvSpPr>
          <p:cNvPr id="6" name="Text 4"/>
          <p:cNvSpPr txBox="1"/>
          <p:nvPr/>
        </p:nvSpPr>
        <p:spPr>
          <a:xfrm>
            <a:off x="86868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30175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21 to 27 Sep</a:t>
            </a:r>
            <a:endParaRPr lang="en-US" sz="950" dirty="0"/>
          </a:p>
        </p:txBody>
      </p:sp>
      <p:sp>
        <p:nvSpPr>
          <p:cNvPr id="8" name="Text 6"/>
          <p:cNvSpPr txBox="1"/>
          <p:nvPr/>
        </p:nvSpPr>
        <p:spPr>
          <a:xfrm>
            <a:off x="30175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Diagnose</a:t>
            </a:r>
            <a:endParaRPr lang="en-US" sz="1200" dirty="0"/>
          </a:p>
        </p:txBody>
      </p:sp>
      <p:sp>
        <p:nvSpPr>
          <p:cNvPr id="9" name="Shape 7"/>
          <p:cNvSpPr/>
          <p:nvPr/>
        </p:nvSpPr>
        <p:spPr>
          <a:xfrm>
            <a:off x="2613660" y="1847088"/>
            <a:ext cx="402336" cy="402336"/>
          </a:xfrm>
          <a:prstGeom prst="ellipse">
            <a:avLst/>
          </a:prstGeom>
          <a:solidFill>
            <a:srgbClr val="162947"/>
          </a:solidFill>
          <a:ln/>
        </p:spPr>
      </p:sp>
      <p:sp>
        <p:nvSpPr>
          <p:cNvPr id="10" name="Text 8"/>
          <p:cNvSpPr txBox="1"/>
          <p:nvPr/>
        </p:nvSpPr>
        <p:spPr>
          <a:xfrm>
            <a:off x="261366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204673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28 Sep to 4 Oct</a:t>
            </a:r>
            <a:endParaRPr lang="en-US" sz="950" dirty="0"/>
          </a:p>
        </p:txBody>
      </p:sp>
      <p:sp>
        <p:nvSpPr>
          <p:cNvPr id="12" name="Text 10"/>
          <p:cNvSpPr txBox="1"/>
          <p:nvPr/>
        </p:nvSpPr>
        <p:spPr>
          <a:xfrm>
            <a:off x="204673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Number</a:t>
            </a:r>
            <a:endParaRPr lang="en-US" sz="1200" dirty="0"/>
          </a:p>
        </p:txBody>
      </p:sp>
      <p:sp>
        <p:nvSpPr>
          <p:cNvPr id="13" name="Shape 11"/>
          <p:cNvSpPr/>
          <p:nvPr/>
        </p:nvSpPr>
        <p:spPr>
          <a:xfrm>
            <a:off x="4358640" y="1847088"/>
            <a:ext cx="402336" cy="402336"/>
          </a:xfrm>
          <a:prstGeom prst="ellipse">
            <a:avLst/>
          </a:prstGeom>
          <a:solidFill>
            <a:srgbClr val="162947"/>
          </a:solidFill>
          <a:ln/>
        </p:spPr>
      </p:sp>
      <p:sp>
        <p:nvSpPr>
          <p:cNvPr id="14" name="Text 12"/>
          <p:cNvSpPr txBox="1"/>
          <p:nvPr/>
        </p:nvSpPr>
        <p:spPr>
          <a:xfrm>
            <a:off x="435864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379171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5 to 11 Oct</a:t>
            </a:r>
            <a:endParaRPr lang="en-US" sz="950" dirty="0"/>
          </a:p>
        </p:txBody>
      </p:sp>
      <p:sp>
        <p:nvSpPr>
          <p:cNvPr id="16" name="Text 14"/>
          <p:cNvSpPr txBox="1"/>
          <p:nvPr/>
        </p:nvSpPr>
        <p:spPr>
          <a:xfrm>
            <a:off x="379171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Algebra</a:t>
            </a:r>
            <a:endParaRPr lang="en-US" sz="1200" dirty="0"/>
          </a:p>
        </p:txBody>
      </p:sp>
      <p:sp>
        <p:nvSpPr>
          <p:cNvPr id="17" name="Shape 15"/>
          <p:cNvSpPr/>
          <p:nvPr/>
        </p:nvSpPr>
        <p:spPr>
          <a:xfrm>
            <a:off x="6103620" y="1847088"/>
            <a:ext cx="402336" cy="402336"/>
          </a:xfrm>
          <a:prstGeom prst="ellipse">
            <a:avLst/>
          </a:prstGeom>
          <a:solidFill>
            <a:srgbClr val="162947"/>
          </a:solidFill>
          <a:ln/>
        </p:spPr>
      </p:sp>
      <p:sp>
        <p:nvSpPr>
          <p:cNvPr id="18" name="Text 16"/>
          <p:cNvSpPr txBox="1"/>
          <p:nvPr/>
        </p:nvSpPr>
        <p:spPr>
          <a:xfrm>
            <a:off x="610362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19" name="Text 17"/>
          <p:cNvSpPr txBox="1"/>
          <p:nvPr/>
        </p:nvSpPr>
        <p:spPr>
          <a:xfrm>
            <a:off x="553669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12 to 18 Oct</a:t>
            </a:r>
            <a:endParaRPr lang="en-US" sz="950" dirty="0"/>
          </a:p>
        </p:txBody>
      </p:sp>
      <p:sp>
        <p:nvSpPr>
          <p:cNvPr id="20" name="Text 18"/>
          <p:cNvSpPr txBox="1"/>
          <p:nvPr/>
        </p:nvSpPr>
        <p:spPr>
          <a:xfrm>
            <a:off x="553669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Ratio and data</a:t>
            </a:r>
            <a:endParaRPr lang="en-US" sz="1200" dirty="0"/>
          </a:p>
        </p:txBody>
      </p:sp>
      <p:sp>
        <p:nvSpPr>
          <p:cNvPr id="21" name="Shape 19"/>
          <p:cNvSpPr/>
          <p:nvPr/>
        </p:nvSpPr>
        <p:spPr>
          <a:xfrm>
            <a:off x="7848600" y="1847088"/>
            <a:ext cx="402336" cy="402336"/>
          </a:xfrm>
          <a:prstGeom prst="ellipse">
            <a:avLst/>
          </a:prstGeom>
          <a:solidFill>
            <a:srgbClr val="162947"/>
          </a:solidFill>
          <a:ln/>
        </p:spPr>
      </p:sp>
      <p:sp>
        <p:nvSpPr>
          <p:cNvPr id="22" name="Text 20"/>
          <p:cNvSpPr txBox="1"/>
          <p:nvPr/>
        </p:nvSpPr>
        <p:spPr>
          <a:xfrm>
            <a:off x="784860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23" name="Text 21"/>
          <p:cNvSpPr txBox="1"/>
          <p:nvPr/>
        </p:nvSpPr>
        <p:spPr>
          <a:xfrm>
            <a:off x="728167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19 to 25 Oct</a:t>
            </a:r>
            <a:endParaRPr lang="en-US" sz="950" dirty="0"/>
          </a:p>
        </p:txBody>
      </p:sp>
      <p:sp>
        <p:nvSpPr>
          <p:cNvPr id="24" name="Text 22"/>
          <p:cNvSpPr txBox="1"/>
          <p:nvPr/>
        </p:nvSpPr>
        <p:spPr>
          <a:xfrm>
            <a:off x="728167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Shape</a:t>
            </a:r>
            <a:endParaRPr lang="en-US" sz="1200" dirty="0"/>
          </a:p>
        </p:txBody>
      </p:sp>
      <p:sp>
        <p:nvSpPr>
          <p:cNvPr id="25" name="Shape 23"/>
          <p:cNvSpPr/>
          <p:nvPr/>
        </p:nvSpPr>
        <p:spPr>
          <a:xfrm>
            <a:off x="9593580" y="1847088"/>
            <a:ext cx="402336" cy="402336"/>
          </a:xfrm>
          <a:prstGeom prst="ellipse">
            <a:avLst/>
          </a:prstGeom>
          <a:solidFill>
            <a:srgbClr val="162947"/>
          </a:solidFill>
          <a:ln/>
        </p:spPr>
      </p:sp>
      <p:sp>
        <p:nvSpPr>
          <p:cNvPr id="26" name="Text 24"/>
          <p:cNvSpPr txBox="1"/>
          <p:nvPr/>
        </p:nvSpPr>
        <p:spPr>
          <a:xfrm>
            <a:off x="959358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6</a:t>
            </a:r>
            <a:endParaRPr lang="en-US" sz="1500" dirty="0"/>
          </a:p>
        </p:txBody>
      </p:sp>
      <p:sp>
        <p:nvSpPr>
          <p:cNvPr id="27" name="Text 25"/>
          <p:cNvSpPr txBox="1"/>
          <p:nvPr/>
        </p:nvSpPr>
        <p:spPr>
          <a:xfrm>
            <a:off x="902665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26 Oct to 1 Nov</a:t>
            </a:r>
            <a:endParaRPr lang="en-US" sz="950" dirty="0"/>
          </a:p>
        </p:txBody>
      </p:sp>
      <p:sp>
        <p:nvSpPr>
          <p:cNvPr id="28" name="Text 26"/>
          <p:cNvSpPr txBox="1"/>
          <p:nvPr/>
        </p:nvSpPr>
        <p:spPr>
          <a:xfrm>
            <a:off x="902665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Papers</a:t>
            </a:r>
            <a:endParaRPr lang="en-US" sz="1200" dirty="0"/>
          </a:p>
        </p:txBody>
      </p:sp>
      <p:sp>
        <p:nvSpPr>
          <p:cNvPr id="29" name="Shape 27"/>
          <p:cNvSpPr/>
          <p:nvPr/>
        </p:nvSpPr>
        <p:spPr>
          <a:xfrm>
            <a:off x="11338560" y="1847088"/>
            <a:ext cx="402336" cy="402336"/>
          </a:xfrm>
          <a:prstGeom prst="ellipse">
            <a:avLst/>
          </a:prstGeom>
          <a:solidFill>
            <a:srgbClr val="C3A965"/>
          </a:solidFill>
          <a:ln/>
        </p:spPr>
      </p:sp>
      <p:sp>
        <p:nvSpPr>
          <p:cNvPr id="30" name="Text 28"/>
          <p:cNvSpPr txBox="1"/>
          <p:nvPr/>
        </p:nvSpPr>
        <p:spPr>
          <a:xfrm>
            <a:off x="11338560" y="1847088"/>
            <a:ext cx="402336" cy="402336"/>
          </a:xfrm>
          <a:prstGeom prst="rect">
            <a:avLst/>
          </a:prstGeom>
          <a:noFill/>
          <a:ln/>
        </p:spPr>
        <p:txBody>
          <a:bodyPr wrap="square" lIns="0" tIns="0" rIns="0" bIns="0" rtlCol="0" anchor="ctr"/>
          <a:lstStyle/>
          <a:p>
            <a:pPr algn="ctr" indent="0" marL="0">
              <a:buNone/>
            </a:pPr>
            <a:r>
              <a:rPr lang="en-US" sz="1500" b="1" dirty="0">
                <a:solidFill>
                  <a:srgbClr val="162947"/>
                </a:solidFill>
                <a:latin typeface="Cambria" pitchFamily="34" charset="0"/>
                <a:ea typeface="Cambria" pitchFamily="34" charset="-122"/>
                <a:cs typeface="Cambria" pitchFamily="34" charset="-120"/>
              </a:rPr>
              <a:t>★</a:t>
            </a:r>
            <a:endParaRPr lang="en-US" sz="1500" dirty="0"/>
          </a:p>
        </p:txBody>
      </p:sp>
      <p:sp>
        <p:nvSpPr>
          <p:cNvPr id="31" name="Text 29"/>
          <p:cNvSpPr txBox="1"/>
          <p:nvPr/>
        </p:nvSpPr>
        <p:spPr>
          <a:xfrm>
            <a:off x="10771632" y="2395728"/>
            <a:ext cx="1554480" cy="219456"/>
          </a:xfrm>
          <a:prstGeom prst="rect">
            <a:avLst/>
          </a:prstGeom>
          <a:noFill/>
          <a:ln/>
        </p:spPr>
        <p:txBody>
          <a:bodyPr wrap="square" lIns="0" tIns="0" rIns="0" bIns="0" rtlCol="0" anchor="ctr"/>
          <a:lstStyle/>
          <a:p>
            <a:pPr algn="ctr" indent="0" marL="0">
              <a:buNone/>
            </a:pPr>
            <a:r>
              <a:rPr lang="en-US" sz="950" dirty="0">
                <a:solidFill>
                  <a:srgbClr val="C3A965"/>
                </a:solidFill>
                <a:latin typeface="Arial" pitchFamily="34" charset="0"/>
                <a:ea typeface="Arial" pitchFamily="34" charset="-122"/>
                <a:cs typeface="Arial" pitchFamily="34" charset="-120"/>
              </a:rPr>
              <a:t>4 and 6 Nov</a:t>
            </a:r>
            <a:endParaRPr lang="en-US" sz="950" dirty="0"/>
          </a:p>
        </p:txBody>
      </p:sp>
      <p:sp>
        <p:nvSpPr>
          <p:cNvPr id="32" name="Text 30"/>
          <p:cNvSpPr txBox="1"/>
          <p:nvPr/>
        </p:nvSpPr>
        <p:spPr>
          <a:xfrm>
            <a:off x="1077163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Exams</a:t>
            </a:r>
            <a:endParaRPr lang="en-US" sz="1200" dirty="0"/>
          </a:p>
        </p:txBody>
      </p:sp>
      <p:sp>
        <p:nvSpPr>
          <p:cNvPr id="33" name="Text 31"/>
          <p:cNvSpPr txBox="1"/>
          <p:nvPr/>
        </p:nvSpPr>
        <p:spPr>
          <a:xfrm>
            <a:off x="685800" y="3383280"/>
            <a:ext cx="5486400" cy="274320"/>
          </a:xfrm>
          <a:prstGeom prst="rect">
            <a:avLst/>
          </a:prstGeom>
          <a:noFill/>
          <a:ln/>
        </p:spPr>
        <p:txBody>
          <a:bodyPr wrap="square" lIns="0" tIns="0" rIns="0" bIns="0" rtlCol="0" anchor="ctr"/>
          <a:lstStyle/>
          <a:p>
            <a:pPr indent="0" marL="0">
              <a:buNone/>
            </a:pPr>
            <a:r>
              <a:rPr lang="en-US" sz="1800" dirty="0">
                <a:solidFill>
                  <a:srgbClr val="162947"/>
                </a:solidFill>
                <a:latin typeface="Cambria" pitchFamily="34" charset="0"/>
                <a:ea typeface="Cambria" pitchFamily="34" charset="-122"/>
                <a:cs typeface="Cambria" pitchFamily="34" charset="-120"/>
              </a:rPr>
              <a:t>The balance shifts as we go</a:t>
            </a:r>
            <a:endParaRPr lang="en-US" sz="1800" dirty="0"/>
          </a:p>
        </p:txBody>
      </p:sp>
      <p:sp>
        <p:nvSpPr>
          <p:cNvPr id="34" name="Shape 32"/>
          <p:cNvSpPr/>
          <p:nvPr/>
        </p:nvSpPr>
        <p:spPr>
          <a:xfrm>
            <a:off x="685800" y="3749040"/>
            <a:ext cx="3502152" cy="1170432"/>
          </a:xfrm>
          <a:prstGeom prst="roundRect">
            <a:avLst>
              <a:gd name="adj" fmla="val 3125"/>
            </a:avLst>
          </a:prstGeom>
          <a:solidFill>
            <a:srgbClr val="FFFFFF"/>
          </a:solidFill>
          <a:ln w="9525">
            <a:solidFill>
              <a:srgbClr val="E3DFD5"/>
            </a:solidFill>
            <a:prstDash val="solid"/>
          </a:ln>
        </p:spPr>
      </p:sp>
      <p:sp>
        <p:nvSpPr>
          <p:cNvPr id="35" name="Text 33"/>
          <p:cNvSpPr txBox="1"/>
          <p:nvPr/>
        </p:nvSpPr>
        <p:spPr>
          <a:xfrm>
            <a:off x="9418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Weeks 1 and 2</a:t>
            </a:r>
            <a:endParaRPr lang="en-US" sz="1100" dirty="0"/>
          </a:p>
        </p:txBody>
      </p:sp>
      <p:sp>
        <p:nvSpPr>
          <p:cNvPr id="36" name="Text 34"/>
          <p:cNvSpPr txBox="1"/>
          <p:nvPr/>
        </p:nvSpPr>
        <p:spPr>
          <a:xfrm>
            <a:off x="941832" y="4169664"/>
            <a:ext cx="3017520" cy="402336"/>
          </a:xfrm>
          <a:prstGeom prst="rect">
            <a:avLst/>
          </a:prstGeom>
          <a:noFill/>
          <a:ln/>
        </p:spPr>
        <p:txBody>
          <a:bodyPr wrap="square" lIns="0" tIns="0" rIns="0" bIns="0" rtlCol="0" anchor="ctr"/>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80% teaching  ·  20% exam questions</a:t>
            </a:r>
            <a:endParaRPr lang="en-US" sz="1150" dirty="0"/>
          </a:p>
        </p:txBody>
      </p:sp>
      <p:sp>
        <p:nvSpPr>
          <p:cNvPr id="37" name="Text 35"/>
          <p:cNvSpPr txBox="1"/>
          <p:nvPr/>
        </p:nvSpPr>
        <p:spPr>
          <a:xfrm>
            <a:off x="9418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Content is broken, so content comes first.</a:t>
            </a:r>
            <a:endParaRPr lang="en-US" sz="1000" dirty="0"/>
          </a:p>
        </p:txBody>
      </p:sp>
      <p:sp>
        <p:nvSpPr>
          <p:cNvPr id="38" name="Shape 36"/>
          <p:cNvSpPr/>
          <p:nvPr/>
        </p:nvSpPr>
        <p:spPr>
          <a:xfrm>
            <a:off x="4343400" y="3749040"/>
            <a:ext cx="3502152" cy="1170432"/>
          </a:xfrm>
          <a:prstGeom prst="roundRect">
            <a:avLst>
              <a:gd name="adj" fmla="val 3125"/>
            </a:avLst>
          </a:prstGeom>
          <a:solidFill>
            <a:srgbClr val="FFFFFF"/>
          </a:solidFill>
          <a:ln w="9525">
            <a:solidFill>
              <a:srgbClr val="E3DFD5"/>
            </a:solidFill>
            <a:prstDash val="solid"/>
          </a:ln>
        </p:spPr>
      </p:sp>
      <p:sp>
        <p:nvSpPr>
          <p:cNvPr id="39" name="Text 37"/>
          <p:cNvSpPr txBox="1"/>
          <p:nvPr/>
        </p:nvSpPr>
        <p:spPr>
          <a:xfrm>
            <a:off x="45994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Weeks 3 to 5</a:t>
            </a:r>
            <a:endParaRPr lang="en-US" sz="1100" dirty="0"/>
          </a:p>
        </p:txBody>
      </p:sp>
      <p:sp>
        <p:nvSpPr>
          <p:cNvPr id="40" name="Text 38"/>
          <p:cNvSpPr txBox="1"/>
          <p:nvPr/>
        </p:nvSpPr>
        <p:spPr>
          <a:xfrm>
            <a:off x="4599432" y="4169664"/>
            <a:ext cx="3017520" cy="402336"/>
          </a:xfrm>
          <a:prstGeom prst="rect">
            <a:avLst/>
          </a:prstGeom>
          <a:noFill/>
          <a:ln/>
        </p:spPr>
        <p:txBody>
          <a:bodyPr wrap="square" lIns="0" tIns="0" rIns="0" bIns="0" rtlCol="0" anchor="ctr"/>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Roughly half teaching, half timed work</a:t>
            </a:r>
            <a:endParaRPr lang="en-US" sz="1150" dirty="0"/>
          </a:p>
        </p:txBody>
      </p:sp>
      <p:sp>
        <p:nvSpPr>
          <p:cNvPr id="41" name="Text 39"/>
          <p:cNvSpPr txBox="1"/>
          <p:nvPr/>
        </p:nvSpPr>
        <p:spPr>
          <a:xfrm>
            <a:off x="45994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Timed sections start short and lengthen.</a:t>
            </a:r>
            <a:endParaRPr lang="en-US" sz="1000" dirty="0"/>
          </a:p>
        </p:txBody>
      </p:sp>
      <p:sp>
        <p:nvSpPr>
          <p:cNvPr id="42" name="Shape 40"/>
          <p:cNvSpPr/>
          <p:nvPr/>
        </p:nvSpPr>
        <p:spPr>
          <a:xfrm>
            <a:off x="8001000" y="3749040"/>
            <a:ext cx="3502152" cy="1170432"/>
          </a:xfrm>
          <a:prstGeom prst="roundRect">
            <a:avLst>
              <a:gd name="adj" fmla="val 3125"/>
            </a:avLst>
          </a:prstGeom>
          <a:solidFill>
            <a:srgbClr val="FFFFFF"/>
          </a:solidFill>
          <a:ln w="9525">
            <a:solidFill>
              <a:srgbClr val="E3DFD5"/>
            </a:solidFill>
            <a:prstDash val="solid"/>
          </a:ln>
        </p:spPr>
      </p:sp>
      <p:sp>
        <p:nvSpPr>
          <p:cNvPr id="43" name="Text 41"/>
          <p:cNvSpPr txBox="1"/>
          <p:nvPr/>
        </p:nvSpPr>
        <p:spPr>
          <a:xfrm>
            <a:off x="82570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 6</a:t>
            </a:r>
            <a:endParaRPr lang="en-US" sz="1100" dirty="0"/>
          </a:p>
        </p:txBody>
      </p:sp>
      <p:sp>
        <p:nvSpPr>
          <p:cNvPr id="44" name="Text 42"/>
          <p:cNvSpPr txBox="1"/>
          <p:nvPr/>
        </p:nvSpPr>
        <p:spPr>
          <a:xfrm>
            <a:off x="8257032" y="4169664"/>
            <a:ext cx="3017520" cy="402336"/>
          </a:xfrm>
          <a:prstGeom prst="rect">
            <a:avLst/>
          </a:prstGeom>
          <a:noFill/>
          <a:ln/>
        </p:spPr>
        <p:txBody>
          <a:bodyPr wrap="square" lIns="0" tIns="0" rIns="0" bIns="0" rtlCol="0" anchor="ctr"/>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Full papers only, no new content</a:t>
            </a:r>
            <a:endParaRPr lang="en-US" sz="1150" dirty="0"/>
          </a:p>
        </p:txBody>
      </p:sp>
      <p:sp>
        <p:nvSpPr>
          <p:cNvPr id="45" name="Text 43"/>
          <p:cNvSpPr txBox="1"/>
          <p:nvPr/>
        </p:nvSpPr>
        <p:spPr>
          <a:xfrm>
            <a:off x="82570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Two full papers, marked and patched.</a:t>
            </a:r>
            <a:endParaRPr lang="en-US" sz="1000" dirty="0"/>
          </a:p>
        </p:txBody>
      </p:sp>
      <p:sp>
        <p:nvSpPr>
          <p:cNvPr id="46" name="Shape 44"/>
          <p:cNvSpPr/>
          <p:nvPr/>
        </p:nvSpPr>
        <p:spPr>
          <a:xfrm>
            <a:off x="685800" y="5138928"/>
            <a:ext cx="10817352" cy="987552"/>
          </a:xfrm>
          <a:prstGeom prst="roundRect">
            <a:avLst>
              <a:gd name="adj" fmla="val 3704"/>
            </a:avLst>
          </a:prstGeom>
          <a:solidFill>
            <a:srgbClr val="EFEBE1"/>
          </a:solidFill>
          <a:ln/>
        </p:spPr>
      </p:sp>
      <p:sp>
        <p:nvSpPr>
          <p:cNvPr id="47" name="Text 45"/>
          <p:cNvSpPr txBox="1"/>
          <p:nvPr/>
        </p:nvSpPr>
        <p:spPr>
          <a:xfrm>
            <a:off x="1005840" y="5321808"/>
            <a:ext cx="10149840" cy="256032"/>
          </a:xfrm>
          <a:prstGeom prst="rect">
            <a:avLst/>
          </a:prstGeom>
          <a:noFill/>
          <a:ln/>
        </p:spPr>
        <p:txBody>
          <a:bodyPr wrap="square" lIns="0" tIns="0" rIns="0" bIns="0" rtlCol="0" anchor="ctr"/>
          <a:lstStyle/>
          <a:p>
            <a:pPr indent="0" marL="0">
              <a:buNone/>
            </a:pPr>
            <a:r>
              <a:rPr lang="en-US" sz="1200" b="1" dirty="0">
                <a:solidFill>
                  <a:srgbClr val="162947"/>
                </a:solidFill>
                <a:latin typeface="Arial" pitchFamily="34" charset="0"/>
                <a:ea typeface="Arial" pitchFamily="34" charset="-122"/>
                <a:cs typeface="Arial" pitchFamily="34" charset="-120"/>
              </a:rPr>
              <a:t>Full papers are sat in weeks 1, 5 and twice in week 6, with timed sections in weeks 3 and 4.</a:t>
            </a:r>
            <a:endParaRPr lang="en-US" sz="1200" dirty="0"/>
          </a:p>
        </p:txBody>
      </p:sp>
      <p:sp>
        <p:nvSpPr>
          <p:cNvPr id="48" name="Text 46"/>
          <p:cNvSpPr txBox="1"/>
          <p:nvPr/>
        </p:nvSpPr>
        <p:spPr>
          <a:xfrm>
            <a:off x="1005840" y="5614416"/>
            <a:ext cx="10149840" cy="274320"/>
          </a:xfrm>
          <a:prstGeom prst="rect">
            <a:avLst/>
          </a:prstGeom>
          <a:noFill/>
          <a:ln/>
        </p:spPr>
        <p:txBody>
          <a:bodyPr wrap="square" lIns="0" tIns="0" rIns="0" bIns="0" rtlCol="0" anchor="ctr"/>
          <a:lstStyle/>
          <a:p>
            <a:pPr indent="0" marL="0">
              <a:buNone/>
            </a:pPr>
            <a:r>
              <a:rPr lang="en-US" sz="1100" dirty="0">
                <a:solidFill>
                  <a:srgbClr val="5D6471"/>
                </a:solidFill>
                <a:latin typeface="Arial" pitchFamily="34" charset="0"/>
                <a:ea typeface="Arial" pitchFamily="34" charset="-122"/>
                <a:cs typeface="Arial" pitchFamily="34" charset="-120"/>
              </a:rPr>
              <a:t>Five timed pieces gives three rounds of feedback that can still change the plan. A first full paper in week 5 would leave only one.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PAST PAPERS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How they are used, and from when</a:t>
            </a:r>
            <a:endParaRPr lang="en-US" sz="3300" dirty="0"/>
          </a:p>
        </p:txBody>
      </p:sp>
      <p:sp>
        <p:nvSpPr>
          <p:cNvPr id="4" name="Text 2"/>
          <p:cNvSpPr txBox="1"/>
          <p:nvPr/>
        </p:nvSpPr>
        <p:spPr>
          <a:xfrm>
            <a:off x="685800" y="1463040"/>
            <a:ext cx="10424160" cy="274320"/>
          </a:xfrm>
          <a:prstGeom prst="rect">
            <a:avLst/>
          </a:prstGeom>
          <a:noFill/>
          <a:ln/>
        </p:spPr>
        <p:txBody>
          <a:bodyPr wrap="square" lIns="0" tIns="0" rIns="0" bIns="0" rtlCol="0" anchor="t"/>
          <a:lstStyle/>
          <a:p>
            <a:pPr indent="0" marL="0">
              <a:buNone/>
            </a:pPr>
            <a:r>
              <a:rPr lang="en-US" sz="1250" dirty="0">
                <a:solidFill>
                  <a:srgbClr val="5D6471"/>
                </a:solidFill>
                <a:latin typeface="Arial" pitchFamily="34" charset="0"/>
                <a:ea typeface="Arial" pitchFamily="34" charset="-122"/>
                <a:cs typeface="Arial" pitchFamily="34" charset="-120"/>
              </a:rPr>
              <a:t>Past papers do two different jobs. Treating them as one job is what wastes them.</a:t>
            </a:r>
            <a:endParaRPr lang="en-US" sz="1250" dirty="0"/>
          </a:p>
        </p:txBody>
      </p:sp>
      <p:sp>
        <p:nvSpPr>
          <p:cNvPr id="5" name="Shape 3"/>
          <p:cNvSpPr/>
          <p:nvPr/>
        </p:nvSpPr>
        <p:spPr>
          <a:xfrm>
            <a:off x="685800" y="1847088"/>
            <a:ext cx="5212080" cy="2724912"/>
          </a:xfrm>
          <a:prstGeom prst="roundRect">
            <a:avLst>
              <a:gd name="adj" fmla="val 1342"/>
            </a:avLst>
          </a:prstGeom>
          <a:solidFill>
            <a:srgbClr val="FFFFFF"/>
          </a:solidFill>
          <a:ln w="9525">
            <a:solidFill>
              <a:srgbClr val="C3A965"/>
            </a:solidFill>
            <a:prstDash val="solid"/>
          </a:ln>
        </p:spPr>
      </p:sp>
      <p:sp>
        <p:nvSpPr>
          <p:cNvPr id="6" name="Text 4"/>
          <p:cNvSpPr txBox="1"/>
          <p:nvPr/>
        </p:nvSpPr>
        <p:spPr>
          <a:xfrm>
            <a:off x="1005840" y="2048256"/>
            <a:ext cx="4572000" cy="310896"/>
          </a:xfrm>
          <a:prstGeom prst="rect">
            <a:avLst/>
          </a:prstGeom>
          <a:noFill/>
          <a:ln/>
        </p:spPr>
        <p:txBody>
          <a:bodyPr wrap="square" lIns="0" tIns="0" rIns="0" bIns="0" rtlCol="0" anchor="t"/>
          <a:lstStyle/>
          <a:p>
            <a:pPr indent="0" marL="0">
              <a:buNone/>
            </a:pPr>
            <a:r>
              <a:rPr lang="en-US" sz="2000" dirty="0">
                <a:solidFill>
                  <a:srgbClr val="162947"/>
                </a:solidFill>
                <a:latin typeface="Cambria" pitchFamily="34" charset="0"/>
                <a:ea typeface="Cambria" pitchFamily="34" charset="-122"/>
                <a:cs typeface="Cambria" pitchFamily="34" charset="-120"/>
              </a:rPr>
              <a:t>Questions, from week one</a:t>
            </a:r>
            <a:endParaRPr lang="en-US" sz="2000" dirty="0"/>
          </a:p>
        </p:txBody>
      </p:sp>
      <p:sp>
        <p:nvSpPr>
          <p:cNvPr id="7" name="Text 5"/>
          <p:cNvSpPr txBox="1"/>
          <p:nvPr/>
        </p:nvSpPr>
        <p:spPr>
          <a:xfrm>
            <a:off x="1005840" y="2414016"/>
            <a:ext cx="4572000" cy="566928"/>
          </a:xfrm>
          <a:prstGeom prst="rect">
            <a:avLst/>
          </a:prstGeom>
          <a:noFill/>
          <a:ln/>
        </p:spPr>
        <p:txBody>
          <a:bodyPr wrap="square" lIns="0" tIns="0" rIns="0" bIns="0" rtlCol="0" anchor="t"/>
          <a:lstStyle/>
          <a:p>
            <a:pPr indent="0" marL="0">
              <a:lnSpc>
                <a:spcPts val="1400"/>
              </a:lnSpc>
              <a:buNone/>
            </a:pPr>
            <a:r>
              <a:rPr lang="en-US" sz="1050" i="1" dirty="0">
                <a:solidFill>
                  <a:srgbClr val="5D6471"/>
                </a:solidFill>
                <a:latin typeface="Arial" pitchFamily="34" charset="0"/>
                <a:ea typeface="Arial" pitchFamily="34" charset="-122"/>
                <a:cs typeface="Arial" pitchFamily="34" charset="-120"/>
              </a:rPr>
              <a:t>This part starts in session one and never stops. Every topic is consolidated on real exam questions rather than textbook exercises.</a:t>
            </a:r>
            <a:endParaRPr lang="en-US" sz="1050" dirty="0"/>
          </a:p>
        </p:txBody>
      </p:sp>
      <p:sp>
        <p:nvSpPr>
          <p:cNvPr id="8" name="Text 6"/>
          <p:cNvSpPr txBox="1"/>
          <p:nvPr/>
        </p:nvSpPr>
        <p:spPr>
          <a:xfrm>
            <a:off x="1005840" y="2999232"/>
            <a:ext cx="4572000" cy="109728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Topic-sorted questions while the topic is being taught</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The same questions mixed and ungrouped in the daily retrieval, so she has to choose the method</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Marked by her against the published mark scheme</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Wrong answers go straight into the error log</a:t>
            </a:r>
            <a:endParaRPr lang="en-US" sz="1100" dirty="0"/>
          </a:p>
        </p:txBody>
      </p:sp>
      <p:sp>
        <p:nvSpPr>
          <p:cNvPr id="9" name="Shape 7"/>
          <p:cNvSpPr/>
          <p:nvPr/>
        </p:nvSpPr>
        <p:spPr>
          <a:xfrm>
            <a:off x="6291072" y="1847088"/>
            <a:ext cx="5212080" cy="2724912"/>
          </a:xfrm>
          <a:prstGeom prst="roundRect">
            <a:avLst>
              <a:gd name="adj" fmla="val 1342"/>
            </a:avLst>
          </a:prstGeom>
          <a:solidFill>
            <a:srgbClr val="162947"/>
          </a:solidFill>
          <a:ln/>
        </p:spPr>
      </p:sp>
      <p:sp>
        <p:nvSpPr>
          <p:cNvPr id="10" name="Text 8"/>
          <p:cNvSpPr txBox="1"/>
          <p:nvPr/>
        </p:nvSpPr>
        <p:spPr>
          <a:xfrm>
            <a:off x="6611112" y="2048256"/>
            <a:ext cx="4572000" cy="310896"/>
          </a:xfrm>
          <a:prstGeom prst="rect">
            <a:avLst/>
          </a:prstGeom>
          <a:noFill/>
          <a:ln/>
        </p:spPr>
        <p:txBody>
          <a:bodyPr wrap="square" lIns="0" tIns="0" rIns="0" bIns="0" rtlCol="0" anchor="t"/>
          <a:lstStyle/>
          <a:p>
            <a:pPr indent="0" marL="0">
              <a:buNone/>
            </a:pPr>
            <a:r>
              <a:rPr lang="en-US" sz="2000" dirty="0">
                <a:solidFill>
                  <a:srgbClr val="F6F4EF"/>
                </a:solidFill>
                <a:latin typeface="Cambria" pitchFamily="34" charset="0"/>
                <a:ea typeface="Cambria" pitchFamily="34" charset="-122"/>
                <a:cs typeface="Cambria" pitchFamily="34" charset="-120"/>
              </a:rPr>
              <a:t>Whole papers, four of them</a:t>
            </a:r>
            <a:endParaRPr lang="en-US" sz="2000" dirty="0"/>
          </a:p>
        </p:txBody>
      </p:sp>
      <p:sp>
        <p:nvSpPr>
          <p:cNvPr id="11" name="Text 9"/>
          <p:cNvSpPr txBox="1"/>
          <p:nvPr/>
        </p:nvSpPr>
        <p:spPr>
          <a:xfrm>
            <a:off x="6611112" y="2414016"/>
            <a:ext cx="4572000" cy="566928"/>
          </a:xfrm>
          <a:prstGeom prst="rect">
            <a:avLst/>
          </a:prstGeom>
          <a:noFill/>
          <a:ln/>
        </p:spPr>
        <p:txBody>
          <a:bodyPr wrap="square" lIns="0" tIns="0" rIns="0" bIns="0" rtlCol="0" anchor="t"/>
          <a:lstStyle/>
          <a:p>
            <a:pPr indent="0" marL="0">
              <a:lnSpc>
                <a:spcPts val="1400"/>
              </a:lnSpc>
              <a:buNone/>
            </a:pPr>
            <a:r>
              <a:rPr lang="en-US" sz="1050" i="1" dirty="0">
                <a:solidFill>
                  <a:srgbClr val="A8B2C2"/>
                </a:solidFill>
                <a:latin typeface="Arial" pitchFamily="34" charset="0"/>
                <a:ea typeface="Arial" pitchFamily="34" charset="-122"/>
                <a:cs typeface="Arial" pitchFamily="34" charset="-120"/>
              </a:rPr>
              <a:t>Timed, under exam conditions, on fixed dates. These are the measuring instrument, so they are spent deliberately.</a:t>
            </a:r>
            <a:endParaRPr lang="en-US" sz="1050" dirty="0"/>
          </a:p>
        </p:txBody>
      </p:sp>
      <p:sp>
        <p:nvSpPr>
          <p:cNvPr id="12" name="Text 10"/>
          <p:cNvSpPr txBox="1"/>
          <p:nvPr/>
        </p:nvSpPr>
        <p:spPr>
          <a:xfrm>
            <a:off x="6611112" y="3026664"/>
            <a:ext cx="914400" cy="237744"/>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1</a:t>
            </a:r>
            <a:endParaRPr lang="en-US" sz="950" dirty="0"/>
          </a:p>
        </p:txBody>
      </p:sp>
      <p:sp>
        <p:nvSpPr>
          <p:cNvPr id="13" name="Text 11"/>
          <p:cNvSpPr txBox="1"/>
          <p:nvPr/>
        </p:nvSpPr>
        <p:spPr>
          <a:xfrm>
            <a:off x="7589520" y="2999232"/>
            <a:ext cx="3611880" cy="274320"/>
          </a:xfrm>
          <a:prstGeom prst="rect">
            <a:avLst/>
          </a:prstGeom>
          <a:noFill/>
          <a:ln/>
        </p:spPr>
        <p:txBody>
          <a:bodyPr wrap="square" lIns="0" tIns="0" rIns="0" bIns="0" rtlCol="0" anchor="t"/>
          <a:lstStyle/>
          <a:p>
            <a:pPr indent="0" marL="0">
              <a:buNone/>
            </a:pPr>
            <a:r>
              <a:rPr lang="en-US" sz="1150" dirty="0">
                <a:solidFill>
                  <a:srgbClr val="E8E4DA"/>
                </a:solidFill>
                <a:latin typeface="Arial" pitchFamily="34" charset="0"/>
                <a:ea typeface="Arial" pitchFamily="34" charset="-122"/>
                <a:cs typeface="Arial" pitchFamily="34" charset="-120"/>
              </a:rPr>
              <a:t>Baseline Paper 1H, sat at home, timed</a:t>
            </a:r>
            <a:endParaRPr lang="en-US" sz="1150" dirty="0"/>
          </a:p>
        </p:txBody>
      </p:sp>
      <p:sp>
        <p:nvSpPr>
          <p:cNvPr id="14" name="Text 12"/>
          <p:cNvSpPr txBox="1"/>
          <p:nvPr/>
        </p:nvSpPr>
        <p:spPr>
          <a:xfrm>
            <a:off x="6611112" y="3447288"/>
            <a:ext cx="914400" cy="237744"/>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5</a:t>
            </a:r>
            <a:endParaRPr lang="en-US" sz="950" dirty="0"/>
          </a:p>
        </p:txBody>
      </p:sp>
      <p:sp>
        <p:nvSpPr>
          <p:cNvPr id="15" name="Text 13"/>
          <p:cNvSpPr txBox="1"/>
          <p:nvPr/>
        </p:nvSpPr>
        <p:spPr>
          <a:xfrm>
            <a:off x="7589520" y="3419856"/>
            <a:ext cx="3611880" cy="274320"/>
          </a:xfrm>
          <a:prstGeom prst="rect">
            <a:avLst/>
          </a:prstGeom>
          <a:noFill/>
          <a:ln/>
        </p:spPr>
        <p:txBody>
          <a:bodyPr wrap="square" lIns="0" tIns="0" rIns="0" bIns="0" rtlCol="0" anchor="t"/>
          <a:lstStyle/>
          <a:p>
            <a:pPr indent="0" marL="0">
              <a:buNone/>
            </a:pPr>
            <a:r>
              <a:rPr lang="en-US" sz="1150" dirty="0">
                <a:solidFill>
                  <a:srgbClr val="E8E4DA"/>
                </a:solidFill>
                <a:latin typeface="Arial" pitchFamily="34" charset="0"/>
                <a:ea typeface="Arial" pitchFamily="34" charset="-122"/>
                <a:cs typeface="Arial" pitchFamily="34" charset="-120"/>
              </a:rPr>
              <a:t>Full paper under exam conditions</a:t>
            </a:r>
            <a:endParaRPr lang="en-US" sz="1150" dirty="0"/>
          </a:p>
        </p:txBody>
      </p:sp>
      <p:sp>
        <p:nvSpPr>
          <p:cNvPr id="16" name="Text 14"/>
          <p:cNvSpPr txBox="1"/>
          <p:nvPr/>
        </p:nvSpPr>
        <p:spPr>
          <a:xfrm>
            <a:off x="6611112" y="3867912"/>
            <a:ext cx="914400" cy="237744"/>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6</a:t>
            </a:r>
            <a:endParaRPr lang="en-US" sz="950" dirty="0"/>
          </a:p>
        </p:txBody>
      </p:sp>
      <p:sp>
        <p:nvSpPr>
          <p:cNvPr id="17" name="Text 15"/>
          <p:cNvSpPr txBox="1"/>
          <p:nvPr/>
        </p:nvSpPr>
        <p:spPr>
          <a:xfrm>
            <a:off x="7589520" y="3840480"/>
            <a:ext cx="3611880" cy="274320"/>
          </a:xfrm>
          <a:prstGeom prst="rect">
            <a:avLst/>
          </a:prstGeom>
          <a:noFill/>
          <a:ln/>
        </p:spPr>
        <p:txBody>
          <a:bodyPr wrap="square" lIns="0" tIns="0" rIns="0" bIns="0" rtlCol="0" anchor="t"/>
          <a:lstStyle/>
          <a:p>
            <a:pPr indent="0" marL="0">
              <a:buNone/>
            </a:pPr>
            <a:r>
              <a:rPr lang="en-US" sz="1150" dirty="0">
                <a:solidFill>
                  <a:srgbClr val="E8E4DA"/>
                </a:solidFill>
                <a:latin typeface="Arial" pitchFamily="34" charset="0"/>
                <a:ea typeface="Arial" pitchFamily="34" charset="-122"/>
                <a:cs typeface="Arial" pitchFamily="34" charset="-120"/>
              </a:rPr>
              <a:t>Two full papers, marked and patched</a:t>
            </a:r>
            <a:endParaRPr lang="en-US" sz="1150" dirty="0"/>
          </a:p>
        </p:txBody>
      </p:sp>
      <p:sp>
        <p:nvSpPr>
          <p:cNvPr id="18" name="Text 16"/>
          <p:cNvSpPr txBox="1"/>
          <p:nvPr/>
        </p:nvSpPr>
        <p:spPr>
          <a:xfrm>
            <a:off x="6611112" y="4224528"/>
            <a:ext cx="4572000" cy="237744"/>
          </a:xfrm>
          <a:prstGeom prst="rect">
            <a:avLst/>
          </a:prstGeom>
          <a:noFill/>
          <a:ln/>
        </p:spPr>
        <p:txBody>
          <a:bodyPr wrap="square" lIns="0" tIns="0" rIns="0" bIns="0" rtlCol="0" anchor="ctr"/>
          <a:lstStyle/>
          <a:p>
            <a:pPr indent="0" marL="0">
              <a:buNone/>
            </a:pPr>
            <a:r>
              <a:rPr lang="en-US" sz="1000" dirty="0">
                <a:solidFill>
                  <a:srgbClr val="A8B2C2"/>
                </a:solidFill>
                <a:latin typeface="Arial" pitchFamily="34" charset="0"/>
                <a:ea typeface="Arial" pitchFamily="34" charset="-122"/>
                <a:cs typeface="Arial" pitchFamily="34" charset="-120"/>
              </a:rPr>
              <a:t>About twelve hours in total, including the marking.</a:t>
            </a:r>
            <a:endParaRPr lang="en-US" sz="1000" dirty="0"/>
          </a:p>
        </p:txBody>
      </p:sp>
      <p:sp>
        <p:nvSpPr>
          <p:cNvPr id="19" name="Shape 17"/>
          <p:cNvSpPr/>
          <p:nvPr/>
        </p:nvSpPr>
        <p:spPr>
          <a:xfrm>
            <a:off x="685800" y="4754880"/>
            <a:ext cx="10817352" cy="1371600"/>
          </a:xfrm>
          <a:prstGeom prst="roundRect">
            <a:avLst>
              <a:gd name="adj" fmla="val 2667"/>
            </a:avLst>
          </a:prstGeom>
          <a:solidFill>
            <a:srgbClr val="EFEBE1"/>
          </a:solidFill>
          <a:ln/>
        </p:spPr>
      </p:sp>
      <p:sp>
        <p:nvSpPr>
          <p:cNvPr id="20" name="Text 18"/>
          <p:cNvSpPr txBox="1"/>
          <p:nvPr/>
        </p:nvSpPr>
        <p:spPr>
          <a:xfrm>
            <a:off x="1005840" y="4919472"/>
            <a:ext cx="484632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THE RULE</a:t>
            </a:r>
            <a:endParaRPr lang="en-US" sz="900" dirty="0"/>
          </a:p>
        </p:txBody>
      </p:sp>
      <p:sp>
        <p:nvSpPr>
          <p:cNvPr id="21" name="Text 19"/>
          <p:cNvSpPr txBox="1"/>
          <p:nvPr/>
        </p:nvSpPr>
        <p:spPr>
          <a:xfrm>
            <a:off x="1005840" y="5175504"/>
            <a:ext cx="4846320" cy="804672"/>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A paper that is not marked and patched is two hours of nothing. She marks every paper herself against the published mark scheme, and the session after it goes to her five biggest losses. The patch is the lesson, not the paper.</a:t>
            </a:r>
            <a:endParaRPr lang="en-US" sz="1050" dirty="0"/>
          </a:p>
        </p:txBody>
      </p:sp>
      <p:sp>
        <p:nvSpPr>
          <p:cNvPr id="22" name="Text 20"/>
          <p:cNvSpPr txBox="1"/>
          <p:nvPr/>
        </p:nvSpPr>
        <p:spPr>
          <a:xfrm>
            <a:off x="6400800" y="4919472"/>
            <a:ext cx="484632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WHY NOT MORE, AND NOT SOONER</a:t>
            </a:r>
            <a:endParaRPr lang="en-US" sz="900" dirty="0"/>
          </a:p>
        </p:txBody>
      </p:sp>
      <p:sp>
        <p:nvSpPr>
          <p:cNvPr id="23" name="Text 21"/>
          <p:cNvSpPr txBox="1"/>
          <p:nvPr/>
        </p:nvSpPr>
        <p:spPr>
          <a:xfrm>
            <a:off x="6400800" y="5175504"/>
            <a:ext cx="4846320" cy="804672"/>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There is no shortage of 4MA1 papers, so supply is not the limit. Her time is. A full paper costs two hours to sit and one to patch, and in weeks 2 to 4 those three hours buy more as teaching and short timed sections.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1 AND 2</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Fix the foundations first</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1  ·  21 to 27 Sep</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Diagnose and set up</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Fluency audit: 35 questions, 50 minutes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Calculator setup: fraction key, ANS and STO, standard form, table mode, degree mode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The formula sheet: what is given, so we do not drill it</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Method marks: the working rules, applied from day one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Set up the error log</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Baseline paper at home, 2 hours, timed. Daily drill: negatives inside algebra.</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Baseline Paper 1H, marked together in session two</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2  ·  28 Sep to 4 Oct</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The number engine</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Fractions: all four operations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Percentage multipliers, increase and decrease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Reverse percentages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Standard form and index laws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One method per topic, used every time</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drill: negatives and fractions.</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Topic-sorted past paper questions on percentages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3 AND 4</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The biggest block of marks</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3  ·  5 to 11 Oct</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The algebra spine</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Collecting terms and expanding brackets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Solving with x on both sides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Substitution and rearranging formulae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Linear simultaneous equations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Re-run the audit: checkpoint 1</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drill: fractions and percentages.</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Timed section, 25 minutes, two-pass rule applied</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4  ·  12 to 18 Oct</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The low-cost marks</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Ratio and proportion by the unitary method</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Averages and frequency tables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Estimated mean from grouped data</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Probability, tree diagrams and Venn diagrams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Sequences and straight-line graphs</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drill: solving and ratio.</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Timed section, 40 minutes, marked against the mark scheme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5 AND 6</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Shape, then papers only</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5  ·  19 to 25 Oct</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Shape and space</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Angle facts, area and perimeter</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Circles, prisms and cylinders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Pythagoras and right-angled trigonometry</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Length, area and volume scale factors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Re-run the audit: checkpoint 2</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drill: all six bottleneck skills, mixed.</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First full paper, 2 hours, exam conditions</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6</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6  ·  26 Oct to 1 Nov</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Half term: papers</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Mark and patch the week 5 paper</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Second full paper, then patch the top five losses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Third full paper if the first two are on target</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Exam technique and pacing session</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No new content after 25 October</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Daily drill: straight from the error log.</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Two full papers, plus a third if week 5 cleared 35 out of 100</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EXAM WEEK</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2 to 6 November</a:t>
            </a:r>
            <a:endParaRPr lang="en-US" sz="3300" dirty="0"/>
          </a:p>
        </p:txBody>
      </p:sp>
      <p:sp>
        <p:nvSpPr>
          <p:cNvPr id="4" name="Shape 2"/>
          <p:cNvSpPr/>
          <p:nvPr/>
        </p:nvSpPr>
        <p:spPr>
          <a:xfrm>
            <a:off x="685800" y="1645920"/>
            <a:ext cx="2587752" cy="3794760"/>
          </a:xfrm>
          <a:prstGeom prst="roundRect">
            <a:avLst>
              <a:gd name="adj" fmla="val 1413"/>
            </a:avLst>
          </a:prstGeom>
          <a:solidFill>
            <a:srgbClr val="FFFFFF"/>
          </a:solidFill>
          <a:ln w="9525">
            <a:solidFill>
              <a:srgbClr val="E3DFD5"/>
            </a:solidFill>
            <a:prstDash val="solid"/>
          </a:ln>
        </p:spPr>
      </p:sp>
      <p:sp>
        <p:nvSpPr>
          <p:cNvPr id="5" name="Text 3"/>
          <p:cNvSpPr txBox="1"/>
          <p:nvPr/>
        </p:nvSpPr>
        <p:spPr>
          <a:xfrm>
            <a:off x="9418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MON 2 NOV</a:t>
            </a:r>
            <a:endParaRPr lang="en-US" sz="950" dirty="0"/>
          </a:p>
        </p:txBody>
      </p:sp>
      <p:sp>
        <p:nvSpPr>
          <p:cNvPr id="6" name="Text 4"/>
          <p:cNvSpPr txBox="1"/>
          <p:nvPr/>
        </p:nvSpPr>
        <p:spPr>
          <a:xfrm>
            <a:off x="941832" y="2103120"/>
            <a:ext cx="2103120" cy="310896"/>
          </a:xfrm>
          <a:prstGeom prst="rect">
            <a:avLst/>
          </a:prstGeom>
          <a:noFill/>
          <a:ln/>
        </p:spPr>
        <p:txBody>
          <a:bodyPr wrap="square" lIns="0" tIns="0" rIns="0" bIns="0" rtlCol="0" anchor="ctr"/>
          <a:lstStyle/>
          <a:p>
            <a:pPr indent="0" marL="0">
              <a:buNone/>
            </a:pPr>
            <a:r>
              <a:rPr lang="en-US" sz="1900" dirty="0">
                <a:solidFill>
                  <a:srgbClr val="162947"/>
                </a:solidFill>
                <a:latin typeface="Cambria" pitchFamily="34" charset="0"/>
                <a:ea typeface="Cambria" pitchFamily="34" charset="-122"/>
                <a:cs typeface="Cambria" pitchFamily="34" charset="-120"/>
              </a:rPr>
              <a:t>Last session</a:t>
            </a:r>
            <a:endParaRPr lang="en-US" sz="1900" dirty="0"/>
          </a:p>
        </p:txBody>
      </p:sp>
      <p:sp>
        <p:nvSpPr>
          <p:cNvPr id="7" name="Text 5"/>
          <p:cNvSpPr txBox="1"/>
          <p:nvPr/>
        </p:nvSpPr>
        <p:spPr>
          <a:xfrm>
            <a:off x="9418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No new content. Retrieval across everything taught, a pacing rehearsal, and a calculator check. The session finishes on a topic she is strong at.</a:t>
            </a:r>
            <a:endParaRPr lang="en-US" sz="1100" dirty="0"/>
          </a:p>
        </p:txBody>
      </p:sp>
      <p:sp>
        <p:nvSpPr>
          <p:cNvPr id="8" name="Shape 6"/>
          <p:cNvSpPr/>
          <p:nvPr/>
        </p:nvSpPr>
        <p:spPr>
          <a:xfrm>
            <a:off x="3429000" y="1645920"/>
            <a:ext cx="2587752" cy="3794760"/>
          </a:xfrm>
          <a:prstGeom prst="roundRect">
            <a:avLst>
              <a:gd name="adj" fmla="val 1413"/>
            </a:avLst>
          </a:prstGeom>
          <a:solidFill>
            <a:srgbClr val="162947"/>
          </a:solidFill>
          <a:ln/>
        </p:spPr>
      </p:sp>
      <p:sp>
        <p:nvSpPr>
          <p:cNvPr id="9" name="Text 7"/>
          <p:cNvSpPr txBox="1"/>
          <p:nvPr/>
        </p:nvSpPr>
        <p:spPr>
          <a:xfrm>
            <a:off x="36850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WED 4 NOV</a:t>
            </a:r>
            <a:endParaRPr lang="en-US" sz="950" dirty="0"/>
          </a:p>
        </p:txBody>
      </p:sp>
      <p:sp>
        <p:nvSpPr>
          <p:cNvPr id="10" name="Text 8"/>
          <p:cNvSpPr txBox="1"/>
          <p:nvPr/>
        </p:nvSpPr>
        <p:spPr>
          <a:xfrm>
            <a:off x="3685032" y="2103120"/>
            <a:ext cx="2103120" cy="310896"/>
          </a:xfrm>
          <a:prstGeom prst="rect">
            <a:avLst/>
          </a:prstGeom>
          <a:noFill/>
          <a:ln/>
        </p:spPr>
        <p:txBody>
          <a:bodyPr wrap="square" lIns="0" tIns="0" rIns="0" bIns="0" rtlCol="0" anchor="ctr"/>
          <a:lstStyle/>
          <a:p>
            <a:pPr indent="0" marL="0">
              <a:buNone/>
            </a:pPr>
            <a:r>
              <a:rPr lang="en-US" sz="1900" dirty="0">
                <a:solidFill>
                  <a:srgbClr val="F6F4EF"/>
                </a:solidFill>
                <a:latin typeface="Cambria" pitchFamily="34" charset="0"/>
                <a:ea typeface="Cambria" pitchFamily="34" charset="-122"/>
                <a:cs typeface="Cambria" pitchFamily="34" charset="-120"/>
              </a:rPr>
              <a:t>Paper 1H</a:t>
            </a:r>
            <a:endParaRPr lang="en-US" sz="1900" dirty="0"/>
          </a:p>
        </p:txBody>
      </p:sp>
      <p:sp>
        <p:nvSpPr>
          <p:cNvPr id="11" name="Text 9"/>
          <p:cNvSpPr txBox="1"/>
          <p:nvPr/>
        </p:nvSpPr>
        <p:spPr>
          <a:xfrm>
            <a:off x="36850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Morning, 2 hours, 100 marks. Two passes: everything she recognises first, then back to the flagged questions. The last ten minutes go to checking work she has already done.</a:t>
            </a:r>
            <a:endParaRPr lang="en-US" sz="1100" dirty="0"/>
          </a:p>
        </p:txBody>
      </p:sp>
      <p:sp>
        <p:nvSpPr>
          <p:cNvPr id="12" name="Shape 10"/>
          <p:cNvSpPr/>
          <p:nvPr/>
        </p:nvSpPr>
        <p:spPr>
          <a:xfrm>
            <a:off x="6172200" y="1645920"/>
            <a:ext cx="2587752" cy="3794760"/>
          </a:xfrm>
          <a:prstGeom prst="roundRect">
            <a:avLst>
              <a:gd name="adj" fmla="val 1413"/>
            </a:avLst>
          </a:prstGeom>
          <a:solidFill>
            <a:srgbClr val="FFFFFF"/>
          </a:solidFill>
          <a:ln w="9525">
            <a:solidFill>
              <a:srgbClr val="E3DFD5"/>
            </a:solidFill>
            <a:prstDash val="solid"/>
          </a:ln>
        </p:spPr>
      </p:sp>
      <p:sp>
        <p:nvSpPr>
          <p:cNvPr id="13" name="Text 11"/>
          <p:cNvSpPr txBox="1"/>
          <p:nvPr/>
        </p:nvSpPr>
        <p:spPr>
          <a:xfrm>
            <a:off x="64282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THU 5 NOV</a:t>
            </a:r>
            <a:endParaRPr lang="en-US" sz="950" dirty="0"/>
          </a:p>
        </p:txBody>
      </p:sp>
      <p:sp>
        <p:nvSpPr>
          <p:cNvPr id="14" name="Text 12"/>
          <p:cNvSpPr txBox="1"/>
          <p:nvPr/>
        </p:nvSpPr>
        <p:spPr>
          <a:xfrm>
            <a:off x="6428232" y="2103120"/>
            <a:ext cx="2103120" cy="310896"/>
          </a:xfrm>
          <a:prstGeom prst="rect">
            <a:avLst/>
          </a:prstGeom>
          <a:noFill/>
          <a:ln/>
        </p:spPr>
        <p:txBody>
          <a:bodyPr wrap="square" lIns="0" tIns="0" rIns="0" bIns="0" rtlCol="0" anchor="ctr"/>
          <a:lstStyle/>
          <a:p>
            <a:pPr indent="0" marL="0">
              <a:buNone/>
            </a:pPr>
            <a:r>
              <a:rPr lang="en-US" sz="1900" dirty="0">
                <a:solidFill>
                  <a:srgbClr val="162947"/>
                </a:solidFill>
                <a:latin typeface="Cambria" pitchFamily="34" charset="0"/>
                <a:ea typeface="Cambria" pitchFamily="34" charset="-122"/>
                <a:cs typeface="Cambria" pitchFamily="34" charset="-120"/>
              </a:rPr>
              <a:t>The gap day</a:t>
            </a:r>
            <a:endParaRPr lang="en-US" sz="1900" dirty="0"/>
          </a:p>
        </p:txBody>
      </p:sp>
      <p:sp>
        <p:nvSpPr>
          <p:cNvPr id="15" name="Text 13"/>
          <p:cNvSpPr txBox="1"/>
          <p:nvPr/>
        </p:nvSpPr>
        <p:spPr>
          <a:xfrm>
            <a:off x="64282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No detailed post-mortem. We re-run the questions she started and abandoned, because those are the ones where a method mark was one line away, then drill the two or three topics she could not begin.</a:t>
            </a:r>
            <a:endParaRPr lang="en-US" sz="1100" dirty="0"/>
          </a:p>
        </p:txBody>
      </p:sp>
      <p:sp>
        <p:nvSpPr>
          <p:cNvPr id="16" name="Shape 14"/>
          <p:cNvSpPr/>
          <p:nvPr/>
        </p:nvSpPr>
        <p:spPr>
          <a:xfrm>
            <a:off x="8915400" y="1645920"/>
            <a:ext cx="2587752" cy="3794760"/>
          </a:xfrm>
          <a:prstGeom prst="roundRect">
            <a:avLst>
              <a:gd name="adj" fmla="val 1413"/>
            </a:avLst>
          </a:prstGeom>
          <a:solidFill>
            <a:srgbClr val="162947"/>
          </a:solidFill>
          <a:ln/>
        </p:spPr>
      </p:sp>
      <p:sp>
        <p:nvSpPr>
          <p:cNvPr id="17" name="Text 15"/>
          <p:cNvSpPr txBox="1"/>
          <p:nvPr/>
        </p:nvSpPr>
        <p:spPr>
          <a:xfrm>
            <a:off x="91714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FRI 6 NOV</a:t>
            </a:r>
            <a:endParaRPr lang="en-US" sz="950" dirty="0"/>
          </a:p>
        </p:txBody>
      </p:sp>
      <p:sp>
        <p:nvSpPr>
          <p:cNvPr id="18" name="Text 16"/>
          <p:cNvSpPr txBox="1"/>
          <p:nvPr/>
        </p:nvSpPr>
        <p:spPr>
          <a:xfrm>
            <a:off x="9171432" y="2103120"/>
            <a:ext cx="2103120" cy="310896"/>
          </a:xfrm>
          <a:prstGeom prst="rect">
            <a:avLst/>
          </a:prstGeom>
          <a:noFill/>
          <a:ln/>
        </p:spPr>
        <p:txBody>
          <a:bodyPr wrap="square" lIns="0" tIns="0" rIns="0" bIns="0" rtlCol="0" anchor="ctr"/>
          <a:lstStyle/>
          <a:p>
            <a:pPr indent="0" marL="0">
              <a:buNone/>
            </a:pPr>
            <a:r>
              <a:rPr lang="en-US" sz="1900" dirty="0">
                <a:solidFill>
                  <a:srgbClr val="F6F4EF"/>
                </a:solidFill>
                <a:latin typeface="Cambria" pitchFamily="34" charset="0"/>
                <a:ea typeface="Cambria" pitchFamily="34" charset="-122"/>
                <a:cs typeface="Cambria" pitchFamily="34" charset="-120"/>
              </a:rPr>
              <a:t>Paper 2H</a:t>
            </a:r>
            <a:endParaRPr lang="en-US" sz="1900" dirty="0"/>
          </a:p>
        </p:txBody>
      </p:sp>
      <p:sp>
        <p:nvSpPr>
          <p:cNvPr id="19" name="Text 17"/>
          <p:cNvSpPr txBox="1"/>
          <p:nvPr/>
        </p:nvSpPr>
        <p:spPr>
          <a:xfrm>
            <a:off x="91714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Morning, 2 hours, 100 marks. Same pacing rules. Both papers sample the full specification, so topics from Wednesday will recur.</a:t>
            </a:r>
            <a:endParaRPr lang="en-US" sz="1100" dirty="0"/>
          </a:p>
        </p:txBody>
      </p:sp>
      <p:sp>
        <p:nvSpPr>
          <p:cNvPr id="20" name="Shape 18"/>
          <p:cNvSpPr/>
          <p:nvPr/>
        </p:nvSpPr>
        <p:spPr>
          <a:xfrm>
            <a:off x="685800" y="5596128"/>
            <a:ext cx="10817352" cy="566928"/>
          </a:xfrm>
          <a:prstGeom prst="roundRect">
            <a:avLst>
              <a:gd name="adj" fmla="val 6452"/>
            </a:avLst>
          </a:prstGeom>
          <a:solidFill>
            <a:srgbClr val="EFEBE1"/>
          </a:solidFill>
          <a:ln/>
        </p:spPr>
      </p:sp>
      <p:sp>
        <p:nvSpPr>
          <p:cNvPr id="21" name="Text 19"/>
          <p:cNvSpPr txBox="1"/>
          <p:nvPr/>
        </p:nvSpPr>
        <p:spPr>
          <a:xfrm>
            <a:off x="1005840" y="5596128"/>
            <a:ext cx="10149840" cy="566928"/>
          </a:xfrm>
          <a:prstGeom prst="rect">
            <a:avLst/>
          </a:prstGeom>
          <a:noFill/>
          <a:ln/>
        </p:spPr>
        <p:txBody>
          <a:bodyPr wrap="square" lIns="0" tIns="0" rIns="0" bIns="0" rtlCol="0" anchor="ctr"/>
          <a:lstStyle/>
          <a:p>
            <a:pPr indent="0" marL="0">
              <a:buNone/>
            </a:pPr>
            <a:r>
              <a:rPr lang="en-US" sz="1200" b="1" dirty="0">
                <a:solidFill>
                  <a:srgbClr val="162947"/>
                </a:solidFill>
                <a:latin typeface="Arial" pitchFamily="34" charset="0"/>
                <a:ea typeface="Arial" pitchFamily="34" charset="-122"/>
                <a:cs typeface="Arial" pitchFamily="34" charset="-120"/>
              </a:rPr>
              <a:t>No new content after 25 October. The last week and a half consolidate what is already there.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TRIAGE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What we teach, and what we leave</a:t>
            </a:r>
            <a:endParaRPr lang="en-US" sz="3300" dirty="0"/>
          </a:p>
        </p:txBody>
      </p:sp>
      <p:sp>
        <p:nvSpPr>
          <p:cNvPr id="4" name="Shape 2"/>
          <p:cNvSpPr/>
          <p:nvPr/>
        </p:nvSpPr>
        <p:spPr>
          <a:xfrm>
            <a:off x="685800" y="1572768"/>
            <a:ext cx="5212080" cy="3822192"/>
          </a:xfrm>
          <a:prstGeom prst="roundRect">
            <a:avLst>
              <a:gd name="adj" fmla="val 957"/>
            </a:avLst>
          </a:prstGeom>
          <a:solidFill>
            <a:srgbClr val="FFFFFF"/>
          </a:solidFill>
          <a:ln w="9525">
            <a:solidFill>
              <a:srgbClr val="C3A965"/>
            </a:solidFill>
            <a:prstDash val="solid"/>
          </a:ln>
        </p:spPr>
      </p:sp>
      <p:sp>
        <p:nvSpPr>
          <p:cNvPr id="5" name="Shape 3"/>
          <p:cNvSpPr/>
          <p:nvPr/>
        </p:nvSpPr>
        <p:spPr>
          <a:xfrm>
            <a:off x="1005840" y="1792224"/>
            <a:ext cx="384048" cy="384048"/>
          </a:xfrm>
          <a:prstGeom prst="ellipse">
            <a:avLst/>
          </a:prstGeom>
          <a:solidFill>
            <a:srgbClr val="162947"/>
          </a:solidFill>
          <a:ln/>
        </p:spPr>
      </p:sp>
      <p:sp>
        <p:nvSpPr>
          <p:cNvPr id="6" name="Text 4"/>
          <p:cNvSpPr txBox="1"/>
          <p:nvPr/>
        </p:nvSpPr>
        <p:spPr>
          <a:xfrm>
            <a:off x="1005840" y="1792224"/>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a:t>
            </a:r>
            <a:endParaRPr lang="en-US" sz="1500" dirty="0"/>
          </a:p>
        </p:txBody>
      </p:sp>
      <p:sp>
        <p:nvSpPr>
          <p:cNvPr id="7" name="Text 5"/>
          <p:cNvSpPr txBox="1"/>
          <p:nvPr/>
        </p:nvSpPr>
        <p:spPr>
          <a:xfrm>
            <a:off x="1527048" y="1801368"/>
            <a:ext cx="4114800" cy="329184"/>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We teach this</a:t>
            </a:r>
            <a:endParaRPr lang="en-US" sz="2000" dirty="0"/>
          </a:p>
        </p:txBody>
      </p:sp>
      <p:sp>
        <p:nvSpPr>
          <p:cNvPr id="8" name="Text 6"/>
          <p:cNvSpPr txBox="1"/>
          <p:nvPr/>
        </p:nvSpPr>
        <p:spPr>
          <a:xfrm>
            <a:off x="1005840" y="2249424"/>
            <a:ext cx="4572000" cy="420624"/>
          </a:xfrm>
          <a:prstGeom prst="rect">
            <a:avLst/>
          </a:prstGeom>
          <a:noFill/>
          <a:ln/>
        </p:spPr>
        <p:txBody>
          <a:bodyPr wrap="square" lIns="0" tIns="0" rIns="0" bIns="0" rtlCol="0" anchor="ctr"/>
          <a:lstStyle/>
          <a:p>
            <a:pPr indent="0" marL="0">
              <a:lnSpc>
                <a:spcPts val="1400"/>
              </a:lnSpc>
              <a:buNone/>
            </a:pPr>
            <a:r>
              <a:rPr lang="en-US" sz="1050" i="1" dirty="0">
                <a:solidFill>
                  <a:srgbClr val="5D6471"/>
                </a:solidFill>
                <a:latin typeface="Arial" pitchFamily="34" charset="0"/>
                <a:ea typeface="Arial" pitchFamily="34" charset="-122"/>
                <a:cs typeface="Arial" pitchFamily="34" charset="-120"/>
              </a:rPr>
              <a:t>About 105 marks live here. This list, done well, clears the target with margin.</a:t>
            </a:r>
            <a:endParaRPr lang="en-US" sz="1050" dirty="0"/>
          </a:p>
        </p:txBody>
      </p:sp>
      <p:sp>
        <p:nvSpPr>
          <p:cNvPr id="9" name="Text 7"/>
          <p:cNvSpPr txBox="1"/>
          <p:nvPr/>
        </p:nvSpPr>
        <p:spPr>
          <a:xfrm>
            <a:off x="1005840" y="2743200"/>
            <a:ext cx="4572000" cy="246888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Fractions, decimals, percentages, reverse percentages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Negatives, indices, standard form, rounding</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Ratio and proportion by the unitary method</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Solving, expanding, substituting, rearranging</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Linear simultaneous equations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Sequences and straight-line graphs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Angles, area, circles, prisms, Pythagoras, trigonometry</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Length, area and volume scale factors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Averages, frequency tables, probability, Venn diagrams</a:t>
            </a:r>
            <a:endParaRPr lang="en-US" sz="1100" dirty="0"/>
          </a:p>
        </p:txBody>
      </p:sp>
      <p:sp>
        <p:nvSpPr>
          <p:cNvPr id="10" name="Shape 8"/>
          <p:cNvSpPr/>
          <p:nvPr/>
        </p:nvSpPr>
        <p:spPr>
          <a:xfrm>
            <a:off x="6291072" y="1572768"/>
            <a:ext cx="5212080" cy="3822192"/>
          </a:xfrm>
          <a:prstGeom prst="roundRect">
            <a:avLst>
              <a:gd name="adj" fmla="val 957"/>
            </a:avLst>
          </a:prstGeom>
          <a:solidFill>
            <a:srgbClr val="EFEBE1"/>
          </a:solidFill>
          <a:ln w="9525">
            <a:solidFill>
              <a:srgbClr val="E3DFD5"/>
            </a:solidFill>
            <a:prstDash val="solid"/>
          </a:ln>
        </p:spPr>
      </p:sp>
      <p:sp>
        <p:nvSpPr>
          <p:cNvPr id="11" name="Shape 9"/>
          <p:cNvSpPr/>
          <p:nvPr/>
        </p:nvSpPr>
        <p:spPr>
          <a:xfrm>
            <a:off x="6611112" y="1792224"/>
            <a:ext cx="384048" cy="384048"/>
          </a:xfrm>
          <a:prstGeom prst="ellipse">
            <a:avLst/>
          </a:prstGeom>
          <a:solidFill>
            <a:srgbClr val="C4C8CE"/>
          </a:solidFill>
          <a:ln/>
        </p:spPr>
      </p:sp>
      <p:sp>
        <p:nvSpPr>
          <p:cNvPr id="12" name="Text 10"/>
          <p:cNvSpPr txBox="1"/>
          <p:nvPr/>
        </p:nvSpPr>
        <p:spPr>
          <a:xfrm>
            <a:off x="6611112" y="1792224"/>
            <a:ext cx="384048" cy="384048"/>
          </a:xfrm>
          <a:prstGeom prst="rect">
            <a:avLst/>
          </a:prstGeom>
          <a:noFill/>
          <a:ln/>
        </p:spPr>
        <p:txBody>
          <a:bodyPr wrap="square" lIns="0" tIns="0" rIns="0" bIns="0" rtlCol="0" anchor="ctr"/>
          <a:lstStyle/>
          <a:p>
            <a:pPr algn="ctr" indent="0" marL="0">
              <a:buNone/>
            </a:pPr>
            <a:r>
              <a:rPr lang="en-US" sz="1500" b="1" dirty="0">
                <a:solidFill>
                  <a:srgbClr val="F6F4EF"/>
                </a:solidFill>
                <a:latin typeface="Cambria" pitchFamily="34" charset="0"/>
                <a:ea typeface="Cambria" pitchFamily="34" charset="-122"/>
                <a:cs typeface="Cambria" pitchFamily="34" charset="-120"/>
              </a:rPr>
              <a:t>✕</a:t>
            </a:r>
            <a:endParaRPr lang="en-US" sz="1500" dirty="0"/>
          </a:p>
        </p:txBody>
      </p:sp>
      <p:sp>
        <p:nvSpPr>
          <p:cNvPr id="13" name="Text 11"/>
          <p:cNvSpPr txBox="1"/>
          <p:nvPr/>
        </p:nvSpPr>
        <p:spPr>
          <a:xfrm>
            <a:off x="7132320" y="1801368"/>
            <a:ext cx="4114800" cy="329184"/>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We leave this</a:t>
            </a:r>
            <a:endParaRPr lang="en-US" sz="2000" dirty="0"/>
          </a:p>
        </p:txBody>
      </p:sp>
      <p:sp>
        <p:nvSpPr>
          <p:cNvPr id="14" name="Text 12"/>
          <p:cNvSpPr txBox="1"/>
          <p:nvPr/>
        </p:nvSpPr>
        <p:spPr>
          <a:xfrm>
            <a:off x="6611112" y="2249424"/>
            <a:ext cx="4572000" cy="420624"/>
          </a:xfrm>
          <a:prstGeom prst="rect">
            <a:avLst/>
          </a:prstGeom>
          <a:noFill/>
          <a:ln/>
        </p:spPr>
        <p:txBody>
          <a:bodyPr wrap="square" lIns="0" tIns="0" rIns="0" bIns="0" rtlCol="0" anchor="ctr"/>
          <a:lstStyle/>
          <a:p>
            <a:pPr indent="0" marL="0">
              <a:lnSpc>
                <a:spcPts val="1400"/>
              </a:lnSpc>
              <a:buNone/>
            </a:pPr>
            <a:r>
              <a:rPr lang="en-US" sz="1050" i="1" dirty="0">
                <a:solidFill>
                  <a:srgbClr val="5D6471"/>
                </a:solidFill>
                <a:latin typeface="Arial" pitchFamily="34" charset="0"/>
                <a:ea typeface="Arial" pitchFamily="34" charset="-122"/>
                <a:cs typeface="Arial" pitchFamily="34" charset="-120"/>
              </a:rPr>
              <a:t>Worth 60 to 80 marks she would convert very little of in six weeks.</a:t>
            </a:r>
            <a:endParaRPr lang="en-US" sz="1050" dirty="0"/>
          </a:p>
        </p:txBody>
      </p:sp>
      <p:sp>
        <p:nvSpPr>
          <p:cNvPr id="15" name="Text 13"/>
          <p:cNvSpPr txBox="1"/>
          <p:nvPr/>
        </p:nvSpPr>
        <p:spPr>
          <a:xfrm>
            <a:off x="6611112" y="2743200"/>
            <a:ext cx="4572000" cy="219456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Circle theorems and their proofs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Vectors and vector geometry</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Histograms with unequal class widths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Algebraic fractions, functions, graph transformations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Surds, bounds, 3D trigonometry</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Quadratic formula, sine and cosine rules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Quadratic simultaneous equations and inequalities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Iteration and numerical methods</a:t>
            </a:r>
            <a:endParaRPr lang="en-US" sz="1100" dirty="0"/>
          </a:p>
        </p:txBody>
      </p:sp>
      <p:sp>
        <p:nvSpPr>
          <p:cNvPr id="16" name="Shape 14"/>
          <p:cNvSpPr/>
          <p:nvPr/>
        </p:nvSpPr>
        <p:spPr>
          <a:xfrm>
            <a:off x="685800" y="5541264"/>
            <a:ext cx="10817352" cy="512064"/>
          </a:xfrm>
          <a:prstGeom prst="roundRect">
            <a:avLst>
              <a:gd name="adj" fmla="val 7143"/>
            </a:avLst>
          </a:prstGeom>
          <a:solidFill>
            <a:srgbClr val="162947"/>
          </a:solidFill>
          <a:ln/>
        </p:spPr>
      </p:sp>
      <p:sp>
        <p:nvSpPr>
          <p:cNvPr id="17" name="Text 15"/>
          <p:cNvSpPr txBox="1"/>
          <p:nvPr/>
        </p:nvSpPr>
        <p:spPr>
          <a:xfrm>
            <a:off x="1005840" y="5541264"/>
            <a:ext cx="10149840" cy="512064"/>
          </a:xfrm>
          <a:prstGeom prst="rect">
            <a:avLst/>
          </a:prstGeom>
          <a:noFill/>
          <a:ln/>
        </p:spPr>
        <p:txBody>
          <a:bodyPr wrap="square" lIns="0" tIns="0" rIns="0" bIns="0" rtlCol="0" anchor="ctr"/>
          <a:lstStyle/>
          <a:p>
            <a:pPr indent="0" marL="0">
              <a:buNone/>
            </a:pPr>
            <a:r>
              <a:rPr lang="en-US" sz="1150" dirty="0">
                <a:solidFill>
                  <a:srgbClr val="E8E4DA"/>
                </a:solidFill>
                <a:latin typeface="Arial" pitchFamily="34" charset="0"/>
                <a:ea typeface="Arial" pitchFamily="34" charset="-122"/>
                <a:cs typeface="Arial" pitchFamily="34" charset="-120"/>
              </a:rPr>
              <a:t>She learns to recognise a left topic within ten seconds and move on. The time saved goes to questions inside her band.</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TECHNIQUE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Marks that do not require new content</a:t>
            </a:r>
            <a:endParaRPr lang="en-US" sz="3300" dirty="0"/>
          </a:p>
        </p:txBody>
      </p:sp>
      <p:sp>
        <p:nvSpPr>
          <p:cNvPr id="4" name="Text 2"/>
          <p:cNvSpPr txBox="1"/>
          <p:nvPr/>
        </p:nvSpPr>
        <p:spPr>
          <a:xfrm>
            <a:off x="685800" y="1481328"/>
            <a:ext cx="10424160" cy="310896"/>
          </a:xfrm>
          <a:prstGeom prst="rect">
            <a:avLst/>
          </a:prstGeom>
          <a:noFill/>
          <a:ln/>
        </p:spPr>
        <p:txBody>
          <a:bodyPr wrap="square" lIns="0" tIns="0" rIns="0" bIns="0" rtlCol="0" anchor="ctr"/>
          <a:lstStyle/>
          <a:p>
            <a:pPr indent="0" marL="0">
              <a:buNone/>
            </a:pPr>
            <a:r>
              <a:rPr lang="en-US" sz="1250" dirty="0">
                <a:solidFill>
                  <a:srgbClr val="5D6471"/>
                </a:solidFill>
                <a:latin typeface="Arial" pitchFamily="34" charset="0"/>
                <a:ea typeface="Arial" pitchFamily="34" charset="-122"/>
                <a:cs typeface="Arial" pitchFamily="34" charset="-120"/>
              </a:rPr>
              <a:t>Four habits, taught in week one and applied to every timed piece of work after it. On past papers these are worth more to a student at this level than any single topic on the teach list.</a:t>
            </a:r>
            <a:endParaRPr lang="en-US" sz="1250" dirty="0"/>
          </a:p>
        </p:txBody>
      </p:sp>
      <p:sp>
        <p:nvSpPr>
          <p:cNvPr id="5" name="Shape 3"/>
          <p:cNvSpPr/>
          <p:nvPr/>
        </p:nvSpPr>
        <p:spPr>
          <a:xfrm>
            <a:off x="685800" y="1965960"/>
            <a:ext cx="2587752" cy="3246120"/>
          </a:xfrm>
          <a:prstGeom prst="roundRect">
            <a:avLst>
              <a:gd name="adj" fmla="val 1413"/>
            </a:avLst>
          </a:prstGeom>
          <a:solidFill>
            <a:srgbClr val="162947"/>
          </a:solidFill>
          <a:ln/>
        </p:spPr>
      </p:sp>
      <p:sp>
        <p:nvSpPr>
          <p:cNvPr id="6" name="Text 4"/>
          <p:cNvSpPr txBox="1"/>
          <p:nvPr/>
        </p:nvSpPr>
        <p:spPr>
          <a:xfrm>
            <a:off x="9418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01</a:t>
            </a:r>
            <a:endParaRPr lang="en-US" sz="2800" dirty="0"/>
          </a:p>
        </p:txBody>
      </p:sp>
      <p:sp>
        <p:nvSpPr>
          <p:cNvPr id="7" name="Text 5"/>
          <p:cNvSpPr txBox="1"/>
          <p:nvPr/>
        </p:nvSpPr>
        <p:spPr>
          <a:xfrm>
            <a:off x="941832" y="2670048"/>
            <a:ext cx="2103120" cy="310896"/>
          </a:xfrm>
          <a:prstGeom prst="rect">
            <a:avLst/>
          </a:prstGeom>
          <a:noFill/>
          <a:ln/>
        </p:spPr>
        <p:txBody>
          <a:bodyPr wrap="square" lIns="0" tIns="0" rIns="0" bIns="0" rtlCol="0" anchor="ctr"/>
          <a:lstStyle/>
          <a:p>
            <a:pPr indent="0" marL="0">
              <a:buNone/>
            </a:pPr>
            <a:r>
              <a:rPr lang="en-US" sz="1800" dirty="0">
                <a:solidFill>
                  <a:srgbClr val="F6F4EF"/>
                </a:solidFill>
                <a:latin typeface="Cambria" pitchFamily="34" charset="0"/>
                <a:ea typeface="Cambria" pitchFamily="34" charset="-122"/>
                <a:cs typeface="Cambria" pitchFamily="34" charset="-120"/>
              </a:rPr>
              <a:t>Method marks</a:t>
            </a:r>
            <a:endParaRPr lang="en-US" sz="1800" dirty="0"/>
          </a:p>
        </p:txBody>
      </p:sp>
      <p:sp>
        <p:nvSpPr>
          <p:cNvPr id="8" name="Text 6"/>
          <p:cNvSpPr txBox="1"/>
          <p:nvPr/>
        </p:nvSpPr>
        <p:spPr>
          <a:xfrm>
            <a:off x="941832" y="3090672"/>
            <a:ext cx="2103120" cy="196596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Working earns marks on this paper even when the final answer is wrong. Every question gets a substitution line and visible steps. No jumping straight to an answer, and nothing rubbed out.</a:t>
            </a:r>
            <a:endParaRPr lang="en-US" sz="1100" dirty="0"/>
          </a:p>
        </p:txBody>
      </p:sp>
      <p:sp>
        <p:nvSpPr>
          <p:cNvPr id="9" name="Shape 7"/>
          <p:cNvSpPr/>
          <p:nvPr/>
        </p:nvSpPr>
        <p:spPr>
          <a:xfrm>
            <a:off x="3429000" y="1965960"/>
            <a:ext cx="2587752" cy="3246120"/>
          </a:xfrm>
          <a:prstGeom prst="roundRect">
            <a:avLst>
              <a:gd name="adj" fmla="val 1413"/>
            </a:avLst>
          </a:prstGeom>
          <a:solidFill>
            <a:srgbClr val="FFFFFF"/>
          </a:solidFill>
          <a:ln w="9525">
            <a:solidFill>
              <a:srgbClr val="E3DFD5"/>
            </a:solidFill>
            <a:prstDash val="solid"/>
          </a:ln>
        </p:spPr>
      </p:sp>
      <p:sp>
        <p:nvSpPr>
          <p:cNvPr id="10" name="Text 8"/>
          <p:cNvSpPr txBox="1"/>
          <p:nvPr/>
        </p:nvSpPr>
        <p:spPr>
          <a:xfrm>
            <a:off x="36850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02</a:t>
            </a:r>
            <a:endParaRPr lang="en-US" sz="2800" dirty="0"/>
          </a:p>
        </p:txBody>
      </p:sp>
      <p:sp>
        <p:nvSpPr>
          <p:cNvPr id="11" name="Text 9"/>
          <p:cNvSpPr txBox="1"/>
          <p:nvPr/>
        </p:nvSpPr>
        <p:spPr>
          <a:xfrm>
            <a:off x="3685032" y="2670048"/>
            <a:ext cx="2103120" cy="310896"/>
          </a:xfrm>
          <a:prstGeom prst="rect">
            <a:avLst/>
          </a:prstGeom>
          <a:noFill/>
          <a:ln/>
        </p:spPr>
        <p:txBody>
          <a:bodyPr wrap="square" lIns="0" tIns="0" rIns="0" bIns="0" rtlCol="0" anchor="ctr"/>
          <a:lstStyle/>
          <a:p>
            <a:pPr indent="0" marL="0">
              <a:buNone/>
            </a:pPr>
            <a:r>
              <a:rPr lang="en-US" sz="1800" dirty="0">
                <a:solidFill>
                  <a:srgbClr val="162947"/>
                </a:solidFill>
                <a:latin typeface="Cambria" pitchFamily="34" charset="0"/>
                <a:ea typeface="Cambria" pitchFamily="34" charset="-122"/>
                <a:cs typeface="Cambria" pitchFamily="34" charset="-120"/>
              </a:rPr>
              <a:t>Nothing blank</a:t>
            </a:r>
            <a:endParaRPr lang="en-US" sz="1800" dirty="0"/>
          </a:p>
        </p:txBody>
      </p:sp>
      <p:sp>
        <p:nvSpPr>
          <p:cNvPr id="12" name="Text 10"/>
          <p:cNvSpPr txBox="1"/>
          <p:nvPr/>
        </p:nvSpPr>
        <p:spPr>
          <a:xfrm>
            <a:off x="3685032" y="3090672"/>
            <a:ext cx="2103120" cy="196596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A first step that is correct scores. A blank scores nothing. Every question gets at least one written line, including the questions we have chosen to leave.</a:t>
            </a:r>
            <a:endParaRPr lang="en-US" sz="1100" dirty="0"/>
          </a:p>
        </p:txBody>
      </p:sp>
      <p:sp>
        <p:nvSpPr>
          <p:cNvPr id="13" name="Shape 11"/>
          <p:cNvSpPr/>
          <p:nvPr/>
        </p:nvSpPr>
        <p:spPr>
          <a:xfrm>
            <a:off x="6172200" y="1965960"/>
            <a:ext cx="2587752" cy="3246120"/>
          </a:xfrm>
          <a:prstGeom prst="roundRect">
            <a:avLst>
              <a:gd name="adj" fmla="val 1413"/>
            </a:avLst>
          </a:prstGeom>
          <a:solidFill>
            <a:srgbClr val="162947"/>
          </a:solidFill>
          <a:ln/>
        </p:spPr>
      </p:sp>
      <p:sp>
        <p:nvSpPr>
          <p:cNvPr id="14" name="Text 12"/>
          <p:cNvSpPr txBox="1"/>
          <p:nvPr/>
        </p:nvSpPr>
        <p:spPr>
          <a:xfrm>
            <a:off x="64282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03</a:t>
            </a:r>
            <a:endParaRPr lang="en-US" sz="2800" dirty="0"/>
          </a:p>
        </p:txBody>
      </p:sp>
      <p:sp>
        <p:nvSpPr>
          <p:cNvPr id="15" name="Text 13"/>
          <p:cNvSpPr txBox="1"/>
          <p:nvPr/>
        </p:nvSpPr>
        <p:spPr>
          <a:xfrm>
            <a:off x="6428232" y="2670048"/>
            <a:ext cx="2103120" cy="310896"/>
          </a:xfrm>
          <a:prstGeom prst="rect">
            <a:avLst/>
          </a:prstGeom>
          <a:noFill/>
          <a:ln/>
        </p:spPr>
        <p:txBody>
          <a:bodyPr wrap="square" lIns="0" tIns="0" rIns="0" bIns="0" rtlCol="0" anchor="ctr"/>
          <a:lstStyle/>
          <a:p>
            <a:pPr indent="0" marL="0">
              <a:buNone/>
            </a:pPr>
            <a:r>
              <a:rPr lang="en-US" sz="1800" dirty="0">
                <a:solidFill>
                  <a:srgbClr val="F6F4EF"/>
                </a:solidFill>
                <a:latin typeface="Cambria" pitchFamily="34" charset="0"/>
                <a:ea typeface="Cambria" pitchFamily="34" charset="-122"/>
                <a:cs typeface="Cambria" pitchFamily="34" charset="-120"/>
              </a:rPr>
              <a:t>Two passes</a:t>
            </a:r>
            <a:endParaRPr lang="en-US" sz="1800" dirty="0"/>
          </a:p>
        </p:txBody>
      </p:sp>
      <p:sp>
        <p:nvSpPr>
          <p:cNvPr id="16" name="Text 14"/>
          <p:cNvSpPr txBox="1"/>
          <p:nvPr/>
        </p:nvSpPr>
        <p:spPr>
          <a:xfrm>
            <a:off x="6428232" y="3090672"/>
            <a:ext cx="2103120" cy="196596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Pass one takes everything she can start within twenty seconds. Pass two returns to what she flagged. Practised on every timed section from week 3, not introduced on the day.</a:t>
            </a:r>
            <a:endParaRPr lang="en-US" sz="1100" dirty="0"/>
          </a:p>
        </p:txBody>
      </p:sp>
      <p:sp>
        <p:nvSpPr>
          <p:cNvPr id="17" name="Shape 15"/>
          <p:cNvSpPr/>
          <p:nvPr/>
        </p:nvSpPr>
        <p:spPr>
          <a:xfrm>
            <a:off x="8915400" y="1965960"/>
            <a:ext cx="2587752" cy="3246120"/>
          </a:xfrm>
          <a:prstGeom prst="roundRect">
            <a:avLst>
              <a:gd name="adj" fmla="val 1413"/>
            </a:avLst>
          </a:prstGeom>
          <a:solidFill>
            <a:srgbClr val="FFFFFF"/>
          </a:solidFill>
          <a:ln w="9525">
            <a:solidFill>
              <a:srgbClr val="E3DFD5"/>
            </a:solidFill>
            <a:prstDash val="solid"/>
          </a:ln>
        </p:spPr>
      </p:sp>
      <p:sp>
        <p:nvSpPr>
          <p:cNvPr id="18" name="Text 16"/>
          <p:cNvSpPr txBox="1"/>
          <p:nvPr/>
        </p:nvSpPr>
        <p:spPr>
          <a:xfrm>
            <a:off x="91714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04</a:t>
            </a:r>
            <a:endParaRPr lang="en-US" sz="2800" dirty="0"/>
          </a:p>
        </p:txBody>
      </p:sp>
      <p:sp>
        <p:nvSpPr>
          <p:cNvPr id="19" name="Text 17"/>
          <p:cNvSpPr txBox="1"/>
          <p:nvPr/>
        </p:nvSpPr>
        <p:spPr>
          <a:xfrm>
            <a:off x="9171432" y="2670048"/>
            <a:ext cx="2103120" cy="310896"/>
          </a:xfrm>
          <a:prstGeom prst="rect">
            <a:avLst/>
          </a:prstGeom>
          <a:noFill/>
          <a:ln/>
        </p:spPr>
        <p:txBody>
          <a:bodyPr wrap="square" lIns="0" tIns="0" rIns="0" bIns="0" rtlCol="0" anchor="ctr"/>
          <a:lstStyle/>
          <a:p>
            <a:pPr indent="0" marL="0">
              <a:buNone/>
            </a:pPr>
            <a:r>
              <a:rPr lang="en-US" sz="1800" dirty="0">
                <a:solidFill>
                  <a:srgbClr val="162947"/>
                </a:solidFill>
                <a:latin typeface="Cambria" pitchFamily="34" charset="0"/>
                <a:ea typeface="Cambria" pitchFamily="34" charset="-122"/>
                <a:cs typeface="Cambria" pitchFamily="34" charset="-120"/>
              </a:rPr>
              <a:t>The last line</a:t>
            </a:r>
            <a:endParaRPr lang="en-US" sz="1800" dirty="0"/>
          </a:p>
        </p:txBody>
      </p:sp>
      <p:sp>
        <p:nvSpPr>
          <p:cNvPr id="20" name="Text 18"/>
          <p:cNvSpPr txBox="1"/>
          <p:nvPr/>
        </p:nvSpPr>
        <p:spPr>
          <a:xfrm>
            <a:off x="9171432" y="3090672"/>
            <a:ext cx="2103120" cy="196596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Marks are lost at the end of correct work. Answers are checked for units, for degrees, and for the rounding the question actually asked for.</a:t>
            </a:r>
            <a:endParaRPr lang="en-US" sz="1100" dirty="0"/>
          </a:p>
        </p:txBody>
      </p:sp>
      <p:sp>
        <p:nvSpPr>
          <p:cNvPr id="21" name="Shape 19"/>
          <p:cNvSpPr/>
          <p:nvPr/>
        </p:nvSpPr>
        <p:spPr>
          <a:xfrm>
            <a:off x="685800" y="5440680"/>
            <a:ext cx="10817352" cy="713232"/>
          </a:xfrm>
          <a:prstGeom prst="roundRect">
            <a:avLst>
              <a:gd name="adj" fmla="val 5128"/>
            </a:avLst>
          </a:prstGeom>
          <a:solidFill>
            <a:srgbClr val="EFEBE1"/>
          </a:solidFill>
          <a:ln/>
        </p:spPr>
      </p:sp>
      <p:sp>
        <p:nvSpPr>
          <p:cNvPr id="22" name="Text 20"/>
          <p:cNvSpPr txBox="1"/>
          <p:nvPr/>
        </p:nvSpPr>
        <p:spPr>
          <a:xfrm>
            <a:off x="1005840" y="5440680"/>
            <a:ext cx="10149840" cy="713232"/>
          </a:xfrm>
          <a:prstGeom prst="rect">
            <a:avLst/>
          </a:prstGeom>
          <a:noFill/>
          <a:ln/>
        </p:spPr>
        <p:txBody>
          <a:bodyPr wrap="square" lIns="0" tIns="0" rIns="0" bIns="0" rtlCol="0" anchor="ctr"/>
          <a:lstStyle/>
          <a:p>
            <a:pPr indent="0" marL="0">
              <a:lnSpc>
                <a:spcPts val="1600"/>
              </a:lnSpc>
              <a:buNone/>
            </a:pPr>
            <a:r>
              <a:rPr lang="en-US" sz="1150" dirty="0">
                <a:solidFill>
                  <a:srgbClr val="162947"/>
                </a:solidFill>
                <a:latin typeface="Arial" pitchFamily="34" charset="0"/>
                <a:ea typeface="Arial" pitchFamily="34" charset="-122"/>
                <a:cs typeface="Arial" pitchFamily="34" charset="-120"/>
              </a:rPr>
              <a:t>Measured the same way as the content: every marked piece of work records marks lost to blanks, to missing working, and to the final line. Those three numbers are reviewed in week 3 and week 5.</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BETWEEN SESSIONS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Twenty minutes a day, six days a week</a:t>
            </a:r>
            <a:endParaRPr lang="en-US" sz="3300" dirty="0"/>
          </a:p>
        </p:txBody>
      </p:sp>
      <p:sp>
        <p:nvSpPr>
          <p:cNvPr id="4" name="Text 2"/>
          <p:cNvSpPr txBox="1"/>
          <p:nvPr/>
        </p:nvSpPr>
        <p:spPr>
          <a:xfrm>
            <a:off x="685800" y="1481328"/>
            <a:ext cx="10424160" cy="310896"/>
          </a:xfrm>
          <a:prstGeom prst="rect">
            <a:avLst/>
          </a:prstGeom>
          <a:noFill/>
          <a:ln/>
        </p:spPr>
        <p:txBody>
          <a:bodyPr wrap="square" lIns="0" tIns="0" rIns="0" bIns="0" rtlCol="0" anchor="ctr"/>
          <a:lstStyle/>
          <a:p>
            <a:pPr indent="0" marL="0">
              <a:buNone/>
            </a:pPr>
            <a:r>
              <a:rPr lang="en-US" sz="1250" dirty="0">
                <a:solidFill>
                  <a:srgbClr val="5D6471"/>
                </a:solidFill>
                <a:latin typeface="Arial" pitchFamily="34" charset="0"/>
                <a:ea typeface="Arial" pitchFamily="34" charset="-122"/>
                <a:cs typeface="Arial" pitchFamily="34" charset="-120"/>
              </a:rPr>
              <a:t>Six days a week for six weeks is about twelve hours, which is close to the total lesson time. Retention comes from spacing the work out, so a long session at the weekend does not replace it.</a:t>
            </a:r>
            <a:endParaRPr lang="en-US" sz="1250" dirty="0"/>
          </a:p>
        </p:txBody>
      </p:sp>
      <p:sp>
        <p:nvSpPr>
          <p:cNvPr id="5" name="Shape 3"/>
          <p:cNvSpPr/>
          <p:nvPr/>
        </p:nvSpPr>
        <p:spPr>
          <a:xfrm>
            <a:off x="685800" y="1965960"/>
            <a:ext cx="3502152" cy="1783080"/>
          </a:xfrm>
          <a:prstGeom prst="roundRect">
            <a:avLst>
              <a:gd name="adj" fmla="val 2051"/>
            </a:avLst>
          </a:prstGeom>
          <a:solidFill>
            <a:srgbClr val="FFFFFF"/>
          </a:solidFill>
          <a:ln w="9525">
            <a:solidFill>
              <a:srgbClr val="E3DFD5"/>
            </a:solidFill>
            <a:prstDash val="solid"/>
          </a:ln>
        </p:spPr>
      </p:sp>
      <p:sp>
        <p:nvSpPr>
          <p:cNvPr id="6" name="Text 4"/>
          <p:cNvSpPr txBox="1"/>
          <p:nvPr/>
        </p:nvSpPr>
        <p:spPr>
          <a:xfrm>
            <a:off x="960120" y="214884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5 min</a:t>
            </a:r>
            <a:endParaRPr lang="en-US" sz="2200" dirty="0"/>
          </a:p>
        </p:txBody>
      </p:sp>
      <p:sp>
        <p:nvSpPr>
          <p:cNvPr id="7" name="Text 5"/>
          <p:cNvSpPr txBox="1"/>
          <p:nvPr/>
        </p:nvSpPr>
        <p:spPr>
          <a:xfrm>
            <a:off x="2103120" y="221284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Method drill</a:t>
            </a:r>
            <a:endParaRPr lang="en-US" sz="1250" dirty="0"/>
          </a:p>
        </p:txBody>
      </p:sp>
      <p:sp>
        <p:nvSpPr>
          <p:cNvPr id="8" name="Text 6"/>
          <p:cNvSpPr txBox="1"/>
          <p:nvPr/>
        </p:nvSpPr>
        <p:spPr>
          <a:xfrm>
            <a:off x="960120" y="259689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Twenty reps of this week's target skill, written out in full. Timed, and the score is recorded.</a:t>
            </a:r>
            <a:endParaRPr lang="en-US" sz="1050" dirty="0"/>
          </a:p>
        </p:txBody>
      </p:sp>
      <p:sp>
        <p:nvSpPr>
          <p:cNvPr id="9" name="Shape 7"/>
          <p:cNvSpPr/>
          <p:nvPr/>
        </p:nvSpPr>
        <p:spPr>
          <a:xfrm>
            <a:off x="4343400" y="1965960"/>
            <a:ext cx="3502152" cy="1783080"/>
          </a:xfrm>
          <a:prstGeom prst="roundRect">
            <a:avLst>
              <a:gd name="adj" fmla="val 2051"/>
            </a:avLst>
          </a:prstGeom>
          <a:solidFill>
            <a:srgbClr val="FFFFFF"/>
          </a:solidFill>
          <a:ln w="9525">
            <a:solidFill>
              <a:srgbClr val="E3DFD5"/>
            </a:solidFill>
            <a:prstDash val="solid"/>
          </a:ln>
        </p:spPr>
      </p:sp>
      <p:sp>
        <p:nvSpPr>
          <p:cNvPr id="10" name="Text 8"/>
          <p:cNvSpPr txBox="1"/>
          <p:nvPr/>
        </p:nvSpPr>
        <p:spPr>
          <a:xfrm>
            <a:off x="4617720" y="214884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10 min</a:t>
            </a:r>
            <a:endParaRPr lang="en-US" sz="2200" dirty="0"/>
          </a:p>
        </p:txBody>
      </p:sp>
      <p:sp>
        <p:nvSpPr>
          <p:cNvPr id="11" name="Text 9"/>
          <p:cNvSpPr txBox="1"/>
          <p:nvPr/>
        </p:nvSpPr>
        <p:spPr>
          <a:xfrm>
            <a:off x="5760720" y="221284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Mixed retrieval</a:t>
            </a:r>
            <a:endParaRPr lang="en-US" sz="1250" dirty="0"/>
          </a:p>
        </p:txBody>
      </p:sp>
      <p:sp>
        <p:nvSpPr>
          <p:cNvPr id="12" name="Text 10"/>
          <p:cNvSpPr txBox="1"/>
          <p:nvPr/>
        </p:nvSpPr>
        <p:spPr>
          <a:xfrm>
            <a:off x="4617720" y="259689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Six questions from topics already taught, deliberately not grouped by topic, so she has to identify the method first.</a:t>
            </a:r>
            <a:endParaRPr lang="en-US" sz="1050" dirty="0"/>
          </a:p>
        </p:txBody>
      </p:sp>
      <p:sp>
        <p:nvSpPr>
          <p:cNvPr id="13" name="Shape 11"/>
          <p:cNvSpPr/>
          <p:nvPr/>
        </p:nvSpPr>
        <p:spPr>
          <a:xfrm>
            <a:off x="8001000" y="1965960"/>
            <a:ext cx="3502152" cy="1783080"/>
          </a:xfrm>
          <a:prstGeom prst="roundRect">
            <a:avLst>
              <a:gd name="adj" fmla="val 2051"/>
            </a:avLst>
          </a:prstGeom>
          <a:solidFill>
            <a:srgbClr val="FFFFFF"/>
          </a:solidFill>
          <a:ln w="9525">
            <a:solidFill>
              <a:srgbClr val="E3DFD5"/>
            </a:solidFill>
            <a:prstDash val="solid"/>
          </a:ln>
        </p:spPr>
      </p:sp>
      <p:sp>
        <p:nvSpPr>
          <p:cNvPr id="14" name="Text 12"/>
          <p:cNvSpPr txBox="1"/>
          <p:nvPr/>
        </p:nvSpPr>
        <p:spPr>
          <a:xfrm>
            <a:off x="8275320" y="214884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5 min</a:t>
            </a:r>
            <a:endParaRPr lang="en-US" sz="2200" dirty="0"/>
          </a:p>
        </p:txBody>
      </p:sp>
      <p:sp>
        <p:nvSpPr>
          <p:cNvPr id="15" name="Text 13"/>
          <p:cNvSpPr txBox="1"/>
          <p:nvPr/>
        </p:nvSpPr>
        <p:spPr>
          <a:xfrm>
            <a:off x="9418320" y="221284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Error log</a:t>
            </a:r>
            <a:endParaRPr lang="en-US" sz="1250" dirty="0"/>
          </a:p>
        </p:txBody>
      </p:sp>
      <p:sp>
        <p:nvSpPr>
          <p:cNvPr id="16" name="Text 14"/>
          <p:cNvSpPr txBox="1"/>
          <p:nvPr/>
        </p:nvSpPr>
        <p:spPr>
          <a:xfrm>
            <a:off x="8275320" y="259689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Read it, then redo two past errors without looking at the correction.</a:t>
            </a:r>
            <a:endParaRPr lang="en-US" sz="1050" dirty="0"/>
          </a:p>
        </p:txBody>
      </p:sp>
      <p:sp>
        <p:nvSpPr>
          <p:cNvPr id="17" name="Shape 15"/>
          <p:cNvSpPr/>
          <p:nvPr/>
        </p:nvSpPr>
        <p:spPr>
          <a:xfrm>
            <a:off x="685800" y="4069080"/>
            <a:ext cx="347472" cy="347472"/>
          </a:xfrm>
          <a:prstGeom prst="ellipse">
            <a:avLst/>
          </a:prstGeom>
          <a:solidFill>
            <a:srgbClr val="162947"/>
          </a:solidFill>
          <a:ln/>
        </p:spPr>
      </p:sp>
      <p:sp>
        <p:nvSpPr>
          <p:cNvPr id="18" name="Text 16"/>
          <p:cNvSpPr txBox="1"/>
          <p:nvPr/>
        </p:nvSpPr>
        <p:spPr>
          <a:xfrm>
            <a:off x="685800" y="4069080"/>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19" name="Text 17"/>
          <p:cNvSpPr txBox="1"/>
          <p:nvPr/>
        </p:nvSpPr>
        <p:spPr>
          <a:xfrm>
            <a:off x="685800" y="4498848"/>
            <a:ext cx="2011680" cy="512064"/>
          </a:xfrm>
          <a:prstGeom prst="rect">
            <a:avLst/>
          </a:prstGeom>
          <a:noFill/>
          <a:ln/>
        </p:spPr>
        <p:txBody>
          <a:bodyPr wrap="square" lIns="0" tIns="0" rIns="0" bIns="0" rtlCol="0" anchor="ctr"/>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No new learning at home</a:t>
            </a:r>
            <a:endParaRPr lang="en-US" sz="1100" dirty="0"/>
          </a:p>
        </p:txBody>
      </p:sp>
      <p:sp>
        <p:nvSpPr>
          <p:cNvPr id="20" name="Shape 18"/>
          <p:cNvSpPr/>
          <p:nvPr/>
        </p:nvSpPr>
        <p:spPr>
          <a:xfrm>
            <a:off x="2880360" y="4069080"/>
            <a:ext cx="347472" cy="347472"/>
          </a:xfrm>
          <a:prstGeom prst="ellipse">
            <a:avLst/>
          </a:prstGeom>
          <a:solidFill>
            <a:srgbClr val="162947"/>
          </a:solidFill>
          <a:ln/>
        </p:spPr>
      </p:sp>
      <p:sp>
        <p:nvSpPr>
          <p:cNvPr id="21" name="Text 19"/>
          <p:cNvSpPr txBox="1"/>
          <p:nvPr/>
        </p:nvSpPr>
        <p:spPr>
          <a:xfrm>
            <a:off x="2880360" y="4069080"/>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22" name="Text 20"/>
          <p:cNvSpPr txBox="1"/>
          <p:nvPr/>
        </p:nvSpPr>
        <p:spPr>
          <a:xfrm>
            <a:off x="2880360" y="4498848"/>
            <a:ext cx="2011680" cy="512064"/>
          </a:xfrm>
          <a:prstGeom prst="rect">
            <a:avLst/>
          </a:prstGeom>
          <a:noFill/>
          <a:ln/>
        </p:spPr>
        <p:txBody>
          <a:bodyPr wrap="square" lIns="0" tIns="0" rIns="0" bIns="0" rtlCol="0" anchor="ctr"/>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She marks her own work</a:t>
            </a:r>
            <a:endParaRPr lang="en-US" sz="1100" dirty="0"/>
          </a:p>
        </p:txBody>
      </p:sp>
      <p:sp>
        <p:nvSpPr>
          <p:cNvPr id="23" name="Shape 21"/>
          <p:cNvSpPr/>
          <p:nvPr/>
        </p:nvSpPr>
        <p:spPr>
          <a:xfrm>
            <a:off x="5074920" y="4069080"/>
            <a:ext cx="347472" cy="347472"/>
          </a:xfrm>
          <a:prstGeom prst="ellipse">
            <a:avLst/>
          </a:prstGeom>
          <a:solidFill>
            <a:srgbClr val="162947"/>
          </a:solidFill>
          <a:ln/>
        </p:spPr>
      </p:sp>
      <p:sp>
        <p:nvSpPr>
          <p:cNvPr id="24" name="Text 22"/>
          <p:cNvSpPr txBox="1"/>
          <p:nvPr/>
        </p:nvSpPr>
        <p:spPr>
          <a:xfrm>
            <a:off x="5074920" y="4069080"/>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25" name="Text 23"/>
          <p:cNvSpPr txBox="1"/>
          <p:nvPr/>
        </p:nvSpPr>
        <p:spPr>
          <a:xfrm>
            <a:off x="5074920" y="4498848"/>
            <a:ext cx="2011680" cy="512064"/>
          </a:xfrm>
          <a:prstGeom prst="rect">
            <a:avLst/>
          </a:prstGeom>
          <a:noFill/>
          <a:ln/>
        </p:spPr>
        <p:txBody>
          <a:bodyPr wrap="square" lIns="0" tIns="0" rIns="0" bIns="0" rtlCol="0" anchor="ctr"/>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Same time every day</a:t>
            </a:r>
            <a:endParaRPr lang="en-US" sz="1100" dirty="0"/>
          </a:p>
        </p:txBody>
      </p:sp>
      <p:sp>
        <p:nvSpPr>
          <p:cNvPr id="26" name="Shape 24"/>
          <p:cNvSpPr/>
          <p:nvPr/>
        </p:nvSpPr>
        <p:spPr>
          <a:xfrm>
            <a:off x="7269480" y="4069080"/>
            <a:ext cx="347472" cy="347472"/>
          </a:xfrm>
          <a:prstGeom prst="ellipse">
            <a:avLst/>
          </a:prstGeom>
          <a:solidFill>
            <a:srgbClr val="162947"/>
          </a:solidFill>
          <a:ln/>
        </p:spPr>
      </p:sp>
      <p:sp>
        <p:nvSpPr>
          <p:cNvPr id="27" name="Text 25"/>
          <p:cNvSpPr txBox="1"/>
          <p:nvPr/>
        </p:nvSpPr>
        <p:spPr>
          <a:xfrm>
            <a:off x="7269480" y="4069080"/>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28" name="Text 26"/>
          <p:cNvSpPr txBox="1"/>
          <p:nvPr/>
        </p:nvSpPr>
        <p:spPr>
          <a:xfrm>
            <a:off x="7269480" y="4498848"/>
            <a:ext cx="2011680" cy="512064"/>
          </a:xfrm>
          <a:prstGeom prst="rect">
            <a:avLst/>
          </a:prstGeom>
          <a:noFill/>
          <a:ln/>
        </p:spPr>
        <p:txBody>
          <a:bodyPr wrap="square" lIns="0" tIns="0" rIns="0" bIns="0" rtlCol="0" anchor="ctr"/>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Sunday is five minutes, error log only</a:t>
            </a:r>
            <a:endParaRPr lang="en-US" sz="1100" dirty="0"/>
          </a:p>
        </p:txBody>
      </p:sp>
      <p:sp>
        <p:nvSpPr>
          <p:cNvPr id="29" name="Shape 27"/>
          <p:cNvSpPr/>
          <p:nvPr/>
        </p:nvSpPr>
        <p:spPr>
          <a:xfrm>
            <a:off x="9464040" y="4069080"/>
            <a:ext cx="347472" cy="347472"/>
          </a:xfrm>
          <a:prstGeom prst="ellipse">
            <a:avLst/>
          </a:prstGeom>
          <a:solidFill>
            <a:srgbClr val="162947"/>
          </a:solidFill>
          <a:ln/>
        </p:spPr>
      </p:sp>
      <p:sp>
        <p:nvSpPr>
          <p:cNvPr id="30" name="Text 28"/>
          <p:cNvSpPr txBox="1"/>
          <p:nvPr/>
        </p:nvSpPr>
        <p:spPr>
          <a:xfrm>
            <a:off x="9464040" y="4069080"/>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31" name="Text 29"/>
          <p:cNvSpPr txBox="1"/>
          <p:nvPr/>
        </p:nvSpPr>
        <p:spPr>
          <a:xfrm>
            <a:off x="9464040" y="4498848"/>
            <a:ext cx="2011680" cy="512064"/>
          </a:xfrm>
          <a:prstGeom prst="rect">
            <a:avLst/>
          </a:prstGeom>
          <a:noFill/>
          <a:ln/>
        </p:spPr>
        <p:txBody>
          <a:bodyPr wrap="square" lIns="0" tIns="0" rIns="0" bIns="0" rtlCol="0" anchor="ctr"/>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Photo of the marked sheet by 8pm</a:t>
            </a:r>
            <a:endParaRPr lang="en-US" sz="1100" dirty="0"/>
          </a:p>
        </p:txBody>
      </p:sp>
      <p:sp>
        <p:nvSpPr>
          <p:cNvPr id="32" name="Shape 30"/>
          <p:cNvSpPr/>
          <p:nvPr/>
        </p:nvSpPr>
        <p:spPr>
          <a:xfrm>
            <a:off x="685800" y="5212080"/>
            <a:ext cx="10817352" cy="914400"/>
          </a:xfrm>
          <a:prstGeom prst="roundRect">
            <a:avLst>
              <a:gd name="adj" fmla="val 4000"/>
            </a:avLst>
          </a:prstGeom>
          <a:solidFill>
            <a:srgbClr val="162947"/>
          </a:solidFill>
          <a:ln/>
        </p:spPr>
      </p:sp>
      <p:sp>
        <p:nvSpPr>
          <p:cNvPr id="33" name="Text 31"/>
          <p:cNvSpPr txBox="1"/>
          <p:nvPr/>
        </p:nvSpPr>
        <p:spPr>
          <a:xfrm>
            <a:off x="1005840" y="5376672"/>
            <a:ext cx="10149840" cy="256032"/>
          </a:xfrm>
          <a:prstGeom prst="rect">
            <a:avLst/>
          </a:prstGeom>
          <a:noFill/>
          <a:ln/>
        </p:spPr>
        <p:txBody>
          <a:bodyPr wrap="square" lIns="0" tIns="0" rIns="0" bIns="0" rtlCol="0" anchor="ctr"/>
          <a:lstStyle/>
          <a:p>
            <a:pPr indent="0" marL="0">
              <a:buNone/>
            </a:pPr>
            <a:r>
              <a:rPr lang="en-US" sz="1250" b="1" dirty="0">
                <a:solidFill>
                  <a:srgbClr val="C3A965"/>
                </a:solidFill>
                <a:latin typeface="Arial" pitchFamily="34" charset="0"/>
                <a:ea typeface="Arial" pitchFamily="34" charset="-122"/>
                <a:cs typeface="Arial" pitchFamily="34" charset="-120"/>
              </a:rPr>
              <a:t>If the daily work is not happening by the end of week 2, that is the problem we solve before we teach anything else.</a:t>
            </a:r>
            <a:endParaRPr lang="en-US" sz="1250" dirty="0"/>
          </a:p>
        </p:txBody>
      </p:sp>
      <p:sp>
        <p:nvSpPr>
          <p:cNvPr id="34" name="Text 32"/>
          <p:cNvSpPr txBox="1"/>
          <p:nvPr/>
        </p:nvSpPr>
        <p:spPr>
          <a:xfrm>
            <a:off x="1005840" y="5669280"/>
            <a:ext cx="10149840" cy="310896"/>
          </a:xfrm>
          <a:prstGeom prst="rect">
            <a:avLst/>
          </a:prstGeom>
          <a:noFill/>
          <a:ln/>
        </p:spPr>
        <p:txBody>
          <a:bodyPr wrap="square" lIns="0" tIns="0" rIns="0" bIns="0" rtlCol="0" anchor="ctr"/>
          <a:lstStyle/>
          <a:p>
            <a:pPr indent="0" marL="0">
              <a:buNone/>
            </a:pPr>
            <a:r>
              <a:rPr lang="en-US" sz="1100" dirty="0">
                <a:solidFill>
                  <a:srgbClr val="A8B2C2"/>
                </a:solidFill>
                <a:latin typeface="Arial" pitchFamily="34" charset="0"/>
                <a:ea typeface="Arial" pitchFamily="34" charset="-122"/>
                <a:cs typeface="Arial" pitchFamily="34" charset="-120"/>
              </a:rPr>
              <a:t>A plan that assumes twelve hours of home practice and gets three is a different plan. We would drop the week 5 shape content to three topics and put the time into the number and algebra weeks instead.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PROGRESS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Two numbers, and what we do about them</a:t>
            </a:r>
            <a:endParaRPr lang="en-US" sz="3300" dirty="0"/>
          </a:p>
        </p:txBody>
      </p:sp>
      <p:sp>
        <p:nvSpPr>
          <p:cNvPr id="4" name="Text 2"/>
          <p:cNvSpPr txBox="1"/>
          <p:nvPr/>
        </p:nvSpPr>
        <p:spPr>
          <a:xfrm>
            <a:off x="685800" y="1481328"/>
            <a:ext cx="10424160" cy="274320"/>
          </a:xfrm>
          <a:prstGeom prst="rect">
            <a:avLst/>
          </a:prstGeom>
          <a:noFill/>
          <a:ln/>
        </p:spPr>
        <p:txBody>
          <a:bodyPr wrap="square" lIns="0" tIns="0" rIns="0" bIns="0" rtlCol="0" anchor="ctr"/>
          <a:lstStyle/>
          <a:p>
            <a:pPr indent="0" marL="0">
              <a:buNone/>
            </a:pPr>
            <a:r>
              <a:rPr lang="en-US" sz="1250" dirty="0">
                <a:solidFill>
                  <a:srgbClr val="5D6471"/>
                </a:solidFill>
                <a:latin typeface="Arial" pitchFamily="34" charset="0"/>
                <a:ea typeface="Arial" pitchFamily="34" charset="-122"/>
                <a:cs typeface="Arial" pitchFamily="34" charset="-120"/>
              </a:rPr>
              <a:t>Her audit score and her marks on a timed paper. Nothing else is tracked, and each checkpoint has a stated response rather than an opinion.</a:t>
            </a:r>
            <a:endParaRPr lang="en-US" sz="1250" dirty="0"/>
          </a:p>
        </p:txBody>
      </p:sp>
      <p:sp>
        <p:nvSpPr>
          <p:cNvPr id="5" name="Shape 3"/>
          <p:cNvSpPr/>
          <p:nvPr/>
        </p:nvSpPr>
        <p:spPr>
          <a:xfrm>
            <a:off x="685800" y="1920240"/>
            <a:ext cx="2587752" cy="2331720"/>
          </a:xfrm>
          <a:prstGeom prst="roundRect">
            <a:avLst>
              <a:gd name="adj" fmla="val 1569"/>
            </a:avLst>
          </a:prstGeom>
          <a:solidFill>
            <a:srgbClr val="FFFFFF"/>
          </a:solidFill>
          <a:ln w="9525">
            <a:solidFill>
              <a:srgbClr val="E3DFD5"/>
            </a:solidFill>
            <a:prstDash val="solid"/>
          </a:ln>
        </p:spPr>
      </p:sp>
      <p:sp>
        <p:nvSpPr>
          <p:cNvPr id="6" name="Text 4"/>
          <p:cNvSpPr txBox="1"/>
          <p:nvPr/>
        </p:nvSpPr>
        <p:spPr>
          <a:xfrm>
            <a:off x="9418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1</a:t>
            </a:r>
            <a:endParaRPr lang="en-US" sz="950" dirty="0"/>
          </a:p>
        </p:txBody>
      </p:sp>
      <p:sp>
        <p:nvSpPr>
          <p:cNvPr id="7" name="Text 5"/>
          <p:cNvSpPr txBox="1"/>
          <p:nvPr/>
        </p:nvSpPr>
        <p:spPr>
          <a:xfrm>
            <a:off x="941832" y="2359152"/>
            <a:ext cx="210312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Baseline</a:t>
            </a:r>
            <a:endParaRPr lang="en-US" sz="1250" dirty="0"/>
          </a:p>
        </p:txBody>
      </p:sp>
      <p:sp>
        <p:nvSpPr>
          <p:cNvPr id="8" name="Text 6"/>
          <p:cNvSpPr txBox="1"/>
          <p:nvPr/>
        </p:nvSpPr>
        <p:spPr>
          <a:xfrm>
            <a:off x="9418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162947"/>
                </a:solidFill>
                <a:latin typeface="Cambria" pitchFamily="34" charset="0"/>
                <a:ea typeface="Cambria" pitchFamily="34" charset="-122"/>
                <a:cs typeface="Cambria" pitchFamily="34" charset="-120"/>
              </a:rPr>
              <a:t>Audit plus a full paper</a:t>
            </a:r>
            <a:endParaRPr lang="en-US" sz="1700" dirty="0"/>
          </a:p>
        </p:txBody>
      </p:sp>
      <p:sp>
        <p:nvSpPr>
          <p:cNvPr id="9" name="Text 7"/>
          <p:cNvSpPr txBox="1"/>
          <p:nvPr/>
        </p:nvSpPr>
        <p:spPr>
          <a:xfrm>
            <a:off x="9418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Recorded, not graded. This is the map.</a:t>
            </a:r>
            <a:endParaRPr lang="en-US" sz="1050" dirty="0"/>
          </a:p>
        </p:txBody>
      </p:sp>
      <p:sp>
        <p:nvSpPr>
          <p:cNvPr id="10" name="Shape 8"/>
          <p:cNvSpPr/>
          <p:nvPr/>
        </p:nvSpPr>
        <p:spPr>
          <a:xfrm>
            <a:off x="3429000" y="1920240"/>
            <a:ext cx="2587752" cy="2331720"/>
          </a:xfrm>
          <a:prstGeom prst="roundRect">
            <a:avLst>
              <a:gd name="adj" fmla="val 1569"/>
            </a:avLst>
          </a:prstGeom>
          <a:solidFill>
            <a:srgbClr val="FFFFFF"/>
          </a:solidFill>
          <a:ln w="9525">
            <a:solidFill>
              <a:srgbClr val="E3DFD5"/>
            </a:solidFill>
            <a:prstDash val="solid"/>
          </a:ln>
        </p:spPr>
      </p:sp>
      <p:sp>
        <p:nvSpPr>
          <p:cNvPr id="11" name="Text 9"/>
          <p:cNvSpPr txBox="1"/>
          <p:nvPr/>
        </p:nvSpPr>
        <p:spPr>
          <a:xfrm>
            <a:off x="36850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3</a:t>
            </a:r>
            <a:endParaRPr lang="en-US" sz="950" dirty="0"/>
          </a:p>
        </p:txBody>
      </p:sp>
      <p:sp>
        <p:nvSpPr>
          <p:cNvPr id="12" name="Text 10"/>
          <p:cNvSpPr txBox="1"/>
          <p:nvPr/>
        </p:nvSpPr>
        <p:spPr>
          <a:xfrm>
            <a:off x="3685032" y="2359152"/>
            <a:ext cx="210312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Checkpoint 1</a:t>
            </a:r>
            <a:endParaRPr lang="en-US" sz="1250" dirty="0"/>
          </a:p>
        </p:txBody>
      </p:sp>
      <p:sp>
        <p:nvSpPr>
          <p:cNvPr id="13" name="Text 11"/>
          <p:cNvSpPr txBox="1"/>
          <p:nvPr/>
        </p:nvSpPr>
        <p:spPr>
          <a:xfrm>
            <a:off x="36850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162947"/>
                </a:solidFill>
                <a:latin typeface="Cambria" pitchFamily="34" charset="0"/>
                <a:ea typeface="Cambria" pitchFamily="34" charset="-122"/>
                <a:cs typeface="Cambria" pitchFamily="34" charset="-120"/>
              </a:rPr>
              <a:t>Audit re-run</a:t>
            </a:r>
            <a:endParaRPr lang="en-US" sz="1700" dirty="0"/>
          </a:p>
        </p:txBody>
      </p:sp>
      <p:sp>
        <p:nvSpPr>
          <p:cNvPr id="14" name="Text 12"/>
          <p:cNvSpPr txBox="1"/>
          <p:nvPr/>
        </p:nvSpPr>
        <p:spPr>
          <a:xfrm>
            <a:off x="36850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Bottleneck scores should have moved.</a:t>
            </a:r>
            <a:endParaRPr lang="en-US" sz="1050" dirty="0"/>
          </a:p>
        </p:txBody>
      </p:sp>
      <p:sp>
        <p:nvSpPr>
          <p:cNvPr id="15" name="Shape 13"/>
          <p:cNvSpPr/>
          <p:nvPr/>
        </p:nvSpPr>
        <p:spPr>
          <a:xfrm>
            <a:off x="6172200" y="1920240"/>
            <a:ext cx="2587752" cy="2331720"/>
          </a:xfrm>
          <a:prstGeom prst="roundRect">
            <a:avLst>
              <a:gd name="adj" fmla="val 1569"/>
            </a:avLst>
          </a:prstGeom>
          <a:solidFill>
            <a:srgbClr val="162947"/>
          </a:solidFill>
          <a:ln/>
        </p:spPr>
      </p:sp>
      <p:sp>
        <p:nvSpPr>
          <p:cNvPr id="16" name="Text 14"/>
          <p:cNvSpPr txBox="1"/>
          <p:nvPr/>
        </p:nvSpPr>
        <p:spPr>
          <a:xfrm>
            <a:off x="64282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5</a:t>
            </a:r>
            <a:endParaRPr lang="en-US" sz="950" dirty="0"/>
          </a:p>
        </p:txBody>
      </p:sp>
      <p:sp>
        <p:nvSpPr>
          <p:cNvPr id="17" name="Text 15"/>
          <p:cNvSpPr txBox="1"/>
          <p:nvPr/>
        </p:nvSpPr>
        <p:spPr>
          <a:xfrm>
            <a:off x="6428232" y="2359152"/>
            <a:ext cx="2103120" cy="274320"/>
          </a:xfrm>
          <a:prstGeom prst="rect">
            <a:avLst/>
          </a:prstGeom>
          <a:noFill/>
          <a:ln/>
        </p:spPr>
        <p:txBody>
          <a:bodyPr wrap="square" lIns="0" tIns="0" rIns="0" bIns="0" rtlCol="0" anchor="ctr"/>
          <a:lstStyle/>
          <a:p>
            <a:pPr indent="0" marL="0">
              <a:buNone/>
            </a:pPr>
            <a:r>
              <a:rPr lang="en-US" sz="1250" b="1" dirty="0">
                <a:solidFill>
                  <a:srgbClr val="F6F4EF"/>
                </a:solidFill>
                <a:latin typeface="Arial" pitchFamily="34" charset="0"/>
                <a:ea typeface="Arial" pitchFamily="34" charset="-122"/>
                <a:cs typeface="Arial" pitchFamily="34" charset="-120"/>
              </a:rPr>
              <a:t>First full paper</a:t>
            </a:r>
            <a:endParaRPr lang="en-US" sz="1250" dirty="0"/>
          </a:p>
        </p:txBody>
      </p:sp>
      <p:sp>
        <p:nvSpPr>
          <p:cNvPr id="18" name="Text 16"/>
          <p:cNvSpPr txBox="1"/>
          <p:nvPr/>
        </p:nvSpPr>
        <p:spPr>
          <a:xfrm>
            <a:off x="64282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C3A965"/>
                </a:solidFill>
                <a:latin typeface="Cambria" pitchFamily="34" charset="0"/>
                <a:ea typeface="Cambria" pitchFamily="34" charset="-122"/>
                <a:cs typeface="Cambria" pitchFamily="34" charset="-120"/>
              </a:rPr>
              <a:t>35 / 100 or better</a:t>
            </a:r>
            <a:endParaRPr lang="en-US" sz="1700" dirty="0"/>
          </a:p>
        </p:txBody>
      </p:sp>
      <p:sp>
        <p:nvSpPr>
          <p:cNvPr id="19" name="Text 17"/>
          <p:cNvSpPr txBox="1"/>
          <p:nvPr/>
        </p:nvSpPr>
        <p:spPr>
          <a:xfrm>
            <a:off x="64282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On track. Below this, see the rule opposite.</a:t>
            </a:r>
            <a:endParaRPr lang="en-US" sz="1050" dirty="0"/>
          </a:p>
        </p:txBody>
      </p:sp>
      <p:sp>
        <p:nvSpPr>
          <p:cNvPr id="20" name="Shape 18"/>
          <p:cNvSpPr/>
          <p:nvPr/>
        </p:nvSpPr>
        <p:spPr>
          <a:xfrm>
            <a:off x="8915400" y="1920240"/>
            <a:ext cx="2587752" cy="2331720"/>
          </a:xfrm>
          <a:prstGeom prst="roundRect">
            <a:avLst>
              <a:gd name="adj" fmla="val 1569"/>
            </a:avLst>
          </a:prstGeom>
          <a:solidFill>
            <a:srgbClr val="162947"/>
          </a:solidFill>
          <a:ln/>
        </p:spPr>
      </p:sp>
      <p:sp>
        <p:nvSpPr>
          <p:cNvPr id="21" name="Text 19"/>
          <p:cNvSpPr txBox="1"/>
          <p:nvPr/>
        </p:nvSpPr>
        <p:spPr>
          <a:xfrm>
            <a:off x="91714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6</a:t>
            </a:r>
            <a:endParaRPr lang="en-US" sz="950" dirty="0"/>
          </a:p>
        </p:txBody>
      </p:sp>
      <p:sp>
        <p:nvSpPr>
          <p:cNvPr id="22" name="Text 20"/>
          <p:cNvSpPr txBox="1"/>
          <p:nvPr/>
        </p:nvSpPr>
        <p:spPr>
          <a:xfrm>
            <a:off x="9171432" y="2359152"/>
            <a:ext cx="2103120" cy="274320"/>
          </a:xfrm>
          <a:prstGeom prst="rect">
            <a:avLst/>
          </a:prstGeom>
          <a:noFill/>
          <a:ln/>
        </p:spPr>
        <p:txBody>
          <a:bodyPr wrap="square" lIns="0" tIns="0" rIns="0" bIns="0" rtlCol="0" anchor="ctr"/>
          <a:lstStyle/>
          <a:p>
            <a:pPr indent="0" marL="0">
              <a:buNone/>
            </a:pPr>
            <a:r>
              <a:rPr lang="en-US" sz="1250" b="1" dirty="0">
                <a:solidFill>
                  <a:srgbClr val="F6F4EF"/>
                </a:solidFill>
                <a:latin typeface="Arial" pitchFamily="34" charset="0"/>
                <a:ea typeface="Arial" pitchFamily="34" charset="-122"/>
                <a:cs typeface="Arial" pitchFamily="34" charset="-120"/>
              </a:rPr>
              <a:t>Second full paper</a:t>
            </a:r>
            <a:endParaRPr lang="en-US" sz="1250" dirty="0"/>
          </a:p>
        </p:txBody>
      </p:sp>
      <p:sp>
        <p:nvSpPr>
          <p:cNvPr id="23" name="Text 21"/>
          <p:cNvSpPr txBox="1"/>
          <p:nvPr/>
        </p:nvSpPr>
        <p:spPr>
          <a:xfrm>
            <a:off x="91714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C3A965"/>
                </a:solidFill>
                <a:latin typeface="Cambria" pitchFamily="34" charset="0"/>
                <a:ea typeface="Cambria" pitchFamily="34" charset="-122"/>
                <a:cs typeface="Cambria" pitchFamily="34" charset="-120"/>
              </a:rPr>
              <a:t>40 / 100 or better</a:t>
            </a:r>
            <a:endParaRPr lang="en-US" sz="1700" dirty="0"/>
          </a:p>
        </p:txBody>
      </p:sp>
      <p:sp>
        <p:nvSpPr>
          <p:cNvPr id="24" name="Text 22"/>
          <p:cNvSpPr txBox="1"/>
          <p:nvPr/>
        </p:nvSpPr>
        <p:spPr>
          <a:xfrm>
            <a:off x="91714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80 of 200, which is 15 clear of the boundary.</a:t>
            </a:r>
            <a:endParaRPr lang="en-US" sz="1050" dirty="0"/>
          </a:p>
        </p:txBody>
      </p:sp>
      <p:sp>
        <p:nvSpPr>
          <p:cNvPr id="25" name="Shape 23"/>
          <p:cNvSpPr/>
          <p:nvPr/>
        </p:nvSpPr>
        <p:spPr>
          <a:xfrm>
            <a:off x="685800" y="4462272"/>
            <a:ext cx="10817352" cy="1664208"/>
          </a:xfrm>
          <a:prstGeom prst="roundRect">
            <a:avLst>
              <a:gd name="adj" fmla="val 2198"/>
            </a:avLst>
          </a:prstGeom>
          <a:solidFill>
            <a:srgbClr val="EFEBE1"/>
          </a:solidFill>
          <a:ln/>
        </p:spPr>
      </p:sp>
      <p:sp>
        <p:nvSpPr>
          <p:cNvPr id="26" name="Text 24"/>
          <p:cNvSpPr txBox="1"/>
          <p:nvPr/>
        </p:nvSpPr>
        <p:spPr>
          <a:xfrm>
            <a:off x="1005840" y="4617720"/>
            <a:ext cx="4754880" cy="274320"/>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What happens if a number comes in low</a:t>
            </a:r>
            <a:endParaRPr lang="en-US" sz="1700" dirty="0"/>
          </a:p>
        </p:txBody>
      </p:sp>
      <p:sp>
        <p:nvSpPr>
          <p:cNvPr id="27" name="Text 25"/>
          <p:cNvSpPr txBox="1"/>
          <p:nvPr/>
        </p:nvSpPr>
        <p:spPr>
          <a:xfrm>
            <a:off x="1005840" y="4983480"/>
            <a:ext cx="6949440" cy="768096"/>
          </a:xfrm>
          <a:prstGeom prst="rect">
            <a:avLst/>
          </a:prstGeom>
          <a:noFill/>
          <a:ln/>
        </p:spPr>
        <p:txBody>
          <a:bodyPr wrap="square" lIns="0" tIns="0" rIns="0" bIns="0" rtlCol="0" anchor="ctr"/>
          <a:lstStyle/>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Audit has not moved by week 3: the cause is the daily work, and we fix that before adding content.</a:t>
            </a:r>
            <a:endParaRPr lang="en-US" sz="1050" dirty="0"/>
          </a:p>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Below 35 out of 100 in week 5: week 6 drops the third paper and returns to the two weakest topics on the teach list.</a:t>
            </a:r>
            <a:endParaRPr lang="en-US" sz="1050" dirty="0"/>
          </a:p>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Above 50 out of 100 in week 5: we add the single-step grade 6 shortlist rather than repeating work she already has.</a:t>
            </a:r>
            <a:endParaRPr lang="en-US" sz="1050" dirty="0"/>
          </a:p>
        </p:txBody>
      </p:sp>
      <p:sp>
        <p:nvSpPr>
          <p:cNvPr id="28" name="Shape 26"/>
          <p:cNvSpPr/>
          <p:nvPr/>
        </p:nvSpPr>
        <p:spPr>
          <a:xfrm>
            <a:off x="8321040" y="4663440"/>
            <a:ext cx="0" cy="0"/>
          </a:xfrm>
          <a:prstGeom prst="line">
            <a:avLst/>
          </a:prstGeom>
          <a:noFill/>
          <a:ln w="9525">
            <a:solidFill>
              <a:srgbClr val="E3DFD5"/>
            </a:solidFill>
            <a:prstDash val="solid"/>
          </a:ln>
        </p:spPr>
      </p:sp>
      <p:sp>
        <p:nvSpPr>
          <p:cNvPr id="29" name="Shape 27"/>
          <p:cNvSpPr/>
          <p:nvPr/>
        </p:nvSpPr>
        <p:spPr>
          <a:xfrm>
            <a:off x="8275320" y="4617720"/>
            <a:ext cx="0" cy="1325880"/>
          </a:xfrm>
          <a:prstGeom prst="line">
            <a:avLst/>
          </a:prstGeom>
          <a:noFill/>
          <a:ln w="9525">
            <a:solidFill>
              <a:srgbClr val="D8D3C6"/>
            </a:solidFill>
            <a:prstDash val="solid"/>
          </a:ln>
        </p:spPr>
      </p:sp>
      <p:sp>
        <p:nvSpPr>
          <p:cNvPr id="30" name="Text 28"/>
          <p:cNvSpPr txBox="1"/>
          <p:nvPr/>
        </p:nvSpPr>
        <p:spPr>
          <a:xfrm>
            <a:off x="8595360" y="4617720"/>
            <a:ext cx="274320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REPORTING</a:t>
            </a:r>
            <a:endParaRPr lang="en-US" sz="900" dirty="0"/>
          </a:p>
        </p:txBody>
      </p:sp>
      <p:sp>
        <p:nvSpPr>
          <p:cNvPr id="31" name="Text 29"/>
          <p:cNvSpPr txBox="1"/>
          <p:nvPr/>
        </p:nvSpPr>
        <p:spPr>
          <a:xfrm>
            <a:off x="8595360" y="4882896"/>
            <a:ext cx="2834640" cy="1005840"/>
          </a:xfrm>
          <a:prstGeom prst="rect">
            <a:avLst/>
          </a:prstGeom>
          <a:noFill/>
          <a:ln/>
        </p:spPr>
        <p:txBody>
          <a:bodyPr wrap="square" lIns="0" tIns="0" rIns="0" bIns="0" rtlCol="0" anchor="ctr"/>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After every session you get one line: what we taught, her retrieval score out of six, and whether the homework came back.</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IF SOMETHING GOES WRONG</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The four things most likely to cost the grade</a:t>
            </a:r>
            <a:endParaRPr lang="en-US" sz="3300" dirty="0"/>
          </a:p>
        </p:txBody>
      </p:sp>
      <p:sp>
        <p:nvSpPr>
          <p:cNvPr id="4" name="Shape 2"/>
          <p:cNvSpPr/>
          <p:nvPr/>
        </p:nvSpPr>
        <p:spPr>
          <a:xfrm>
            <a:off x="685800" y="1627632"/>
            <a:ext cx="5212080" cy="1874520"/>
          </a:xfrm>
          <a:prstGeom prst="roundRect">
            <a:avLst>
              <a:gd name="adj" fmla="val 1951"/>
            </a:avLst>
          </a:prstGeom>
          <a:solidFill>
            <a:srgbClr val="FFFFFF"/>
          </a:solidFill>
          <a:ln w="9525">
            <a:solidFill>
              <a:srgbClr val="E3DFD5"/>
            </a:solidFill>
            <a:prstDash val="solid"/>
          </a:ln>
        </p:spPr>
      </p:sp>
      <p:sp>
        <p:nvSpPr>
          <p:cNvPr id="5" name="Shape 3"/>
          <p:cNvSpPr/>
          <p:nvPr/>
        </p:nvSpPr>
        <p:spPr>
          <a:xfrm>
            <a:off x="1005840" y="1865376"/>
            <a:ext cx="384048" cy="384048"/>
          </a:xfrm>
          <a:prstGeom prst="ellipse">
            <a:avLst/>
          </a:prstGeom>
          <a:solidFill>
            <a:srgbClr val="162947"/>
          </a:solidFill>
          <a:ln/>
        </p:spPr>
      </p:sp>
      <p:sp>
        <p:nvSpPr>
          <p:cNvPr id="6" name="Text 4"/>
          <p:cNvSpPr txBox="1"/>
          <p:nvPr/>
        </p:nvSpPr>
        <p:spPr>
          <a:xfrm>
            <a:off x="1005840" y="18653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527048" y="18836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Entry or tier not confirmed</a:t>
            </a:r>
            <a:endParaRPr lang="en-US" sz="1700" dirty="0"/>
          </a:p>
        </p:txBody>
      </p:sp>
      <p:sp>
        <p:nvSpPr>
          <p:cNvPr id="8" name="Text 6"/>
          <p:cNvSpPr txBox="1"/>
          <p:nvPr/>
        </p:nvSpPr>
        <p:spPr>
          <a:xfrm>
            <a:off x="1005840" y="23591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Confirmed with the school in week 1. The parent owns this one, because late entry deadlines for the November series fall in early October and nothing else in the plan matters if the entry is wrong.</a:t>
            </a:r>
            <a:endParaRPr lang="en-US" sz="1100" dirty="0"/>
          </a:p>
        </p:txBody>
      </p:sp>
      <p:sp>
        <p:nvSpPr>
          <p:cNvPr id="9" name="Shape 7"/>
          <p:cNvSpPr/>
          <p:nvPr/>
        </p:nvSpPr>
        <p:spPr>
          <a:xfrm>
            <a:off x="6291072" y="1627632"/>
            <a:ext cx="5212080" cy="1874520"/>
          </a:xfrm>
          <a:prstGeom prst="roundRect">
            <a:avLst>
              <a:gd name="adj" fmla="val 1951"/>
            </a:avLst>
          </a:prstGeom>
          <a:solidFill>
            <a:srgbClr val="EFEBE1"/>
          </a:solidFill>
          <a:ln w="9525">
            <a:solidFill>
              <a:srgbClr val="E3DFD5"/>
            </a:solidFill>
            <a:prstDash val="solid"/>
          </a:ln>
        </p:spPr>
      </p:sp>
      <p:sp>
        <p:nvSpPr>
          <p:cNvPr id="10" name="Shape 8"/>
          <p:cNvSpPr/>
          <p:nvPr/>
        </p:nvSpPr>
        <p:spPr>
          <a:xfrm>
            <a:off x="6611112" y="1865376"/>
            <a:ext cx="384048" cy="384048"/>
          </a:xfrm>
          <a:prstGeom prst="ellipse">
            <a:avLst/>
          </a:prstGeom>
          <a:solidFill>
            <a:srgbClr val="162947"/>
          </a:solidFill>
          <a:ln/>
        </p:spPr>
      </p:sp>
      <p:sp>
        <p:nvSpPr>
          <p:cNvPr id="11" name="Text 9"/>
          <p:cNvSpPr txBox="1"/>
          <p:nvPr/>
        </p:nvSpPr>
        <p:spPr>
          <a:xfrm>
            <a:off x="6611112" y="18653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7132320" y="18836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A week is lost to illness</a:t>
            </a:r>
            <a:endParaRPr lang="en-US" sz="1700" dirty="0"/>
          </a:p>
        </p:txBody>
      </p:sp>
      <p:sp>
        <p:nvSpPr>
          <p:cNvPr id="13" name="Text 11"/>
          <p:cNvSpPr txBox="1"/>
          <p:nvPr/>
        </p:nvSpPr>
        <p:spPr>
          <a:xfrm>
            <a:off x="6611112" y="23591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Week 6 carries the slack. The third full paper is the first thing dropped, then the pacing session. The teaching weeks are not compressed.</a:t>
            </a:r>
            <a:endParaRPr lang="en-US" sz="1100" dirty="0"/>
          </a:p>
        </p:txBody>
      </p:sp>
      <p:sp>
        <p:nvSpPr>
          <p:cNvPr id="14" name="Shape 12"/>
          <p:cNvSpPr/>
          <p:nvPr/>
        </p:nvSpPr>
        <p:spPr>
          <a:xfrm>
            <a:off x="685800" y="3685032"/>
            <a:ext cx="5212080" cy="1874520"/>
          </a:xfrm>
          <a:prstGeom prst="roundRect">
            <a:avLst>
              <a:gd name="adj" fmla="val 1951"/>
            </a:avLst>
          </a:prstGeom>
          <a:solidFill>
            <a:srgbClr val="FFFFFF"/>
          </a:solidFill>
          <a:ln w="9525">
            <a:solidFill>
              <a:srgbClr val="E3DFD5"/>
            </a:solidFill>
            <a:prstDash val="solid"/>
          </a:ln>
        </p:spPr>
      </p:sp>
      <p:sp>
        <p:nvSpPr>
          <p:cNvPr id="15" name="Shape 13"/>
          <p:cNvSpPr/>
          <p:nvPr/>
        </p:nvSpPr>
        <p:spPr>
          <a:xfrm>
            <a:off x="1005840" y="3922776"/>
            <a:ext cx="384048" cy="384048"/>
          </a:xfrm>
          <a:prstGeom prst="ellipse">
            <a:avLst/>
          </a:prstGeom>
          <a:solidFill>
            <a:srgbClr val="162947"/>
          </a:solidFill>
          <a:ln/>
        </p:spPr>
      </p:sp>
      <p:sp>
        <p:nvSpPr>
          <p:cNvPr id="16" name="Text 14"/>
          <p:cNvSpPr txBox="1"/>
          <p:nvPr/>
        </p:nvSpPr>
        <p:spPr>
          <a:xfrm>
            <a:off x="1005840" y="39227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1527048" y="39410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The daily work does not happen</a:t>
            </a:r>
            <a:endParaRPr lang="en-US" sz="1700" dirty="0"/>
          </a:p>
        </p:txBody>
      </p:sp>
      <p:sp>
        <p:nvSpPr>
          <p:cNvPr id="18" name="Text 16"/>
          <p:cNvSpPr txBox="1"/>
          <p:nvPr/>
        </p:nvSpPr>
        <p:spPr>
          <a:xfrm>
            <a:off x="1005840" y="44165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Reviewed at the end of week 2. If it is not running, the shape week is cut to three topics and that time moves to number and algebra.</a:t>
            </a:r>
            <a:endParaRPr lang="en-US" sz="1100" dirty="0"/>
          </a:p>
        </p:txBody>
      </p:sp>
      <p:sp>
        <p:nvSpPr>
          <p:cNvPr id="19" name="Shape 17"/>
          <p:cNvSpPr/>
          <p:nvPr/>
        </p:nvSpPr>
        <p:spPr>
          <a:xfrm>
            <a:off x="6291072" y="3685032"/>
            <a:ext cx="5212080" cy="1874520"/>
          </a:xfrm>
          <a:prstGeom prst="roundRect">
            <a:avLst>
              <a:gd name="adj" fmla="val 1951"/>
            </a:avLst>
          </a:prstGeom>
          <a:solidFill>
            <a:srgbClr val="EFEBE1"/>
          </a:solidFill>
          <a:ln w="9525">
            <a:solidFill>
              <a:srgbClr val="E3DFD5"/>
            </a:solidFill>
            <a:prstDash val="solid"/>
          </a:ln>
        </p:spPr>
      </p:sp>
      <p:sp>
        <p:nvSpPr>
          <p:cNvPr id="20" name="Shape 18"/>
          <p:cNvSpPr/>
          <p:nvPr/>
        </p:nvSpPr>
        <p:spPr>
          <a:xfrm>
            <a:off x="6611112" y="3922776"/>
            <a:ext cx="384048" cy="384048"/>
          </a:xfrm>
          <a:prstGeom prst="ellipse">
            <a:avLst/>
          </a:prstGeom>
          <a:solidFill>
            <a:srgbClr val="162947"/>
          </a:solidFill>
          <a:ln/>
        </p:spPr>
      </p:sp>
      <p:sp>
        <p:nvSpPr>
          <p:cNvPr id="21" name="Text 19"/>
          <p:cNvSpPr txBox="1"/>
          <p:nvPr/>
        </p:nvSpPr>
        <p:spPr>
          <a:xfrm>
            <a:off x="6611112" y="39227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7132320" y="39410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The audit is worse than expected</a:t>
            </a:r>
            <a:endParaRPr lang="en-US" sz="1700" dirty="0"/>
          </a:p>
        </p:txBody>
      </p:sp>
      <p:sp>
        <p:nvSpPr>
          <p:cNvPr id="23" name="Text 21"/>
          <p:cNvSpPr txBox="1"/>
          <p:nvPr/>
        </p:nvSpPr>
        <p:spPr>
          <a:xfrm>
            <a:off x="6611112" y="44165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Weeks 2 and 3 hold, and week 4 loses sequences and straight-line graphs. Number and algebra are never the thing we cut.</a:t>
            </a:r>
            <a:endParaRPr lang="en-US" sz="1100" dirty="0"/>
          </a:p>
        </p:txBody>
      </p:sp>
      <p:sp>
        <p:nvSpPr>
          <p:cNvPr id="24" name="Text 22"/>
          <p:cNvSpPr txBox="1"/>
          <p:nvPr/>
        </p:nvSpPr>
        <p:spPr>
          <a:xfrm>
            <a:off x="685800" y="5852160"/>
            <a:ext cx="10817352"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Every item above has a named response and a week by which it is decided. None of them is left to be noticed in week 5.</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2947"/>
        </a:solidFill>
      </p:bgPr>
    </p:bg>
    <p:spTree>
      <p:nvGrpSpPr>
        <p:cNvPr id="1" name=""/>
        <p:cNvGrpSpPr/>
        <p:nvPr/>
      </p:nvGrpSpPr>
      <p:grpSpPr>
        <a:xfrm>
          <a:off x="0" y="0"/>
          <a:ext cx="0" cy="0"/>
          <a:chOff x="0" y="0"/>
          <a:chExt cx="0" cy="0"/>
        </a:xfrm>
      </p:grpSpPr>
      <p:sp>
        <p:nvSpPr>
          <p:cNvPr id="2" name="Shape 0"/>
          <p:cNvSpPr/>
          <p:nvPr/>
        </p:nvSpPr>
        <p:spPr>
          <a:xfrm>
            <a:off x="9692640" y="5120640"/>
            <a:ext cx="3108960" cy="3108960"/>
          </a:xfrm>
          <a:prstGeom prst="ellipse">
            <a:avLst/>
          </a:prstGeom>
          <a:solidFill>
            <a:srgbClr val="1C3255"/>
          </a:solidFill>
          <a:ln/>
        </p:spPr>
      </p:sp>
      <p:sp>
        <p:nvSpPr>
          <p:cNvPr id="3" name="Text 1"/>
          <p:cNvSpPr txBox="1"/>
          <p:nvPr/>
        </p:nvSpPr>
        <p:spPr>
          <a:xfrm>
            <a:off x="685800" y="868680"/>
            <a:ext cx="5486400" cy="274320"/>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PLAN</a:t>
            </a:r>
            <a:endParaRPr lang="en-US" sz="1050" dirty="0"/>
          </a:p>
        </p:txBody>
      </p:sp>
      <p:sp>
        <p:nvSpPr>
          <p:cNvPr id="4" name="Text 2"/>
          <p:cNvSpPr txBox="1"/>
          <p:nvPr/>
        </p:nvSpPr>
        <p:spPr>
          <a:xfrm>
            <a:off x="685800" y="1325880"/>
            <a:ext cx="10241280" cy="2011680"/>
          </a:xfrm>
          <a:prstGeom prst="rect">
            <a:avLst/>
          </a:prstGeom>
          <a:noFill/>
          <a:ln/>
        </p:spPr>
        <p:txBody>
          <a:bodyPr wrap="square" lIns="0" tIns="0" rIns="0" bIns="0" rtlCol="0" anchor="t"/>
          <a:lstStyle/>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Fix the fundamentals in number and algebra.</a:t>
            </a:r>
            <a:endParaRPr lang="en-US" sz="2800" dirty="0"/>
          </a:p>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Teach a pool of about 105 marks and work to 80.</a:t>
            </a:r>
            <a:endParaRPr lang="en-US" sz="2800" dirty="0"/>
          </a:p>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Leave the rest of the paper alone.</a:t>
            </a:r>
            <a:endParaRPr lang="en-US" sz="2800" dirty="0"/>
          </a:p>
        </p:txBody>
      </p:sp>
      <p:sp>
        <p:nvSpPr>
          <p:cNvPr id="5" name="Shape 3"/>
          <p:cNvSpPr/>
          <p:nvPr/>
        </p:nvSpPr>
        <p:spPr>
          <a:xfrm>
            <a:off x="685800" y="3703320"/>
            <a:ext cx="5669280" cy="0"/>
          </a:xfrm>
          <a:prstGeom prst="line">
            <a:avLst/>
          </a:prstGeom>
          <a:noFill/>
          <a:ln w="9525">
            <a:solidFill>
              <a:srgbClr val="3A4E70"/>
            </a:solidFill>
            <a:prstDash val="solid"/>
          </a:ln>
        </p:spPr>
      </p:sp>
      <p:sp>
        <p:nvSpPr>
          <p:cNvPr id="6" name="Text 4"/>
          <p:cNvSpPr txBox="1"/>
          <p:nvPr/>
        </p:nvSpPr>
        <p:spPr>
          <a:xfrm>
            <a:off x="685800" y="3977640"/>
            <a:ext cx="3657600" cy="274320"/>
          </a:xfrm>
          <a:prstGeom prst="rect">
            <a:avLst/>
          </a:prstGeom>
          <a:noFill/>
          <a:ln/>
        </p:spPr>
        <p:txBody>
          <a:bodyPr wrap="square" lIns="0" tIns="0" rIns="0" bIns="0" rtlCol="0" anchor="ctr"/>
          <a:lstStyle/>
          <a:p>
            <a:pPr indent="0" marL="0">
              <a:buNone/>
            </a:pPr>
            <a:r>
              <a:rPr lang="en-US" sz="1050" b="1" spc="220" kern="0" dirty="0">
                <a:solidFill>
                  <a:srgbClr val="C3A965"/>
                </a:solidFill>
                <a:latin typeface="Arial" pitchFamily="34" charset="0"/>
                <a:ea typeface="Arial" pitchFamily="34" charset="-122"/>
                <a:cs typeface="Arial" pitchFamily="34" charset="-120"/>
              </a:rPr>
              <a:t>THIS WEEK</a:t>
            </a:r>
            <a:endParaRPr lang="en-US" sz="1050" dirty="0"/>
          </a:p>
        </p:txBody>
      </p:sp>
      <p:sp>
        <p:nvSpPr>
          <p:cNvPr id="7" name="Shape 5"/>
          <p:cNvSpPr/>
          <p:nvPr/>
        </p:nvSpPr>
        <p:spPr>
          <a:xfrm>
            <a:off x="685800" y="4370832"/>
            <a:ext cx="347472" cy="347472"/>
          </a:xfrm>
          <a:prstGeom prst="ellipse">
            <a:avLst/>
          </a:prstGeom>
          <a:solidFill>
            <a:srgbClr val="22355A"/>
          </a:solidFill>
          <a:ln/>
        </p:spPr>
      </p:sp>
      <p:sp>
        <p:nvSpPr>
          <p:cNvPr id="8" name="Text 6"/>
          <p:cNvSpPr txBox="1"/>
          <p:nvPr/>
        </p:nvSpPr>
        <p:spPr>
          <a:xfrm>
            <a:off x="685800" y="437083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9" name="Text 7"/>
          <p:cNvSpPr txBox="1"/>
          <p:nvPr/>
        </p:nvSpPr>
        <p:spPr>
          <a:xfrm>
            <a:off x="1188720" y="4407408"/>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Confirm the entry, tier and exam times with the school</a:t>
            </a:r>
            <a:endParaRPr lang="en-US" sz="1300" dirty="0"/>
          </a:p>
        </p:txBody>
      </p:sp>
      <p:sp>
        <p:nvSpPr>
          <p:cNvPr id="10" name="Shape 8"/>
          <p:cNvSpPr/>
          <p:nvPr/>
        </p:nvSpPr>
        <p:spPr>
          <a:xfrm>
            <a:off x="685800" y="4901184"/>
            <a:ext cx="347472" cy="347472"/>
          </a:xfrm>
          <a:prstGeom prst="ellipse">
            <a:avLst/>
          </a:prstGeom>
          <a:solidFill>
            <a:srgbClr val="22355A"/>
          </a:solidFill>
          <a:ln/>
        </p:spPr>
      </p:sp>
      <p:sp>
        <p:nvSpPr>
          <p:cNvPr id="11" name="Text 9"/>
          <p:cNvSpPr txBox="1"/>
          <p:nvPr/>
        </p:nvSpPr>
        <p:spPr>
          <a:xfrm>
            <a:off x="685800" y="4901184"/>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188720" y="4937760"/>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Run the fluency audit and the calculator setup in session one</a:t>
            </a:r>
            <a:endParaRPr lang="en-US" sz="1300" dirty="0"/>
          </a:p>
        </p:txBody>
      </p:sp>
      <p:sp>
        <p:nvSpPr>
          <p:cNvPr id="13" name="Shape 11"/>
          <p:cNvSpPr/>
          <p:nvPr/>
        </p:nvSpPr>
        <p:spPr>
          <a:xfrm>
            <a:off x="685800" y="5431536"/>
            <a:ext cx="347472" cy="347472"/>
          </a:xfrm>
          <a:prstGeom prst="ellipse">
            <a:avLst/>
          </a:prstGeom>
          <a:solidFill>
            <a:srgbClr val="22355A"/>
          </a:solidFill>
          <a:ln/>
        </p:spPr>
      </p:sp>
      <p:sp>
        <p:nvSpPr>
          <p:cNvPr id="14" name="Text 12"/>
          <p:cNvSpPr txBox="1"/>
          <p:nvPr/>
        </p:nvSpPr>
        <p:spPr>
          <a:xfrm>
            <a:off x="685800" y="5431536"/>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1188720" y="5468112"/>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Sit the baseline paper at home, and set up the error log</a:t>
            </a:r>
            <a:endParaRPr lang="en-US" sz="1300" dirty="0"/>
          </a:p>
        </p:txBody>
      </p:sp>
      <p:sp>
        <p:nvSpPr>
          <p:cNvPr id="16" name="Text 14"/>
          <p:cNvSpPr txBox="1"/>
          <p:nvPr/>
        </p:nvSpPr>
        <p:spPr>
          <a:xfrm>
            <a:off x="685800" y="6172200"/>
            <a:ext cx="3657600" cy="274320"/>
          </a:xfrm>
          <a:prstGeom prst="rect">
            <a:avLst/>
          </a:prstGeom>
          <a:noFill/>
          <a:ln/>
        </p:spPr>
        <p:txBody>
          <a:bodyPr wrap="square" lIns="0" tIns="0" rIns="0" bIns="0" rtlCol="0" anchor="ctr"/>
          <a:lstStyle/>
          <a:p>
            <a:pPr indent="0" marL="0">
              <a:buNone/>
            </a:pPr>
            <a:r>
              <a:rPr lang="en-US" sz="1400" dirty="0">
                <a:solidFill>
                  <a:srgbClr val="A8B2C2"/>
                </a:solidFill>
                <a:latin typeface="Cambria" pitchFamily="34" charset="0"/>
                <a:ea typeface="Cambria" pitchFamily="34" charset="-122"/>
                <a:cs typeface="Cambria" pitchFamily="34" charset="-120"/>
              </a:rPr>
              <a:t>Ali Tutors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November Maths Plan</dc:title>
  <dc:subject>PptxGenJS Presentation</dc:subject>
  <dc:creator>Ali Tutors</dc:creator>
  <cp:lastModifiedBy>Ali Tutors</cp:lastModifiedBy>
  <cp:revision>1</cp:revision>
  <dcterms:created xsi:type="dcterms:W3CDTF">2026-09-21T12:20:22Z</dcterms:created>
  <dcterms:modified xsi:type="dcterms:W3CDTF">2026-09-21T12:20:22Z</dcterms:modified>
</cp:coreProperties>
</file>