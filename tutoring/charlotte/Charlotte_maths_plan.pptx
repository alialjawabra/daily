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Marks of 200</c:v>
                </c:pt>
              </c:strCache>
            </c:strRef>
          </c:tx>
          <c:spPr>
            <a:solidFill>
              <a:srgbClr val="9AA6B8"/>
            </a:solidFill>
            <a:effectLst/>
          </c:spPr>
          <c:invertIfNegative val="0"/>
          <c:dLbls>
            <c:numFmt formatCode="#,##0" sourceLinked="0"/>
            <c:txPr>
              <a:bodyPr/>
              <a:lstStyle/>
              <a:p>
                <a:pPr>
                  <a:defRPr b="1" i="0" strike="noStrike" sz="1200" u="none">
                    <a:solidFill>
                      <a:srgbClr val="162947"/>
                    </a:solidFill>
                    <a:latin typeface="Arial"/>
                  </a:defRPr>
                </a:pPr>
              </a:p>
            </c:txPr>
            <c:showLegendKey val="0"/>
            <c:showVal val="1"/>
            <c:showCatName val="0"/>
            <c:showSerName val="0"/>
            <c:showPercent val="0"/>
            <c:showBubbleSize val="0"/>
            <c:showLeaderLines val="0"/>
          </c:dLbls>
          <c:dPt>
            <c:idx val="0"/>
            <c:invertIfNegative val="0"/>
            <c:bubble3D val="0"/>
            <c:spPr>
              <a:solidFill>
                <a:srgbClr val="9AA6B8"/>
              </a:solidFill>
              <a:effectLst/>
            </c:spPr>
          </c:dPt>
          <c:dPt>
            <c:idx val="1"/>
            <c:invertIfNegative val="0"/>
            <c:bubble3D val="0"/>
            <c:spPr>
              <a:solidFill>
                <a:srgbClr val="C3A965"/>
              </a:solidFill>
              <a:effectLst/>
            </c:spPr>
          </c:dPt>
          <c:dPt>
            <c:idx val="2"/>
            <c:invertIfNegative val="0"/>
            <c:bubble3D val="0"/>
            <c:spPr>
              <a:solidFill>
                <a:srgbClr val="162947"/>
              </a:solidFill>
              <a:effectLst/>
            </c:spPr>
          </c:dPt>
          <c:cat>
            <c:multiLvlStrRef>
              <c:f>Sheet1!$A$2:$A$4</c:f>
              <c:multiLvlStrCache>
                <c:ptCount val="3"/>
                <c:lvl>
                  <c:pt idx="0">
                    <c:v>Handling data</c:v>
                  </c:pt>
                  <c:pt idx="1">
                    <c:v>Shape, space and measure</c:v>
                  </c:pt>
                  <c:pt idx="2">
                    <c:v>Number and algebra</c:v>
                  </c:pt>
                </c:lvl>
              </c:multiLvlStrCache>
            </c:multiLvlStrRef>
          </c:cat>
          <c:val>
            <c:numRef>
              <c:f>Sheet1!$B$2:$B$4</c:f>
              <c:numCache>
                <c:formatCode>General</c:formatCode>
                <c:ptCount val="3"/>
                <c:pt idx="0">
                  <c:v>30</c:v>
                </c:pt>
                <c:pt idx="1">
                  <c:v>50</c:v>
                </c:pt>
                <c:pt idx="2">
                  <c:v>120</c:v>
                </c:pt>
              </c:numCache>
            </c:numRef>
          </c:val>
        </c:ser>
        <c:dLbls>
          <c:numFmt formatCode="#,##0" sourceLinked="0"/>
          <c:txPr>
            <a:bodyPr/>
            <a:lstStyle/>
            <a:p>
              <a:pPr>
                <a:defRPr b="1" i="0" strike="noStrike" sz="1200" u="none">
                  <a:solidFill>
                    <a:srgbClr val="162947"/>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162947"/>
                </a:solidFill>
                <a:latin typeface="Arial"/>
              </a:defRPr>
            </a:pPr>
            <a:endParaRPr lang="en-US"/>
          </a:p>
        </c:txPr>
        <c:crossAx val="2094734552"/>
        <c:crosses val="autoZero"/>
        <c:auto val="1"/>
        <c:lblAlgn val="ctr"/>
        <c:noMultiLvlLbl val="1"/>
      </c:catAx>
      <c:valAx>
        <c:axId val="2094734552"/>
        <c:scaling>
          <c:orientation val="minMax"/>
          <c:max val="1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6F4EF"/>
        </a:solidFill>
        <a:ln>
          <a:noFill/>
        </a:ln>
        <a:effectLst/>
      </c:spPr>
    </c:plotArea>
    <c:plotVisOnly val="1"/>
    <c:dispBlanksAs val="span"/>
  </c:chart>
  <c:spPr>
    <a:solidFill>
      <a:srgbClr val="F6F4E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947"/>
        </a:solidFill>
      </p:bgPr>
    </p:bg>
    <p:spTree>
      <p:nvGrpSpPr>
        <p:cNvPr id="1" name=""/>
        <p:cNvGrpSpPr/>
        <p:nvPr/>
      </p:nvGrpSpPr>
      <p:grpSpPr>
        <a:xfrm>
          <a:off x="0" y="0"/>
          <a:ext cx="0" cy="0"/>
          <a:chOff x="0" y="0"/>
          <a:chExt cx="0" cy="0"/>
        </a:xfrm>
      </p:grpSpPr>
      <p:sp>
        <p:nvSpPr>
          <p:cNvPr id="2" name="Shape 0"/>
          <p:cNvSpPr/>
          <p:nvPr/>
        </p:nvSpPr>
        <p:spPr>
          <a:xfrm>
            <a:off x="8732520" y="-1554480"/>
            <a:ext cx="4754880" cy="4754880"/>
          </a:xfrm>
          <a:prstGeom prst="ellipse">
            <a:avLst/>
          </a:prstGeom>
          <a:solidFill>
            <a:srgbClr val="1C3255"/>
          </a:solidFill>
          <a:ln/>
        </p:spPr>
      </p:sp>
      <p:sp>
        <p:nvSpPr>
          <p:cNvPr id="3" name="Shape 1"/>
          <p:cNvSpPr/>
          <p:nvPr/>
        </p:nvSpPr>
        <p:spPr>
          <a:xfrm>
            <a:off x="10378440" y="4709160"/>
            <a:ext cx="2834640" cy="2834640"/>
          </a:xfrm>
          <a:prstGeom prst="ellipse">
            <a:avLst/>
          </a:prstGeom>
          <a:solidFill>
            <a:srgbClr val="C3A965"/>
          </a:solidFill>
          <a:ln/>
        </p:spPr>
      </p:sp>
      <p:sp>
        <p:nvSpPr>
          <p:cNvPr id="4" name="Text 2"/>
          <p:cNvSpPr txBox="1"/>
          <p:nvPr/>
        </p:nvSpPr>
        <p:spPr>
          <a:xfrm>
            <a:off x="685800" y="777240"/>
            <a:ext cx="5486400" cy="274320"/>
          </a:xfrm>
          <a:prstGeom prst="rect">
            <a:avLst/>
          </a:prstGeom>
          <a:noFill/>
          <a:ln/>
        </p:spPr>
        <p:txBody>
          <a:bodyPr wrap="square" lIns="0" tIns="0" rIns="0" bIns="0" rtlCol="0" anchor="ctr"/>
          <a:lstStyle/>
          <a:p>
            <a:pPr indent="0" marL="0">
              <a:buNone/>
            </a:pPr>
            <a:r>
              <a:rPr lang="en-US" sz="1100" b="1" spc="300" kern="0" dirty="0">
                <a:solidFill>
                  <a:srgbClr val="C3A965"/>
                </a:solidFill>
                <a:latin typeface="Arial" pitchFamily="34" charset="0"/>
                <a:ea typeface="Arial" pitchFamily="34" charset="-122"/>
                <a:cs typeface="Arial" pitchFamily="34" charset="-120"/>
              </a:rPr>
              <a:t>ALI TUTORS</a:t>
            </a:r>
            <a:endParaRPr lang="en-US" sz="1100" dirty="0"/>
          </a:p>
        </p:txBody>
      </p:sp>
      <p:sp>
        <p:nvSpPr>
          <p:cNvPr id="5" name="Text 3"/>
          <p:cNvSpPr txBox="1"/>
          <p:nvPr/>
        </p:nvSpPr>
        <p:spPr>
          <a:xfrm>
            <a:off x="685800" y="1371600"/>
            <a:ext cx="7315200" cy="2011680"/>
          </a:xfrm>
          <a:prstGeom prst="rect">
            <a:avLst/>
          </a:prstGeom>
          <a:noFill/>
          <a:ln/>
        </p:spPr>
        <p:txBody>
          <a:bodyPr wrap="square" lIns="0" tIns="0" rIns="0" bIns="0" rtlCol="0" anchor="ctr"/>
          <a:lstStyle/>
          <a:p>
            <a:pPr indent="0" marL="0">
              <a:lnSpc>
                <a:spcPts val="6200"/>
              </a:lnSpc>
              <a:buNone/>
            </a:pPr>
            <a:r>
              <a:rPr lang="en-US" sz="5800" dirty="0">
                <a:solidFill>
                  <a:srgbClr val="F6F4EF"/>
                </a:solidFill>
                <a:latin typeface="Cambria" pitchFamily="34" charset="0"/>
                <a:ea typeface="Cambria" pitchFamily="34" charset="-122"/>
                <a:cs typeface="Cambria" pitchFamily="34" charset="-120"/>
              </a:rPr>
              <a:t>November</a:t>
            </a:r>
            <a:endParaRPr lang="en-US" sz="5800" dirty="0"/>
          </a:p>
          <a:p>
            <a:pPr indent="0" marL="0">
              <a:lnSpc>
                <a:spcPts val="6200"/>
              </a:lnSpc>
              <a:buNone/>
            </a:pPr>
            <a:r>
              <a:rPr lang="en-US" sz="5800" dirty="0">
                <a:solidFill>
                  <a:srgbClr val="F6F4EF"/>
                </a:solidFill>
                <a:latin typeface="Cambria" pitchFamily="34" charset="0"/>
                <a:ea typeface="Cambria" pitchFamily="34" charset="-122"/>
                <a:cs typeface="Cambria" pitchFamily="34" charset="-120"/>
              </a:rPr>
              <a:t>Maths Plan</a:t>
            </a:r>
            <a:endParaRPr lang="en-US" sz="5800" dirty="0"/>
          </a:p>
        </p:txBody>
      </p:sp>
      <p:sp>
        <p:nvSpPr>
          <p:cNvPr id="6" name="Text 4"/>
          <p:cNvSpPr txBox="1"/>
          <p:nvPr/>
        </p:nvSpPr>
        <p:spPr>
          <a:xfrm>
            <a:off x="685800" y="3611880"/>
            <a:ext cx="7315200" cy="329184"/>
          </a:xfrm>
          <a:prstGeom prst="rect">
            <a:avLst/>
          </a:prstGeom>
          <a:noFill/>
          <a:ln/>
        </p:spPr>
        <p:txBody>
          <a:bodyPr wrap="square" lIns="0" tIns="0" rIns="0" bIns="0" rtlCol="0" anchor="ctr"/>
          <a:lstStyle/>
          <a:p>
            <a:pPr indent="0" marL="0">
              <a:buNone/>
            </a:pPr>
            <a:r>
              <a:rPr lang="en-US" sz="1500" dirty="0">
                <a:solidFill>
                  <a:srgbClr val="E8E4DA"/>
                </a:solidFill>
                <a:latin typeface="Arial" pitchFamily="34" charset="0"/>
                <a:ea typeface="Arial" pitchFamily="34" charset="-122"/>
                <a:cs typeface="Arial" pitchFamily="34" charset="-120"/>
              </a:rPr>
              <a:t>Edexcel IGCSE Mathematics A (4MA1)  ·  Higher Tier</a:t>
            </a:r>
            <a:endParaRPr lang="en-US" sz="1500" dirty="0"/>
          </a:p>
        </p:txBody>
      </p:sp>
      <p:sp>
        <p:nvSpPr>
          <p:cNvPr id="7" name="Shape 5"/>
          <p:cNvSpPr/>
          <p:nvPr/>
        </p:nvSpPr>
        <p:spPr>
          <a:xfrm>
            <a:off x="685800" y="4224528"/>
            <a:ext cx="2670048" cy="512064"/>
          </a:xfrm>
          <a:prstGeom prst="roundRect">
            <a:avLst>
              <a:gd name="adj" fmla="val 50000"/>
            </a:avLst>
          </a:prstGeom>
          <a:ln w="12700">
            <a:solidFill>
              <a:srgbClr val="C3A965"/>
            </a:solidFill>
            <a:prstDash val="solid"/>
          </a:ln>
        </p:spPr>
      </p:sp>
      <p:sp>
        <p:nvSpPr>
          <p:cNvPr id="8" name="Text 6"/>
          <p:cNvSpPr txBox="1"/>
          <p:nvPr/>
        </p:nvSpPr>
        <p:spPr>
          <a:xfrm>
            <a:off x="685800" y="4224528"/>
            <a:ext cx="2670048" cy="512064"/>
          </a:xfrm>
          <a:prstGeom prst="rect">
            <a:avLst/>
          </a:prstGeom>
          <a:noFill/>
          <a:ln/>
        </p:spPr>
        <p:txBody>
          <a:bodyPr wrap="square" lIns="0" tIns="0" rIns="0" bIns="0" rtlCol="0" anchor="ctr"/>
          <a:lstStyle/>
          <a:p>
            <a:pPr algn="ctr" indent="0" marL="0">
              <a:buNone/>
            </a:pPr>
            <a:r>
              <a:rPr lang="en-US" sz="1000" b="1" spc="160" kern="0" dirty="0">
                <a:solidFill>
                  <a:srgbClr val="C3A965"/>
                </a:solidFill>
                <a:latin typeface="Arial" pitchFamily="34" charset="0"/>
                <a:ea typeface="Arial" pitchFamily="34" charset="-122"/>
                <a:cs typeface="Arial" pitchFamily="34" charset="-120"/>
              </a:rPr>
              <a:t>SIX WEEKS TO PAPER 1</a:t>
            </a:r>
            <a:endParaRPr lang="en-US" sz="1000" dirty="0"/>
          </a:p>
        </p:txBody>
      </p:sp>
      <p:sp>
        <p:nvSpPr>
          <p:cNvPr id="9" name="Text 7"/>
          <p:cNvSpPr txBox="1"/>
          <p:nvPr/>
        </p:nvSpPr>
        <p:spPr>
          <a:xfrm>
            <a:off x="685800" y="5806440"/>
            <a:ext cx="6400800" cy="274320"/>
          </a:xfrm>
          <a:prstGeom prst="rect">
            <a:avLst/>
          </a:prstGeom>
          <a:noFill/>
          <a:ln/>
        </p:spPr>
        <p:txBody>
          <a:bodyPr wrap="square" lIns="0" tIns="0" rIns="0" bIns="0" rtlCol="0" anchor="ctr"/>
          <a:lstStyle/>
          <a:p>
            <a:pPr indent="0" marL="0">
              <a:buNone/>
            </a:pPr>
            <a:r>
              <a:rPr lang="en-US" sz="1100" dirty="0">
                <a:solidFill>
                  <a:srgbClr val="A8B2C2"/>
                </a:solidFill>
                <a:latin typeface="Arial" pitchFamily="34" charset="0"/>
                <a:ea typeface="Arial" pitchFamily="34" charset="-122"/>
                <a:cs typeface="Arial" pitchFamily="34" charset="-120"/>
              </a:rPr>
              <a:t>For Charlotte and her parents  ·  21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EXAMS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Two papers, two days apart</a:t>
            </a:r>
            <a:endParaRPr lang="en-US" sz="3300" dirty="0"/>
          </a:p>
        </p:txBody>
      </p:sp>
      <p:sp>
        <p:nvSpPr>
          <p:cNvPr id="4" name="Shape 2"/>
          <p:cNvSpPr/>
          <p:nvPr/>
        </p:nvSpPr>
        <p:spPr>
          <a:xfrm>
            <a:off x="685800" y="1691640"/>
            <a:ext cx="3246120" cy="2834640"/>
          </a:xfrm>
          <a:prstGeom prst="roundRect">
            <a:avLst>
              <a:gd name="adj" fmla="val 1290"/>
            </a:avLst>
          </a:prstGeom>
          <a:solidFill>
            <a:srgbClr val="162947"/>
          </a:solidFill>
          <a:ln/>
        </p:spPr>
      </p:sp>
      <p:sp>
        <p:nvSpPr>
          <p:cNvPr id="5" name="Text 3"/>
          <p:cNvSpPr txBox="1"/>
          <p:nvPr/>
        </p:nvSpPr>
        <p:spPr>
          <a:xfrm>
            <a:off x="685800" y="1874520"/>
            <a:ext cx="3246120" cy="1143000"/>
          </a:xfrm>
          <a:prstGeom prst="rect">
            <a:avLst/>
          </a:prstGeom>
          <a:noFill/>
          <a:ln/>
        </p:spPr>
        <p:txBody>
          <a:bodyPr wrap="square" lIns="0" tIns="0" rIns="0" bIns="0" rtlCol="0" anchor="ctr"/>
          <a:lstStyle/>
          <a:p>
            <a:pPr algn="ctr" indent="0" marL="0">
              <a:buNone/>
            </a:pPr>
            <a:r>
              <a:rPr lang="en-US" sz="7600" dirty="0">
                <a:solidFill>
                  <a:srgbClr val="C3A965"/>
                </a:solidFill>
                <a:latin typeface="Cambria" pitchFamily="34" charset="0"/>
                <a:ea typeface="Cambria" pitchFamily="34" charset="-122"/>
                <a:cs typeface="Cambria" pitchFamily="34" charset="-120"/>
              </a:rPr>
              <a:t>44</a:t>
            </a:r>
            <a:endParaRPr lang="en-US" sz="7600" dirty="0"/>
          </a:p>
        </p:txBody>
      </p:sp>
      <p:sp>
        <p:nvSpPr>
          <p:cNvPr id="6" name="Text 4"/>
          <p:cNvSpPr txBox="1"/>
          <p:nvPr/>
        </p:nvSpPr>
        <p:spPr>
          <a:xfrm>
            <a:off x="685800" y="3017520"/>
            <a:ext cx="3246120" cy="274320"/>
          </a:xfrm>
          <a:prstGeom prst="rect">
            <a:avLst/>
          </a:prstGeom>
          <a:noFill/>
          <a:ln/>
        </p:spPr>
        <p:txBody>
          <a:bodyPr wrap="square" lIns="0" tIns="0" rIns="0" bIns="0" rtlCol="0" anchor="ctr"/>
          <a:lstStyle/>
          <a:p>
            <a:pPr algn="ctr" indent="0" marL="0">
              <a:buNone/>
            </a:pPr>
            <a:r>
              <a:rPr lang="en-US" sz="1300" b="1" dirty="0">
                <a:solidFill>
                  <a:srgbClr val="F6F4EF"/>
                </a:solidFill>
                <a:latin typeface="Arial" pitchFamily="34" charset="0"/>
                <a:ea typeface="Arial" pitchFamily="34" charset="-122"/>
                <a:cs typeface="Arial" pitchFamily="34" charset="-120"/>
              </a:rPr>
              <a:t>days until Paper 1</a:t>
            </a:r>
            <a:endParaRPr lang="en-US" sz="1300" dirty="0"/>
          </a:p>
        </p:txBody>
      </p:sp>
      <p:sp>
        <p:nvSpPr>
          <p:cNvPr id="7" name="Text 5"/>
          <p:cNvSpPr txBox="1"/>
          <p:nvPr/>
        </p:nvSpPr>
        <p:spPr>
          <a:xfrm>
            <a:off x="685800" y="3401568"/>
            <a:ext cx="3246120" cy="640080"/>
          </a:xfrm>
          <a:prstGeom prst="rect">
            <a:avLst/>
          </a:prstGeom>
          <a:noFill/>
          <a:ln/>
        </p:spPr>
        <p:txBody>
          <a:bodyPr wrap="square" lIns="0" tIns="0" rIns="0" bIns="0" rtlCol="0" anchor="ctr"/>
          <a:lstStyle/>
          <a:p>
            <a:pPr algn="ctr" indent="0" marL="0">
              <a:lnSpc>
                <a:spcPts val="1600"/>
              </a:lnSpc>
              <a:buNone/>
            </a:pPr>
            <a:r>
              <a:rPr lang="en-US" sz="1100" dirty="0">
                <a:solidFill>
                  <a:srgbClr val="A8B2C2"/>
                </a:solidFill>
                <a:latin typeface="Arial" pitchFamily="34" charset="0"/>
                <a:ea typeface="Arial" pitchFamily="34" charset="-122"/>
                <a:cs typeface="Arial" pitchFamily="34" charset="-120"/>
              </a:rPr>
              <a:t>Six teaching weeks</a:t>
            </a:r>
            <a:endParaRPr lang="en-US" sz="1100" dirty="0"/>
          </a:p>
          <a:p>
            <a:pPr algn="ctr" indent="0" marL="0">
              <a:lnSpc>
                <a:spcPts val="1600"/>
              </a:lnSpc>
              <a:buNone/>
            </a:pPr>
            <a:r>
              <a:rPr lang="en-US" sz="1100" dirty="0">
                <a:solidFill>
                  <a:srgbClr val="A8B2C2"/>
                </a:solidFill>
                <a:latin typeface="Arial" pitchFamily="34" charset="0"/>
                <a:ea typeface="Arial" pitchFamily="34" charset="-122"/>
                <a:cs typeface="Arial" pitchFamily="34" charset="-120"/>
              </a:rPr>
              <a:t>and two days</a:t>
            </a:r>
            <a:endParaRPr lang="en-US" sz="1100" dirty="0"/>
          </a:p>
        </p:txBody>
      </p:sp>
      <p:sp>
        <p:nvSpPr>
          <p:cNvPr id="8" name="Shape 6"/>
          <p:cNvSpPr/>
          <p:nvPr/>
        </p:nvSpPr>
        <p:spPr>
          <a:xfrm>
            <a:off x="4343400" y="1691640"/>
            <a:ext cx="7159752" cy="1298448"/>
          </a:xfrm>
          <a:prstGeom prst="roundRect">
            <a:avLst>
              <a:gd name="adj" fmla="val 2817"/>
            </a:avLst>
          </a:prstGeom>
          <a:solidFill>
            <a:srgbClr val="FFFFFF"/>
          </a:solidFill>
          <a:ln w="9525">
            <a:solidFill>
              <a:srgbClr val="E3DFD5"/>
            </a:solidFill>
            <a:prstDash val="solid"/>
          </a:ln>
        </p:spPr>
      </p:sp>
      <p:sp>
        <p:nvSpPr>
          <p:cNvPr id="9" name="Text 7"/>
          <p:cNvSpPr txBox="1"/>
          <p:nvPr/>
        </p:nvSpPr>
        <p:spPr>
          <a:xfrm>
            <a:off x="4663440" y="1911096"/>
            <a:ext cx="1920240" cy="329184"/>
          </a:xfrm>
          <a:prstGeom prst="rect">
            <a:avLst/>
          </a:prstGeom>
          <a:noFill/>
          <a:ln/>
        </p:spPr>
        <p:txBody>
          <a:bodyPr wrap="square" lIns="0" tIns="0" rIns="0" bIns="0" rtlCol="0" anchor="ctr"/>
          <a:lstStyle/>
          <a:p>
            <a:pPr indent="0" marL="0">
              <a:buNone/>
            </a:pPr>
            <a:r>
              <a:rPr lang="en-US" sz="2000" dirty="0">
                <a:solidFill>
                  <a:srgbClr val="C3A965"/>
                </a:solidFill>
                <a:latin typeface="Cambria" pitchFamily="34" charset="0"/>
                <a:ea typeface="Cambria" pitchFamily="34" charset="-122"/>
                <a:cs typeface="Cambria" pitchFamily="34" charset="-120"/>
              </a:rPr>
              <a:t>Wed 4 Nov</a:t>
            </a:r>
            <a:endParaRPr lang="en-US" sz="2000" dirty="0"/>
          </a:p>
        </p:txBody>
      </p:sp>
      <p:sp>
        <p:nvSpPr>
          <p:cNvPr id="10" name="Text 8"/>
          <p:cNvSpPr txBox="1"/>
          <p:nvPr/>
        </p:nvSpPr>
        <p:spPr>
          <a:xfrm>
            <a:off x="6492240" y="1947672"/>
            <a:ext cx="2011680" cy="292608"/>
          </a:xfrm>
          <a:prstGeom prst="rect">
            <a:avLst/>
          </a:prstGeom>
          <a:noFill/>
          <a:ln/>
        </p:spPr>
        <p:txBody>
          <a:bodyPr wrap="square" lIns="0" tIns="0" rIns="0" bIns="0" rtlCol="0" anchor="ctr"/>
          <a:lstStyle/>
          <a:p>
            <a:pPr indent="0" marL="0">
              <a:buNone/>
            </a:pPr>
            <a:r>
              <a:rPr lang="en-US" sz="1500" b="1" dirty="0">
                <a:solidFill>
                  <a:srgbClr val="162947"/>
                </a:solidFill>
                <a:latin typeface="Arial" pitchFamily="34" charset="0"/>
                <a:ea typeface="Arial" pitchFamily="34" charset="-122"/>
                <a:cs typeface="Arial" pitchFamily="34" charset="-120"/>
              </a:rPr>
              <a:t>Paper 1H</a:t>
            </a:r>
            <a:endParaRPr lang="en-US" sz="1500" dirty="0"/>
          </a:p>
        </p:txBody>
      </p:sp>
      <p:sp>
        <p:nvSpPr>
          <p:cNvPr id="11" name="Text 9"/>
          <p:cNvSpPr txBox="1"/>
          <p:nvPr/>
        </p:nvSpPr>
        <p:spPr>
          <a:xfrm>
            <a:off x="4663440" y="2404872"/>
            <a:ext cx="6492240" cy="274320"/>
          </a:xfrm>
          <a:prstGeom prst="rect">
            <a:avLst/>
          </a:prstGeom>
          <a:noFill/>
          <a:ln/>
        </p:spPr>
        <p:txBody>
          <a:bodyPr wrap="square" lIns="0" tIns="0" rIns="0" bIns="0" rtlCol="0" anchor="ctr"/>
          <a:lstStyle/>
          <a:p>
            <a:pPr indent="0" marL="0">
              <a:buNone/>
            </a:pPr>
            <a:r>
              <a:rPr lang="en-US" sz="1150" dirty="0">
                <a:solidFill>
                  <a:srgbClr val="5D6471"/>
                </a:solidFill>
                <a:latin typeface="Arial" pitchFamily="34" charset="0"/>
                <a:ea typeface="Arial" pitchFamily="34" charset="-122"/>
                <a:cs typeface="Arial" pitchFamily="34" charset="-120"/>
              </a:rPr>
              <a:t>Morning  ·  2 hours  ·  100 marks  ·  calculator</a:t>
            </a:r>
            <a:endParaRPr lang="en-US" sz="1150" dirty="0"/>
          </a:p>
        </p:txBody>
      </p:sp>
      <p:sp>
        <p:nvSpPr>
          <p:cNvPr id="12" name="Shape 10"/>
          <p:cNvSpPr/>
          <p:nvPr/>
        </p:nvSpPr>
        <p:spPr>
          <a:xfrm>
            <a:off x="4343400" y="3172968"/>
            <a:ext cx="7159752" cy="1298448"/>
          </a:xfrm>
          <a:prstGeom prst="roundRect">
            <a:avLst>
              <a:gd name="adj" fmla="val 2817"/>
            </a:avLst>
          </a:prstGeom>
          <a:solidFill>
            <a:srgbClr val="FFFFFF"/>
          </a:solidFill>
          <a:ln w="9525">
            <a:solidFill>
              <a:srgbClr val="E3DFD5"/>
            </a:solidFill>
            <a:prstDash val="solid"/>
          </a:ln>
        </p:spPr>
      </p:sp>
      <p:sp>
        <p:nvSpPr>
          <p:cNvPr id="13" name="Text 11"/>
          <p:cNvSpPr txBox="1"/>
          <p:nvPr/>
        </p:nvSpPr>
        <p:spPr>
          <a:xfrm>
            <a:off x="4663440" y="3392424"/>
            <a:ext cx="1920240" cy="329184"/>
          </a:xfrm>
          <a:prstGeom prst="rect">
            <a:avLst/>
          </a:prstGeom>
          <a:noFill/>
          <a:ln/>
        </p:spPr>
        <p:txBody>
          <a:bodyPr wrap="square" lIns="0" tIns="0" rIns="0" bIns="0" rtlCol="0" anchor="ctr"/>
          <a:lstStyle/>
          <a:p>
            <a:pPr indent="0" marL="0">
              <a:buNone/>
            </a:pPr>
            <a:r>
              <a:rPr lang="en-US" sz="2000" dirty="0">
                <a:solidFill>
                  <a:srgbClr val="C3A965"/>
                </a:solidFill>
                <a:latin typeface="Cambria" pitchFamily="34" charset="0"/>
                <a:ea typeface="Cambria" pitchFamily="34" charset="-122"/>
                <a:cs typeface="Cambria" pitchFamily="34" charset="-120"/>
              </a:rPr>
              <a:t>Fri 6 Nov</a:t>
            </a:r>
            <a:endParaRPr lang="en-US" sz="2000" dirty="0"/>
          </a:p>
        </p:txBody>
      </p:sp>
      <p:sp>
        <p:nvSpPr>
          <p:cNvPr id="14" name="Text 12"/>
          <p:cNvSpPr txBox="1"/>
          <p:nvPr/>
        </p:nvSpPr>
        <p:spPr>
          <a:xfrm>
            <a:off x="6492240" y="3429000"/>
            <a:ext cx="2011680" cy="292608"/>
          </a:xfrm>
          <a:prstGeom prst="rect">
            <a:avLst/>
          </a:prstGeom>
          <a:noFill/>
          <a:ln/>
        </p:spPr>
        <p:txBody>
          <a:bodyPr wrap="square" lIns="0" tIns="0" rIns="0" bIns="0" rtlCol="0" anchor="ctr"/>
          <a:lstStyle/>
          <a:p>
            <a:pPr indent="0" marL="0">
              <a:buNone/>
            </a:pPr>
            <a:r>
              <a:rPr lang="en-US" sz="1500" b="1" dirty="0">
                <a:solidFill>
                  <a:srgbClr val="162947"/>
                </a:solidFill>
                <a:latin typeface="Arial" pitchFamily="34" charset="0"/>
                <a:ea typeface="Arial" pitchFamily="34" charset="-122"/>
                <a:cs typeface="Arial" pitchFamily="34" charset="-120"/>
              </a:rPr>
              <a:t>Paper 2H</a:t>
            </a:r>
            <a:endParaRPr lang="en-US" sz="1500" dirty="0"/>
          </a:p>
        </p:txBody>
      </p:sp>
      <p:sp>
        <p:nvSpPr>
          <p:cNvPr id="15" name="Text 13"/>
          <p:cNvSpPr txBox="1"/>
          <p:nvPr/>
        </p:nvSpPr>
        <p:spPr>
          <a:xfrm>
            <a:off x="4663440" y="3886200"/>
            <a:ext cx="6492240" cy="274320"/>
          </a:xfrm>
          <a:prstGeom prst="rect">
            <a:avLst/>
          </a:prstGeom>
          <a:noFill/>
          <a:ln/>
        </p:spPr>
        <p:txBody>
          <a:bodyPr wrap="square" lIns="0" tIns="0" rIns="0" bIns="0" rtlCol="0" anchor="ctr"/>
          <a:lstStyle/>
          <a:p>
            <a:pPr indent="0" marL="0">
              <a:buNone/>
            </a:pPr>
            <a:r>
              <a:rPr lang="en-US" sz="1150" dirty="0">
                <a:solidFill>
                  <a:srgbClr val="5D6471"/>
                </a:solidFill>
                <a:latin typeface="Arial" pitchFamily="34" charset="0"/>
                <a:ea typeface="Arial" pitchFamily="34" charset="-122"/>
                <a:cs typeface="Arial" pitchFamily="34" charset="-120"/>
              </a:rPr>
              <a:t>Morning  ·  2 hours  ·  100 marks  ·  calculator</a:t>
            </a:r>
            <a:endParaRPr lang="en-US" sz="1150" dirty="0"/>
          </a:p>
        </p:txBody>
      </p:sp>
      <p:sp>
        <p:nvSpPr>
          <p:cNvPr id="16" name="Shape 14"/>
          <p:cNvSpPr/>
          <p:nvPr/>
        </p:nvSpPr>
        <p:spPr>
          <a:xfrm>
            <a:off x="685800" y="4800600"/>
            <a:ext cx="10817352" cy="1325880"/>
          </a:xfrm>
          <a:prstGeom prst="roundRect">
            <a:avLst>
              <a:gd name="adj" fmla="val 2759"/>
            </a:avLst>
          </a:prstGeom>
          <a:solidFill>
            <a:srgbClr val="EFEBE1"/>
          </a:solidFill>
          <a:ln/>
        </p:spPr>
      </p:sp>
      <p:sp>
        <p:nvSpPr>
          <p:cNvPr id="17" name="Text 15"/>
          <p:cNvSpPr txBox="1"/>
          <p:nvPr/>
        </p:nvSpPr>
        <p:spPr>
          <a:xfrm>
            <a:off x="960120" y="5029200"/>
            <a:ext cx="10241280" cy="274320"/>
          </a:xfrm>
          <a:prstGeom prst="rect">
            <a:avLst/>
          </a:prstGeom>
          <a:noFill/>
          <a:ln/>
        </p:spPr>
        <p:txBody>
          <a:bodyPr wrap="square" lIns="0" tIns="0" rIns="0" bIns="0" rtlCol="0" anchor="ctr"/>
          <a:lstStyle/>
          <a:p>
            <a:pPr indent="0" marL="0">
              <a:buNone/>
            </a:pPr>
            <a:r>
              <a:rPr lang="en-US" sz="1300" b="1" dirty="0">
                <a:solidFill>
                  <a:srgbClr val="162947"/>
                </a:solidFill>
                <a:latin typeface="Arial" pitchFamily="34" charset="0"/>
                <a:ea typeface="Arial" pitchFamily="34" charset="-122"/>
                <a:cs typeface="Arial" pitchFamily="34" charset="-120"/>
              </a:rPr>
              <a:t>Both papers allow a calculator, and both draw on the whole course.</a:t>
            </a:r>
            <a:endParaRPr lang="en-US" sz="1300" dirty="0"/>
          </a:p>
        </p:txBody>
      </p:sp>
      <p:sp>
        <p:nvSpPr>
          <p:cNvPr id="18" name="Text 16"/>
          <p:cNvSpPr txBox="1"/>
          <p:nvPr/>
        </p:nvSpPr>
        <p:spPr>
          <a:xfrm>
            <a:off x="960120" y="5358384"/>
            <a:ext cx="10241280" cy="548640"/>
          </a:xfrm>
          <a:prstGeom prst="rect">
            <a:avLst/>
          </a:prstGeom>
          <a:noFill/>
          <a:ln/>
        </p:spPr>
        <p:txBody>
          <a:bodyPr wrap="square" lIns="0" tIns="0" rIns="0" bIns="0" rtlCol="0" anchor="t"/>
          <a:lstStyle/>
          <a:p>
            <a:pPr indent="0" marL="0">
              <a:lnSpc>
                <a:spcPts val="1600"/>
              </a:lnSpc>
              <a:buNone/>
            </a:pPr>
            <a:r>
              <a:rPr lang="en-US" sz="1150" dirty="0">
                <a:solidFill>
                  <a:srgbClr val="5D6471"/>
                </a:solidFill>
                <a:latin typeface="Arial" pitchFamily="34" charset="0"/>
                <a:ea typeface="Arial" pitchFamily="34" charset="-122"/>
                <a:cs typeface="Arial" pitchFamily="34" charset="-120"/>
              </a:rPr>
              <a:t>Calculator technique is covered in the next session and checked before every timed piece of work. A topic that appears on Paper 1 is likely to appear again on Paper 2.</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TARGET</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The number we are working to</a:t>
            </a:r>
            <a:endParaRPr lang="en-US" sz="3300" dirty="0"/>
          </a:p>
        </p:txBody>
      </p:sp>
      <p:sp>
        <p:nvSpPr>
          <p:cNvPr id="4" name="Shape 2"/>
          <p:cNvSpPr/>
          <p:nvPr/>
        </p:nvSpPr>
        <p:spPr>
          <a:xfrm>
            <a:off x="685800" y="1691640"/>
            <a:ext cx="3566160" cy="3794760"/>
          </a:xfrm>
          <a:prstGeom prst="roundRect">
            <a:avLst>
              <a:gd name="adj" fmla="val 1026"/>
            </a:avLst>
          </a:prstGeom>
          <a:solidFill>
            <a:srgbClr val="162947"/>
          </a:solidFill>
          <a:ln/>
        </p:spPr>
      </p:sp>
      <p:sp>
        <p:nvSpPr>
          <p:cNvPr id="5" name="Text 3"/>
          <p:cNvSpPr txBox="1"/>
          <p:nvPr/>
        </p:nvSpPr>
        <p:spPr>
          <a:xfrm>
            <a:off x="685800" y="1965960"/>
            <a:ext cx="3566160" cy="1280160"/>
          </a:xfrm>
          <a:prstGeom prst="rect">
            <a:avLst/>
          </a:prstGeom>
          <a:noFill/>
          <a:ln/>
        </p:spPr>
        <p:txBody>
          <a:bodyPr wrap="square" lIns="0" tIns="0" rIns="0" bIns="0" rtlCol="0" anchor="ctr"/>
          <a:lstStyle/>
          <a:p>
            <a:pPr algn="ctr" indent="0" marL="0">
              <a:buNone/>
            </a:pPr>
            <a:r>
              <a:rPr lang="en-US" sz="8600" dirty="0">
                <a:solidFill>
                  <a:srgbClr val="C3A965"/>
                </a:solidFill>
                <a:latin typeface="Cambria" pitchFamily="34" charset="0"/>
                <a:ea typeface="Cambria" pitchFamily="34" charset="-122"/>
                <a:cs typeface="Cambria" pitchFamily="34" charset="-120"/>
              </a:rPr>
              <a:t>65</a:t>
            </a:r>
            <a:endParaRPr lang="en-US" sz="8600" dirty="0"/>
          </a:p>
        </p:txBody>
      </p:sp>
      <p:sp>
        <p:nvSpPr>
          <p:cNvPr id="6" name="Text 4"/>
          <p:cNvSpPr txBox="1"/>
          <p:nvPr/>
        </p:nvSpPr>
        <p:spPr>
          <a:xfrm>
            <a:off x="685800" y="3291840"/>
            <a:ext cx="3566160" cy="274320"/>
          </a:xfrm>
          <a:prstGeom prst="rect">
            <a:avLst/>
          </a:prstGeom>
          <a:noFill/>
          <a:ln/>
        </p:spPr>
        <p:txBody>
          <a:bodyPr wrap="square" lIns="0" tIns="0" rIns="0" bIns="0" rtlCol="0" anchor="ctr"/>
          <a:lstStyle/>
          <a:p>
            <a:pPr algn="ctr" indent="0" marL="0">
              <a:buNone/>
            </a:pPr>
            <a:r>
              <a:rPr lang="en-US" sz="1400" b="1" dirty="0">
                <a:solidFill>
                  <a:srgbClr val="F6F4EF"/>
                </a:solidFill>
                <a:latin typeface="Arial" pitchFamily="34" charset="0"/>
                <a:ea typeface="Arial" pitchFamily="34" charset="-122"/>
                <a:cs typeface="Arial" pitchFamily="34" charset="-120"/>
              </a:rPr>
              <a:t>marks out of 200</a:t>
            </a:r>
            <a:endParaRPr lang="en-US" sz="1400" dirty="0"/>
          </a:p>
        </p:txBody>
      </p:sp>
      <p:sp>
        <p:nvSpPr>
          <p:cNvPr id="7" name="Text 5"/>
          <p:cNvSpPr txBox="1"/>
          <p:nvPr/>
        </p:nvSpPr>
        <p:spPr>
          <a:xfrm>
            <a:off x="1005840" y="3794760"/>
            <a:ext cx="2926080" cy="1371600"/>
          </a:xfrm>
          <a:prstGeom prst="rect">
            <a:avLst/>
          </a:prstGeom>
          <a:noFill/>
          <a:ln/>
        </p:spPr>
        <p:txBody>
          <a:bodyPr wrap="square" lIns="0" tIns="0" rIns="0" bIns="0" rtlCol="0" anchor="t"/>
          <a:lstStyle/>
          <a:p>
            <a:pPr indent="0" marL="0">
              <a:lnSpc>
                <a:spcPts val="1650"/>
              </a:lnSpc>
              <a:buNone/>
            </a:pPr>
            <a:r>
              <a:rPr lang="en-US" sz="1150" dirty="0">
                <a:solidFill>
                  <a:srgbClr val="A8B2C2"/>
                </a:solidFill>
                <a:latin typeface="Arial" pitchFamily="34" charset="0"/>
                <a:ea typeface="Arial" pitchFamily="34" charset="-122"/>
                <a:cs typeface="Arial" pitchFamily="34" charset="-120"/>
              </a:rPr>
              <a:t>The grade 5 boundary on Higher tier in November 2025, just under a third of the paper. Boundaries shift each series, so we treat this as a guide.</a:t>
            </a:r>
            <a:endParaRPr lang="en-US" sz="1150" dirty="0"/>
          </a:p>
        </p:txBody>
      </p:sp>
      <p:sp>
        <p:nvSpPr>
          <p:cNvPr id="8" name="Shape 6"/>
          <p:cNvSpPr/>
          <p:nvPr/>
        </p:nvSpPr>
        <p:spPr>
          <a:xfrm>
            <a:off x="4617720" y="1691640"/>
            <a:ext cx="6885432" cy="420624"/>
          </a:xfrm>
          <a:prstGeom prst="rect">
            <a:avLst/>
          </a:prstGeom>
          <a:solidFill>
            <a:srgbClr val="162947"/>
          </a:solidFill>
          <a:ln/>
        </p:spPr>
      </p:sp>
      <p:sp>
        <p:nvSpPr>
          <p:cNvPr id="9" name="Text 7"/>
          <p:cNvSpPr txBox="1"/>
          <p:nvPr/>
        </p:nvSpPr>
        <p:spPr>
          <a:xfrm>
            <a:off x="4818888" y="1691640"/>
            <a:ext cx="2459736" cy="420624"/>
          </a:xfrm>
          <a:prstGeom prst="rect">
            <a:avLst/>
          </a:prstGeom>
          <a:noFill/>
          <a:ln/>
        </p:spPr>
        <p:txBody>
          <a:bodyPr wrap="square" lIns="0" tIns="0" rIns="0" bIns="0" rtlCol="0" anchor="ctr"/>
          <a:lstStyle/>
          <a:p>
            <a:pPr algn="l" indent="0" marL="0">
              <a:buNone/>
            </a:pPr>
            <a:r>
              <a:rPr lang="en-US" sz="1150" b="1" spc="60" kern="0" dirty="0">
                <a:solidFill>
                  <a:srgbClr val="F6F4EF"/>
                </a:solidFill>
                <a:latin typeface="Arial" pitchFamily="34" charset="0"/>
                <a:ea typeface="Arial" pitchFamily="34" charset="-122"/>
                <a:cs typeface="Arial" pitchFamily="34" charset="-120"/>
              </a:rPr>
              <a:t>Grade</a:t>
            </a:r>
            <a:endParaRPr lang="en-US" sz="1150" dirty="0"/>
          </a:p>
        </p:txBody>
      </p:sp>
      <p:sp>
        <p:nvSpPr>
          <p:cNvPr id="10" name="Text 8"/>
          <p:cNvSpPr txBox="1"/>
          <p:nvPr/>
        </p:nvSpPr>
        <p:spPr>
          <a:xfrm>
            <a:off x="7680960" y="1691640"/>
            <a:ext cx="1609344" cy="420624"/>
          </a:xfrm>
          <a:prstGeom prst="rect">
            <a:avLst/>
          </a:prstGeom>
          <a:noFill/>
          <a:ln/>
        </p:spPr>
        <p:txBody>
          <a:bodyPr wrap="square" lIns="0" tIns="0" rIns="0" bIns="0" rtlCol="0" anchor="ctr"/>
          <a:lstStyle/>
          <a:p>
            <a:pPr algn="ctr" indent="0" marL="0">
              <a:buNone/>
            </a:pPr>
            <a:r>
              <a:rPr lang="en-US" sz="1150" b="1" spc="60" kern="0" dirty="0">
                <a:solidFill>
                  <a:srgbClr val="F6F4EF"/>
                </a:solidFill>
                <a:latin typeface="Arial" pitchFamily="34" charset="0"/>
                <a:ea typeface="Arial" pitchFamily="34" charset="-122"/>
                <a:cs typeface="Arial" pitchFamily="34" charset="-120"/>
              </a:rPr>
              <a:t>Marks needed</a:t>
            </a:r>
            <a:endParaRPr lang="en-US" sz="1150" dirty="0"/>
          </a:p>
        </p:txBody>
      </p:sp>
      <p:sp>
        <p:nvSpPr>
          <p:cNvPr id="11" name="Text 9"/>
          <p:cNvSpPr txBox="1"/>
          <p:nvPr/>
        </p:nvSpPr>
        <p:spPr>
          <a:xfrm>
            <a:off x="9692640" y="1691640"/>
            <a:ext cx="1609344" cy="420624"/>
          </a:xfrm>
          <a:prstGeom prst="rect">
            <a:avLst/>
          </a:prstGeom>
          <a:noFill/>
          <a:ln/>
        </p:spPr>
        <p:txBody>
          <a:bodyPr wrap="square" lIns="0" tIns="0" rIns="0" bIns="0" rtlCol="0" anchor="ctr"/>
          <a:lstStyle/>
          <a:p>
            <a:pPr algn="ctr" indent="0" marL="0">
              <a:buNone/>
            </a:pPr>
            <a:r>
              <a:rPr lang="en-US" sz="1150" b="1" spc="60" kern="0" dirty="0">
                <a:solidFill>
                  <a:srgbClr val="F6F4EF"/>
                </a:solidFill>
                <a:latin typeface="Arial" pitchFamily="34" charset="0"/>
                <a:ea typeface="Arial" pitchFamily="34" charset="-122"/>
                <a:cs typeface="Arial" pitchFamily="34" charset="-120"/>
              </a:rPr>
              <a:t>Share of total</a:t>
            </a:r>
            <a:endParaRPr lang="en-US" sz="1150" dirty="0"/>
          </a:p>
        </p:txBody>
      </p:sp>
      <p:sp>
        <p:nvSpPr>
          <p:cNvPr id="12" name="Shape 10"/>
          <p:cNvSpPr/>
          <p:nvPr/>
        </p:nvSpPr>
        <p:spPr>
          <a:xfrm>
            <a:off x="4617720" y="2112264"/>
            <a:ext cx="6885432" cy="420624"/>
          </a:xfrm>
          <a:prstGeom prst="rect">
            <a:avLst/>
          </a:prstGeom>
          <a:solidFill>
            <a:srgbClr val="FFFFFF"/>
          </a:solidFill>
          <a:ln w="7620">
            <a:solidFill>
              <a:srgbClr val="E3DFD5"/>
            </a:solidFill>
            <a:prstDash val="solid"/>
          </a:ln>
        </p:spPr>
      </p:sp>
      <p:sp>
        <p:nvSpPr>
          <p:cNvPr id="13" name="Text 11"/>
          <p:cNvSpPr txBox="1"/>
          <p:nvPr/>
        </p:nvSpPr>
        <p:spPr>
          <a:xfrm>
            <a:off x="4818888" y="2112264"/>
            <a:ext cx="2459736" cy="420624"/>
          </a:xfrm>
          <a:prstGeom prst="rect">
            <a:avLst/>
          </a:prstGeom>
          <a:noFill/>
          <a:ln/>
        </p:spPr>
        <p:txBody>
          <a:bodyPr wrap="square" lIns="0" tIns="0" rIns="0" bIns="0" rtlCol="0" anchor="ctr"/>
          <a:lstStyle/>
          <a:p>
            <a:pPr algn="l" indent="0" marL="0">
              <a:buNone/>
            </a:pPr>
            <a:r>
              <a:rPr lang="en-US" sz="1250" dirty="0">
                <a:solidFill>
                  <a:srgbClr val="5D6471"/>
                </a:solidFill>
                <a:latin typeface="Arial" pitchFamily="34" charset="0"/>
                <a:ea typeface="Arial" pitchFamily="34" charset="-122"/>
                <a:cs typeface="Arial" pitchFamily="34" charset="-120"/>
              </a:rPr>
              <a:t>Grade 6</a:t>
            </a:r>
            <a:endParaRPr lang="en-US" sz="1250" dirty="0"/>
          </a:p>
        </p:txBody>
      </p:sp>
      <p:sp>
        <p:nvSpPr>
          <p:cNvPr id="14" name="Text 12"/>
          <p:cNvSpPr txBox="1"/>
          <p:nvPr/>
        </p:nvSpPr>
        <p:spPr>
          <a:xfrm>
            <a:off x="7680960" y="2112264"/>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86 / 200</a:t>
            </a:r>
            <a:endParaRPr lang="en-US" sz="1250" dirty="0"/>
          </a:p>
        </p:txBody>
      </p:sp>
      <p:sp>
        <p:nvSpPr>
          <p:cNvPr id="15" name="Text 13"/>
          <p:cNvSpPr txBox="1"/>
          <p:nvPr/>
        </p:nvSpPr>
        <p:spPr>
          <a:xfrm>
            <a:off x="9692640" y="2112264"/>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43%</a:t>
            </a:r>
            <a:endParaRPr lang="en-US" sz="1250" dirty="0"/>
          </a:p>
        </p:txBody>
      </p:sp>
      <p:sp>
        <p:nvSpPr>
          <p:cNvPr id="16" name="Shape 14"/>
          <p:cNvSpPr/>
          <p:nvPr/>
        </p:nvSpPr>
        <p:spPr>
          <a:xfrm>
            <a:off x="4617720" y="2532888"/>
            <a:ext cx="6885432" cy="420624"/>
          </a:xfrm>
          <a:prstGeom prst="rect">
            <a:avLst/>
          </a:prstGeom>
          <a:solidFill>
            <a:srgbClr val="EFEBE1"/>
          </a:solidFill>
          <a:ln w="7620">
            <a:solidFill>
              <a:srgbClr val="E3DFD5"/>
            </a:solidFill>
            <a:prstDash val="solid"/>
          </a:ln>
        </p:spPr>
      </p:sp>
      <p:sp>
        <p:nvSpPr>
          <p:cNvPr id="17" name="Text 15"/>
          <p:cNvSpPr txBox="1"/>
          <p:nvPr/>
        </p:nvSpPr>
        <p:spPr>
          <a:xfrm>
            <a:off x="4818888" y="2532888"/>
            <a:ext cx="2459736" cy="420624"/>
          </a:xfrm>
          <a:prstGeom prst="rect">
            <a:avLst/>
          </a:prstGeom>
          <a:noFill/>
          <a:ln/>
        </p:spPr>
        <p:txBody>
          <a:bodyPr wrap="square" lIns="0" tIns="0" rIns="0" bIns="0" rtlCol="0" anchor="ctr"/>
          <a:lstStyle/>
          <a:p>
            <a:pPr algn="l" indent="0" marL="0">
              <a:buNone/>
            </a:pPr>
            <a:r>
              <a:rPr lang="en-US" sz="1250" b="1" dirty="0">
                <a:solidFill>
                  <a:srgbClr val="162947"/>
                </a:solidFill>
                <a:latin typeface="Arial" pitchFamily="34" charset="0"/>
                <a:ea typeface="Arial" pitchFamily="34" charset="-122"/>
                <a:cs typeface="Arial" pitchFamily="34" charset="-120"/>
              </a:rPr>
              <a:t>Grade 5</a:t>
            </a:r>
            <a:endParaRPr lang="en-US" sz="1250" dirty="0"/>
          </a:p>
        </p:txBody>
      </p:sp>
      <p:sp>
        <p:nvSpPr>
          <p:cNvPr id="18" name="Text 16"/>
          <p:cNvSpPr txBox="1"/>
          <p:nvPr/>
        </p:nvSpPr>
        <p:spPr>
          <a:xfrm>
            <a:off x="7680960" y="2532888"/>
            <a:ext cx="1609344" cy="420624"/>
          </a:xfrm>
          <a:prstGeom prst="rect">
            <a:avLst/>
          </a:prstGeom>
          <a:noFill/>
          <a:ln/>
        </p:spPr>
        <p:txBody>
          <a:bodyPr wrap="square" lIns="0" tIns="0" rIns="0" bIns="0" rtlCol="0" anchor="ctr"/>
          <a:lstStyle/>
          <a:p>
            <a:pPr algn="ctr" indent="0" marL="0">
              <a:buNone/>
            </a:pPr>
            <a:r>
              <a:rPr lang="en-US" sz="1250" b="1" dirty="0">
                <a:solidFill>
                  <a:srgbClr val="162947"/>
                </a:solidFill>
                <a:latin typeface="Arial" pitchFamily="34" charset="0"/>
                <a:ea typeface="Arial" pitchFamily="34" charset="-122"/>
                <a:cs typeface="Arial" pitchFamily="34" charset="-120"/>
              </a:rPr>
              <a:t>65 / 200</a:t>
            </a:r>
            <a:endParaRPr lang="en-US" sz="1250" dirty="0"/>
          </a:p>
        </p:txBody>
      </p:sp>
      <p:sp>
        <p:nvSpPr>
          <p:cNvPr id="19" name="Text 17"/>
          <p:cNvSpPr txBox="1"/>
          <p:nvPr/>
        </p:nvSpPr>
        <p:spPr>
          <a:xfrm>
            <a:off x="9692640" y="2532888"/>
            <a:ext cx="1609344" cy="420624"/>
          </a:xfrm>
          <a:prstGeom prst="rect">
            <a:avLst/>
          </a:prstGeom>
          <a:noFill/>
          <a:ln/>
        </p:spPr>
        <p:txBody>
          <a:bodyPr wrap="square" lIns="0" tIns="0" rIns="0" bIns="0" rtlCol="0" anchor="ctr"/>
          <a:lstStyle/>
          <a:p>
            <a:pPr algn="ctr" indent="0" marL="0">
              <a:buNone/>
            </a:pPr>
            <a:r>
              <a:rPr lang="en-US" sz="1250" b="1" dirty="0">
                <a:solidFill>
                  <a:srgbClr val="162947"/>
                </a:solidFill>
                <a:latin typeface="Arial" pitchFamily="34" charset="0"/>
                <a:ea typeface="Arial" pitchFamily="34" charset="-122"/>
                <a:cs typeface="Arial" pitchFamily="34" charset="-120"/>
              </a:rPr>
              <a:t>33%</a:t>
            </a:r>
            <a:endParaRPr lang="en-US" sz="1250" dirty="0"/>
          </a:p>
        </p:txBody>
      </p:sp>
      <p:sp>
        <p:nvSpPr>
          <p:cNvPr id="20" name="Shape 18"/>
          <p:cNvSpPr/>
          <p:nvPr/>
        </p:nvSpPr>
        <p:spPr>
          <a:xfrm>
            <a:off x="4617720" y="2953512"/>
            <a:ext cx="6885432" cy="420624"/>
          </a:xfrm>
          <a:prstGeom prst="rect">
            <a:avLst/>
          </a:prstGeom>
          <a:solidFill>
            <a:srgbClr val="FFFFFF"/>
          </a:solidFill>
          <a:ln w="7620">
            <a:solidFill>
              <a:srgbClr val="E3DFD5"/>
            </a:solidFill>
            <a:prstDash val="solid"/>
          </a:ln>
        </p:spPr>
      </p:sp>
      <p:sp>
        <p:nvSpPr>
          <p:cNvPr id="21" name="Text 19"/>
          <p:cNvSpPr txBox="1"/>
          <p:nvPr/>
        </p:nvSpPr>
        <p:spPr>
          <a:xfrm>
            <a:off x="4818888" y="2953512"/>
            <a:ext cx="2459736" cy="420624"/>
          </a:xfrm>
          <a:prstGeom prst="rect">
            <a:avLst/>
          </a:prstGeom>
          <a:noFill/>
          <a:ln/>
        </p:spPr>
        <p:txBody>
          <a:bodyPr wrap="square" lIns="0" tIns="0" rIns="0" bIns="0" rtlCol="0" anchor="ctr"/>
          <a:lstStyle/>
          <a:p>
            <a:pPr algn="l" indent="0" marL="0">
              <a:buNone/>
            </a:pPr>
            <a:r>
              <a:rPr lang="en-US" sz="1250" dirty="0">
                <a:solidFill>
                  <a:srgbClr val="5D6471"/>
                </a:solidFill>
                <a:latin typeface="Arial" pitchFamily="34" charset="0"/>
                <a:ea typeface="Arial" pitchFamily="34" charset="-122"/>
                <a:cs typeface="Arial" pitchFamily="34" charset="-120"/>
              </a:rPr>
              <a:t>Grade 4</a:t>
            </a:r>
            <a:endParaRPr lang="en-US" sz="1250" dirty="0"/>
          </a:p>
        </p:txBody>
      </p:sp>
      <p:sp>
        <p:nvSpPr>
          <p:cNvPr id="22" name="Text 20"/>
          <p:cNvSpPr txBox="1"/>
          <p:nvPr/>
        </p:nvSpPr>
        <p:spPr>
          <a:xfrm>
            <a:off x="7680960" y="2953512"/>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45 / 200</a:t>
            </a:r>
            <a:endParaRPr lang="en-US" sz="1250" dirty="0"/>
          </a:p>
        </p:txBody>
      </p:sp>
      <p:sp>
        <p:nvSpPr>
          <p:cNvPr id="23" name="Text 21"/>
          <p:cNvSpPr txBox="1"/>
          <p:nvPr/>
        </p:nvSpPr>
        <p:spPr>
          <a:xfrm>
            <a:off x="9692640" y="2953512"/>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23%</a:t>
            </a:r>
            <a:endParaRPr lang="en-US" sz="1250" dirty="0"/>
          </a:p>
        </p:txBody>
      </p:sp>
      <p:sp>
        <p:nvSpPr>
          <p:cNvPr id="24" name="Shape 22"/>
          <p:cNvSpPr/>
          <p:nvPr/>
        </p:nvSpPr>
        <p:spPr>
          <a:xfrm>
            <a:off x="4617720" y="3675888"/>
            <a:ext cx="6885432" cy="1810512"/>
          </a:xfrm>
          <a:prstGeom prst="roundRect">
            <a:avLst>
              <a:gd name="adj" fmla="val 2020"/>
            </a:avLst>
          </a:prstGeom>
          <a:solidFill>
            <a:srgbClr val="FFFFFF"/>
          </a:solidFill>
          <a:ln w="9525">
            <a:solidFill>
              <a:srgbClr val="E3DFD5"/>
            </a:solidFill>
            <a:prstDash val="solid"/>
          </a:ln>
        </p:spPr>
      </p:sp>
      <p:sp>
        <p:nvSpPr>
          <p:cNvPr id="25" name="Text 23"/>
          <p:cNvSpPr txBox="1"/>
          <p:nvPr/>
        </p:nvSpPr>
        <p:spPr>
          <a:xfrm>
            <a:off x="4937760" y="3877056"/>
            <a:ext cx="6309360" cy="310896"/>
          </a:xfrm>
          <a:prstGeom prst="rect">
            <a:avLst/>
          </a:prstGeom>
          <a:noFill/>
          <a:ln/>
        </p:spPr>
        <p:txBody>
          <a:bodyPr wrap="square" lIns="0" tIns="0" rIns="0" bIns="0" rtlCol="0" anchor="t"/>
          <a:lstStyle/>
          <a:p>
            <a:pPr indent="0" marL="0">
              <a:buNone/>
            </a:pPr>
            <a:r>
              <a:rPr lang="en-US" sz="1900" dirty="0">
                <a:solidFill>
                  <a:srgbClr val="162947"/>
                </a:solidFill>
                <a:latin typeface="Cambria" pitchFamily="34" charset="0"/>
                <a:ea typeface="Cambria" pitchFamily="34" charset="-122"/>
                <a:cs typeface="Cambria" pitchFamily="34" charset="-120"/>
              </a:rPr>
              <a:t>Why we work towards 80</a:t>
            </a:r>
            <a:endParaRPr lang="en-US" sz="1900" dirty="0"/>
          </a:p>
        </p:txBody>
      </p:sp>
      <p:sp>
        <p:nvSpPr>
          <p:cNvPr id="26" name="Text 24"/>
          <p:cNvSpPr txBox="1"/>
          <p:nvPr/>
        </p:nvSpPr>
        <p:spPr>
          <a:xfrm>
            <a:off x="4937760" y="4279392"/>
            <a:ext cx="6309360" cy="1051560"/>
          </a:xfrm>
          <a:prstGeom prst="rect">
            <a:avLst/>
          </a:prstGeom>
          <a:noFill/>
          <a:ln/>
        </p:spPr>
        <p:txBody>
          <a:bodyPr wrap="square" lIns="0" tIns="0" rIns="0" bIns="0" rtlCol="0" anchor="t"/>
          <a:lstStyle/>
          <a:p>
            <a:pPr indent="0" marL="0">
              <a:lnSpc>
                <a:spcPts val="1700"/>
              </a:lnSpc>
              <a:buNone/>
            </a:pPr>
            <a:r>
              <a:rPr lang="en-US" sz="1200" dirty="0">
                <a:solidFill>
                  <a:srgbClr val="5D6471"/>
                </a:solidFill>
                <a:latin typeface="Arial" pitchFamily="34" charset="0"/>
                <a:ea typeface="Arial" pitchFamily="34" charset="-122"/>
                <a:cs typeface="Arial" pitchFamily="34" charset="-120"/>
              </a:rPr>
              <a:t>Boundaries shift, so aiming at last year's number exactly leaves no room. The larger factor is how many marks Charlotte is taught to attempt in the first place, which the next slide sets out.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WHERE THE MARKS ARE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Number and algebra is about 60% of the marks</a:t>
            </a:r>
            <a:endParaRPr lang="en-US" sz="3300" dirty="0"/>
          </a:p>
        </p:txBody>
      </p:sp>
      <p:graphicFrame>
        <p:nvGraphicFramePr>
          <p:cNvPr id="4" name="Chart 0" descr=""/>
          <p:cNvGraphicFramePr/>
          <p:nvPr/>
        </p:nvGraphicFramePr>
        <p:xfrm>
          <a:off x="502920" y="1600200"/>
          <a:ext cx="5760720" cy="26517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492240" y="1645920"/>
            <a:ext cx="5010912" cy="1207008"/>
          </a:xfrm>
          <a:prstGeom prst="roundRect">
            <a:avLst>
              <a:gd name="adj" fmla="val 3030"/>
            </a:avLst>
          </a:prstGeom>
          <a:solidFill>
            <a:srgbClr val="FFFFFF"/>
          </a:solidFill>
          <a:ln w="9525">
            <a:solidFill>
              <a:srgbClr val="E3DFD5"/>
            </a:solidFill>
            <a:prstDash val="solid"/>
          </a:ln>
        </p:spPr>
      </p:sp>
      <p:sp>
        <p:nvSpPr>
          <p:cNvPr id="6" name="Text 3"/>
          <p:cNvSpPr txBox="1"/>
          <p:nvPr/>
        </p:nvSpPr>
        <p:spPr>
          <a:xfrm>
            <a:off x="6784848" y="1810512"/>
            <a:ext cx="4434840" cy="256032"/>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The largest section is also the weakest</a:t>
            </a:r>
            <a:endParaRPr lang="en-US" sz="1250" dirty="0"/>
          </a:p>
        </p:txBody>
      </p:sp>
      <p:sp>
        <p:nvSpPr>
          <p:cNvPr id="7" name="Text 4"/>
          <p:cNvSpPr txBox="1"/>
          <p:nvPr/>
        </p:nvSpPr>
        <p:spPr>
          <a:xfrm>
            <a:off x="6784848" y="2103120"/>
            <a:ext cx="4434840" cy="640080"/>
          </a:xfrm>
          <a:prstGeom prst="rect">
            <a:avLst/>
          </a:prstGeom>
          <a:noFill/>
          <a:ln/>
        </p:spPr>
        <p:txBody>
          <a:bodyPr wrap="square" lIns="0" tIns="0" rIns="0" bIns="0" rtlCol="0" anchor="t"/>
          <a:lstStyle/>
          <a:p>
            <a:pPr indent="0" marL="0">
              <a:lnSpc>
                <a:spcPts val="1500"/>
              </a:lnSpc>
              <a:buNone/>
            </a:pPr>
            <a:r>
              <a:rPr lang="en-US" sz="1100" dirty="0">
                <a:solidFill>
                  <a:srgbClr val="5D6471"/>
                </a:solidFill>
                <a:latin typeface="Arial" pitchFamily="34" charset="0"/>
                <a:ea typeface="Arial" pitchFamily="34" charset="-122"/>
                <a:cs typeface="Arial" pitchFamily="34" charset="-120"/>
              </a:rPr>
              <a:t>Charlotte's gaps are concentrated in number and algebra. Work there pays back across about 120 marks, so the first three weeks stay on it.</a:t>
            </a:r>
            <a:endParaRPr lang="en-US" sz="1100" dirty="0"/>
          </a:p>
        </p:txBody>
      </p:sp>
      <p:sp>
        <p:nvSpPr>
          <p:cNvPr id="8" name="Shape 5"/>
          <p:cNvSpPr/>
          <p:nvPr/>
        </p:nvSpPr>
        <p:spPr>
          <a:xfrm>
            <a:off x="6492240" y="3017520"/>
            <a:ext cx="5010912" cy="1207008"/>
          </a:xfrm>
          <a:prstGeom prst="roundRect">
            <a:avLst>
              <a:gd name="adj" fmla="val 3030"/>
            </a:avLst>
          </a:prstGeom>
          <a:solidFill>
            <a:srgbClr val="FFFFFF"/>
          </a:solidFill>
          <a:ln w="9525">
            <a:solidFill>
              <a:srgbClr val="E3DFD5"/>
            </a:solidFill>
            <a:prstDash val="solid"/>
          </a:ln>
        </p:spPr>
      </p:sp>
      <p:sp>
        <p:nvSpPr>
          <p:cNvPr id="9" name="Text 6"/>
          <p:cNvSpPr txBox="1"/>
          <p:nvPr/>
        </p:nvSpPr>
        <p:spPr>
          <a:xfrm>
            <a:off x="6784848" y="3182112"/>
            <a:ext cx="4434840" cy="256032"/>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Handling data does not depend on algebra</a:t>
            </a:r>
            <a:endParaRPr lang="en-US" sz="1250" dirty="0"/>
          </a:p>
        </p:txBody>
      </p:sp>
      <p:sp>
        <p:nvSpPr>
          <p:cNvPr id="10" name="Text 7"/>
          <p:cNvSpPr txBox="1"/>
          <p:nvPr/>
        </p:nvSpPr>
        <p:spPr>
          <a:xfrm>
            <a:off x="6784848" y="3474720"/>
            <a:ext cx="4434840" cy="640080"/>
          </a:xfrm>
          <a:prstGeom prst="rect">
            <a:avLst/>
          </a:prstGeom>
          <a:noFill/>
          <a:ln/>
        </p:spPr>
        <p:txBody>
          <a:bodyPr wrap="square" lIns="0" tIns="0" rIns="0" bIns="0" rtlCol="0" anchor="t"/>
          <a:lstStyle/>
          <a:p>
            <a:pPr indent="0" marL="0">
              <a:lnSpc>
                <a:spcPts val="1500"/>
              </a:lnSpc>
              <a:buNone/>
            </a:pPr>
            <a:r>
              <a:rPr lang="en-US" sz="1100" dirty="0">
                <a:solidFill>
                  <a:srgbClr val="5D6471"/>
                </a:solidFill>
                <a:latin typeface="Arial" pitchFamily="34" charset="0"/>
                <a:ea typeface="Arial" pitchFamily="34" charset="-122"/>
                <a:cs typeface="Arial" pitchFamily="34" charset="-120"/>
              </a:rPr>
              <a:t>Averages, tables, probability and Venn diagrams are about 30 marks that the algebra gaps do not block. They come in week 4.</a:t>
            </a:r>
            <a:endParaRPr lang="en-US" sz="1100" dirty="0"/>
          </a:p>
        </p:txBody>
      </p:sp>
      <p:sp>
        <p:nvSpPr>
          <p:cNvPr id="11" name="Shape 8"/>
          <p:cNvSpPr/>
          <p:nvPr/>
        </p:nvSpPr>
        <p:spPr>
          <a:xfrm>
            <a:off x="685800" y="4526280"/>
            <a:ext cx="10817352" cy="1600200"/>
          </a:xfrm>
          <a:prstGeom prst="roundRect">
            <a:avLst>
              <a:gd name="adj" fmla="val 2286"/>
            </a:avLst>
          </a:prstGeom>
          <a:solidFill>
            <a:srgbClr val="162947"/>
          </a:solidFill>
          <a:ln/>
        </p:spPr>
      </p:sp>
      <p:sp>
        <p:nvSpPr>
          <p:cNvPr id="12" name="Text 9"/>
          <p:cNvSpPr txBox="1"/>
          <p:nvPr/>
        </p:nvSpPr>
        <p:spPr>
          <a:xfrm>
            <a:off x="1005840" y="4709160"/>
            <a:ext cx="10149840" cy="292608"/>
          </a:xfrm>
          <a:prstGeom prst="rect">
            <a:avLst/>
          </a:prstGeom>
          <a:noFill/>
          <a:ln/>
        </p:spPr>
        <p:txBody>
          <a:bodyPr wrap="square" lIns="0" tIns="0" rIns="0" bIns="0" rtlCol="0" anchor="ctr"/>
          <a:lstStyle/>
          <a:p>
            <a:pPr indent="0" marL="0">
              <a:buNone/>
            </a:pPr>
            <a:r>
              <a:rPr lang="en-US" sz="1900" dirty="0">
                <a:solidFill>
                  <a:srgbClr val="C3A965"/>
                </a:solidFill>
                <a:latin typeface="Cambria" pitchFamily="34" charset="0"/>
                <a:ea typeface="Cambria" pitchFamily="34" charset="-122"/>
                <a:cs typeface="Cambria" pitchFamily="34" charset="-120"/>
              </a:rPr>
              <a:t>How many marks we cover</a:t>
            </a:r>
            <a:endParaRPr lang="en-US" sz="1900" dirty="0"/>
          </a:p>
        </p:txBody>
      </p:sp>
      <p:sp>
        <p:nvSpPr>
          <p:cNvPr id="13" name="Text 10"/>
          <p:cNvSpPr txBox="1"/>
          <p:nvPr/>
        </p:nvSpPr>
        <p:spPr>
          <a:xfrm>
            <a:off x="1005840" y="5056632"/>
            <a:ext cx="1600200" cy="365760"/>
          </a:xfrm>
          <a:prstGeom prst="rect">
            <a:avLst/>
          </a:prstGeom>
          <a:noFill/>
          <a:ln/>
        </p:spPr>
        <p:txBody>
          <a:bodyPr wrap="square" lIns="0" tIns="0" rIns="0" bIns="0" rtlCol="0" anchor="t"/>
          <a:lstStyle/>
          <a:p>
            <a:pPr indent="0" marL="0">
              <a:buNone/>
            </a:pPr>
            <a:r>
              <a:rPr lang="en-US" sz="2300" dirty="0">
                <a:solidFill>
                  <a:srgbClr val="F6F4EF"/>
                </a:solidFill>
                <a:latin typeface="Cambria" pitchFamily="34" charset="0"/>
                <a:ea typeface="Cambria" pitchFamily="34" charset="-122"/>
                <a:cs typeface="Cambria" pitchFamily="34" charset="-120"/>
              </a:rPr>
              <a:t>about 80</a:t>
            </a:r>
            <a:endParaRPr lang="en-US" sz="2300" dirty="0"/>
          </a:p>
        </p:txBody>
      </p:sp>
      <p:sp>
        <p:nvSpPr>
          <p:cNvPr id="14" name="Text 11"/>
          <p:cNvSpPr txBox="1"/>
          <p:nvPr/>
        </p:nvSpPr>
        <p:spPr>
          <a:xfrm>
            <a:off x="2670048" y="5120640"/>
            <a:ext cx="3154680" cy="310896"/>
          </a:xfrm>
          <a:prstGeom prst="rect">
            <a:avLst/>
          </a:prstGeom>
          <a:noFill/>
          <a:ln/>
        </p:spPr>
        <p:txBody>
          <a:bodyPr wrap="square" lIns="0" tIns="0" rIns="0" bIns="0" rtlCol="0" anchor="t"/>
          <a:lstStyle/>
          <a:p>
            <a:pPr indent="0" marL="0">
              <a:lnSpc>
                <a:spcPts val="1400"/>
              </a:lnSpc>
              <a:buNone/>
            </a:pPr>
            <a:r>
              <a:rPr lang="en-US" sz="1100" b="1" dirty="0">
                <a:solidFill>
                  <a:srgbClr val="E8E4DA"/>
                </a:solidFill>
                <a:latin typeface="Arial" pitchFamily="34" charset="0"/>
                <a:ea typeface="Arial" pitchFamily="34" charset="-122"/>
                <a:cs typeface="Arial" pitchFamily="34" charset="-120"/>
              </a:rPr>
              <a:t>marks are pitched at grades 4 and 5</a:t>
            </a:r>
            <a:endParaRPr lang="en-US" sz="1100" dirty="0"/>
          </a:p>
        </p:txBody>
      </p:sp>
      <p:sp>
        <p:nvSpPr>
          <p:cNvPr id="15" name="Text 12"/>
          <p:cNvSpPr txBox="1"/>
          <p:nvPr/>
        </p:nvSpPr>
        <p:spPr>
          <a:xfrm>
            <a:off x="1005840" y="5486400"/>
            <a:ext cx="4846320" cy="5486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The specification puts about 40% of each paper at grades 4 and 5. Covering only that band means converting 65 of 80, leaving room to drop 15 marks.</a:t>
            </a:r>
            <a:endParaRPr lang="en-US" sz="1050" dirty="0"/>
          </a:p>
        </p:txBody>
      </p:sp>
      <p:sp>
        <p:nvSpPr>
          <p:cNvPr id="16" name="Text 13"/>
          <p:cNvSpPr txBox="1"/>
          <p:nvPr/>
        </p:nvSpPr>
        <p:spPr>
          <a:xfrm>
            <a:off x="6126480" y="5056632"/>
            <a:ext cx="1600200" cy="365760"/>
          </a:xfrm>
          <a:prstGeom prst="rect">
            <a:avLst/>
          </a:prstGeom>
          <a:noFill/>
          <a:ln/>
        </p:spPr>
        <p:txBody>
          <a:bodyPr wrap="square" lIns="0" tIns="0" rIns="0" bIns="0" rtlCol="0" anchor="t"/>
          <a:lstStyle/>
          <a:p>
            <a:pPr indent="0" marL="0">
              <a:buNone/>
            </a:pPr>
            <a:r>
              <a:rPr lang="en-US" sz="2300" dirty="0">
                <a:solidFill>
                  <a:srgbClr val="F6F4EF"/>
                </a:solidFill>
                <a:latin typeface="Cambria" pitchFamily="34" charset="0"/>
                <a:ea typeface="Cambria" pitchFamily="34" charset="-122"/>
                <a:cs typeface="Cambria" pitchFamily="34" charset="-120"/>
              </a:rPr>
              <a:t>about 105</a:t>
            </a:r>
            <a:endParaRPr lang="en-US" sz="2300" dirty="0"/>
          </a:p>
        </p:txBody>
      </p:sp>
      <p:sp>
        <p:nvSpPr>
          <p:cNvPr id="17" name="Text 14"/>
          <p:cNvSpPr txBox="1"/>
          <p:nvPr/>
        </p:nvSpPr>
        <p:spPr>
          <a:xfrm>
            <a:off x="7790688" y="5120640"/>
            <a:ext cx="3154680" cy="310896"/>
          </a:xfrm>
          <a:prstGeom prst="rect">
            <a:avLst/>
          </a:prstGeom>
          <a:noFill/>
          <a:ln/>
        </p:spPr>
        <p:txBody>
          <a:bodyPr wrap="square" lIns="0" tIns="0" rIns="0" bIns="0" rtlCol="0" anchor="t"/>
          <a:lstStyle/>
          <a:p>
            <a:pPr indent="0" marL="0">
              <a:lnSpc>
                <a:spcPts val="1400"/>
              </a:lnSpc>
              <a:buNone/>
            </a:pPr>
            <a:r>
              <a:rPr lang="en-US" sz="1100" b="1" dirty="0">
                <a:solidFill>
                  <a:srgbClr val="E8E4DA"/>
                </a:solidFill>
                <a:latin typeface="Arial" pitchFamily="34" charset="0"/>
                <a:ea typeface="Arial" pitchFamily="34" charset="-122"/>
                <a:cs typeface="Arial" pitchFamily="34" charset="-120"/>
              </a:rPr>
              <a:t>marks once single-step grade 6 topics are added</a:t>
            </a:r>
            <a:endParaRPr lang="en-US" sz="1100" dirty="0"/>
          </a:p>
        </p:txBody>
      </p:sp>
      <p:sp>
        <p:nvSpPr>
          <p:cNvPr id="18" name="Text 15"/>
          <p:cNvSpPr txBox="1"/>
          <p:nvPr/>
        </p:nvSpPr>
        <p:spPr>
          <a:xfrm>
            <a:off x="6126480" y="5486400"/>
            <a:ext cx="4846320" cy="5486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The target to pass stays at 65, with room to drop 40 marks.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ROUTE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The six weeks</a:t>
            </a:r>
            <a:endParaRPr lang="en-US" sz="3300" dirty="0"/>
          </a:p>
        </p:txBody>
      </p:sp>
      <p:sp>
        <p:nvSpPr>
          <p:cNvPr id="4" name="Shape 2"/>
          <p:cNvSpPr/>
          <p:nvPr/>
        </p:nvSpPr>
        <p:spPr>
          <a:xfrm>
            <a:off x="1115568" y="2048256"/>
            <a:ext cx="10469880" cy="0"/>
          </a:xfrm>
          <a:prstGeom prst="line">
            <a:avLst/>
          </a:prstGeom>
          <a:noFill/>
          <a:ln w="15875">
            <a:solidFill>
              <a:srgbClr val="C9CEDB"/>
            </a:solidFill>
            <a:prstDash val="solid"/>
          </a:ln>
        </p:spPr>
      </p:sp>
      <p:sp>
        <p:nvSpPr>
          <p:cNvPr id="5" name="Shape 3"/>
          <p:cNvSpPr/>
          <p:nvPr/>
        </p:nvSpPr>
        <p:spPr>
          <a:xfrm>
            <a:off x="868680" y="1847088"/>
            <a:ext cx="402336" cy="402336"/>
          </a:xfrm>
          <a:prstGeom prst="ellipse">
            <a:avLst/>
          </a:prstGeom>
          <a:solidFill>
            <a:srgbClr val="162947"/>
          </a:solidFill>
          <a:ln/>
        </p:spPr>
      </p:sp>
      <p:sp>
        <p:nvSpPr>
          <p:cNvPr id="6" name="Text 4"/>
          <p:cNvSpPr txBox="1"/>
          <p:nvPr/>
        </p:nvSpPr>
        <p:spPr>
          <a:xfrm>
            <a:off x="86868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30175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21 to 27 Sep</a:t>
            </a:r>
            <a:endParaRPr lang="en-US" sz="950" dirty="0"/>
          </a:p>
        </p:txBody>
      </p:sp>
      <p:sp>
        <p:nvSpPr>
          <p:cNvPr id="8" name="Text 6"/>
          <p:cNvSpPr txBox="1"/>
          <p:nvPr/>
        </p:nvSpPr>
        <p:spPr>
          <a:xfrm>
            <a:off x="30175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Baseline</a:t>
            </a:r>
            <a:endParaRPr lang="en-US" sz="1200" dirty="0"/>
          </a:p>
        </p:txBody>
      </p:sp>
      <p:sp>
        <p:nvSpPr>
          <p:cNvPr id="9" name="Shape 7"/>
          <p:cNvSpPr/>
          <p:nvPr/>
        </p:nvSpPr>
        <p:spPr>
          <a:xfrm>
            <a:off x="2613660" y="1847088"/>
            <a:ext cx="402336" cy="402336"/>
          </a:xfrm>
          <a:prstGeom prst="ellipse">
            <a:avLst/>
          </a:prstGeom>
          <a:solidFill>
            <a:srgbClr val="162947"/>
          </a:solidFill>
          <a:ln/>
        </p:spPr>
      </p:sp>
      <p:sp>
        <p:nvSpPr>
          <p:cNvPr id="10" name="Text 8"/>
          <p:cNvSpPr txBox="1"/>
          <p:nvPr/>
        </p:nvSpPr>
        <p:spPr>
          <a:xfrm>
            <a:off x="261366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204673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28 Sep to 4 Oct</a:t>
            </a:r>
            <a:endParaRPr lang="en-US" sz="950" dirty="0"/>
          </a:p>
        </p:txBody>
      </p:sp>
      <p:sp>
        <p:nvSpPr>
          <p:cNvPr id="12" name="Text 10"/>
          <p:cNvSpPr txBox="1"/>
          <p:nvPr/>
        </p:nvSpPr>
        <p:spPr>
          <a:xfrm>
            <a:off x="204673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Number</a:t>
            </a:r>
            <a:endParaRPr lang="en-US" sz="1200" dirty="0"/>
          </a:p>
        </p:txBody>
      </p:sp>
      <p:sp>
        <p:nvSpPr>
          <p:cNvPr id="13" name="Shape 11"/>
          <p:cNvSpPr/>
          <p:nvPr/>
        </p:nvSpPr>
        <p:spPr>
          <a:xfrm>
            <a:off x="4358640" y="1847088"/>
            <a:ext cx="402336" cy="402336"/>
          </a:xfrm>
          <a:prstGeom prst="ellipse">
            <a:avLst/>
          </a:prstGeom>
          <a:solidFill>
            <a:srgbClr val="162947"/>
          </a:solidFill>
          <a:ln/>
        </p:spPr>
      </p:sp>
      <p:sp>
        <p:nvSpPr>
          <p:cNvPr id="14" name="Text 12"/>
          <p:cNvSpPr txBox="1"/>
          <p:nvPr/>
        </p:nvSpPr>
        <p:spPr>
          <a:xfrm>
            <a:off x="435864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15" name="Text 13"/>
          <p:cNvSpPr txBox="1"/>
          <p:nvPr/>
        </p:nvSpPr>
        <p:spPr>
          <a:xfrm>
            <a:off x="379171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5 to 11 Oct</a:t>
            </a:r>
            <a:endParaRPr lang="en-US" sz="950" dirty="0"/>
          </a:p>
        </p:txBody>
      </p:sp>
      <p:sp>
        <p:nvSpPr>
          <p:cNvPr id="16" name="Text 14"/>
          <p:cNvSpPr txBox="1"/>
          <p:nvPr/>
        </p:nvSpPr>
        <p:spPr>
          <a:xfrm>
            <a:off x="379171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Algebra</a:t>
            </a:r>
            <a:endParaRPr lang="en-US" sz="1200" dirty="0"/>
          </a:p>
        </p:txBody>
      </p:sp>
      <p:sp>
        <p:nvSpPr>
          <p:cNvPr id="17" name="Shape 15"/>
          <p:cNvSpPr/>
          <p:nvPr/>
        </p:nvSpPr>
        <p:spPr>
          <a:xfrm>
            <a:off x="6103620" y="1847088"/>
            <a:ext cx="402336" cy="402336"/>
          </a:xfrm>
          <a:prstGeom prst="ellipse">
            <a:avLst/>
          </a:prstGeom>
          <a:solidFill>
            <a:srgbClr val="162947"/>
          </a:solidFill>
          <a:ln/>
        </p:spPr>
      </p:sp>
      <p:sp>
        <p:nvSpPr>
          <p:cNvPr id="18" name="Text 16"/>
          <p:cNvSpPr txBox="1"/>
          <p:nvPr/>
        </p:nvSpPr>
        <p:spPr>
          <a:xfrm>
            <a:off x="610362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19" name="Text 17"/>
          <p:cNvSpPr txBox="1"/>
          <p:nvPr/>
        </p:nvSpPr>
        <p:spPr>
          <a:xfrm>
            <a:off x="553669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12 to 18 Oct</a:t>
            </a:r>
            <a:endParaRPr lang="en-US" sz="950" dirty="0"/>
          </a:p>
        </p:txBody>
      </p:sp>
      <p:sp>
        <p:nvSpPr>
          <p:cNvPr id="20" name="Text 18"/>
          <p:cNvSpPr txBox="1"/>
          <p:nvPr/>
        </p:nvSpPr>
        <p:spPr>
          <a:xfrm>
            <a:off x="553669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Ratio and data</a:t>
            </a:r>
            <a:endParaRPr lang="en-US" sz="1200" dirty="0"/>
          </a:p>
        </p:txBody>
      </p:sp>
      <p:sp>
        <p:nvSpPr>
          <p:cNvPr id="21" name="Shape 19"/>
          <p:cNvSpPr/>
          <p:nvPr/>
        </p:nvSpPr>
        <p:spPr>
          <a:xfrm>
            <a:off x="7848600" y="1847088"/>
            <a:ext cx="402336" cy="402336"/>
          </a:xfrm>
          <a:prstGeom prst="ellipse">
            <a:avLst/>
          </a:prstGeom>
          <a:solidFill>
            <a:srgbClr val="162947"/>
          </a:solidFill>
          <a:ln/>
        </p:spPr>
      </p:sp>
      <p:sp>
        <p:nvSpPr>
          <p:cNvPr id="22" name="Text 20"/>
          <p:cNvSpPr txBox="1"/>
          <p:nvPr/>
        </p:nvSpPr>
        <p:spPr>
          <a:xfrm>
            <a:off x="784860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5</a:t>
            </a:r>
            <a:endParaRPr lang="en-US" sz="1500" dirty="0"/>
          </a:p>
        </p:txBody>
      </p:sp>
      <p:sp>
        <p:nvSpPr>
          <p:cNvPr id="23" name="Text 21"/>
          <p:cNvSpPr txBox="1"/>
          <p:nvPr/>
        </p:nvSpPr>
        <p:spPr>
          <a:xfrm>
            <a:off x="728167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19 to 25 Oct</a:t>
            </a:r>
            <a:endParaRPr lang="en-US" sz="950" dirty="0"/>
          </a:p>
        </p:txBody>
      </p:sp>
      <p:sp>
        <p:nvSpPr>
          <p:cNvPr id="24" name="Text 22"/>
          <p:cNvSpPr txBox="1"/>
          <p:nvPr/>
        </p:nvSpPr>
        <p:spPr>
          <a:xfrm>
            <a:off x="728167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Shape</a:t>
            </a:r>
            <a:endParaRPr lang="en-US" sz="1200" dirty="0"/>
          </a:p>
        </p:txBody>
      </p:sp>
      <p:sp>
        <p:nvSpPr>
          <p:cNvPr id="25" name="Shape 23"/>
          <p:cNvSpPr/>
          <p:nvPr/>
        </p:nvSpPr>
        <p:spPr>
          <a:xfrm>
            <a:off x="9593580" y="1847088"/>
            <a:ext cx="402336" cy="402336"/>
          </a:xfrm>
          <a:prstGeom prst="ellipse">
            <a:avLst/>
          </a:prstGeom>
          <a:solidFill>
            <a:srgbClr val="162947"/>
          </a:solidFill>
          <a:ln/>
        </p:spPr>
      </p:sp>
      <p:sp>
        <p:nvSpPr>
          <p:cNvPr id="26" name="Text 24"/>
          <p:cNvSpPr txBox="1"/>
          <p:nvPr/>
        </p:nvSpPr>
        <p:spPr>
          <a:xfrm>
            <a:off x="959358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6</a:t>
            </a:r>
            <a:endParaRPr lang="en-US" sz="1500" dirty="0"/>
          </a:p>
        </p:txBody>
      </p:sp>
      <p:sp>
        <p:nvSpPr>
          <p:cNvPr id="27" name="Text 25"/>
          <p:cNvSpPr txBox="1"/>
          <p:nvPr/>
        </p:nvSpPr>
        <p:spPr>
          <a:xfrm>
            <a:off x="902665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26 Oct to 1 Nov</a:t>
            </a:r>
            <a:endParaRPr lang="en-US" sz="950" dirty="0"/>
          </a:p>
        </p:txBody>
      </p:sp>
      <p:sp>
        <p:nvSpPr>
          <p:cNvPr id="28" name="Text 26"/>
          <p:cNvSpPr txBox="1"/>
          <p:nvPr/>
        </p:nvSpPr>
        <p:spPr>
          <a:xfrm>
            <a:off x="902665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Papers</a:t>
            </a:r>
            <a:endParaRPr lang="en-US" sz="1200" dirty="0"/>
          </a:p>
        </p:txBody>
      </p:sp>
      <p:sp>
        <p:nvSpPr>
          <p:cNvPr id="29" name="Shape 27"/>
          <p:cNvSpPr/>
          <p:nvPr/>
        </p:nvSpPr>
        <p:spPr>
          <a:xfrm>
            <a:off x="11338560" y="1847088"/>
            <a:ext cx="402336" cy="402336"/>
          </a:xfrm>
          <a:prstGeom prst="ellipse">
            <a:avLst/>
          </a:prstGeom>
          <a:solidFill>
            <a:srgbClr val="C3A965"/>
          </a:solidFill>
          <a:ln/>
        </p:spPr>
      </p:sp>
      <p:sp>
        <p:nvSpPr>
          <p:cNvPr id="30" name="Text 28"/>
          <p:cNvSpPr txBox="1"/>
          <p:nvPr/>
        </p:nvSpPr>
        <p:spPr>
          <a:xfrm>
            <a:off x="11338560" y="1847088"/>
            <a:ext cx="402336" cy="402336"/>
          </a:xfrm>
          <a:prstGeom prst="rect">
            <a:avLst/>
          </a:prstGeom>
          <a:noFill/>
          <a:ln/>
        </p:spPr>
        <p:txBody>
          <a:bodyPr wrap="square" lIns="0" tIns="0" rIns="0" bIns="0" rtlCol="0" anchor="ctr"/>
          <a:lstStyle/>
          <a:p>
            <a:pPr algn="ctr" indent="0" marL="0">
              <a:buNone/>
            </a:pPr>
            <a:r>
              <a:rPr lang="en-US" sz="1500" b="1" dirty="0">
                <a:solidFill>
                  <a:srgbClr val="162947"/>
                </a:solidFill>
                <a:latin typeface="Cambria" pitchFamily="34" charset="0"/>
                <a:ea typeface="Cambria" pitchFamily="34" charset="-122"/>
                <a:cs typeface="Cambria" pitchFamily="34" charset="-120"/>
              </a:rPr>
              <a:t>★</a:t>
            </a:r>
            <a:endParaRPr lang="en-US" sz="1500" dirty="0"/>
          </a:p>
        </p:txBody>
      </p:sp>
      <p:sp>
        <p:nvSpPr>
          <p:cNvPr id="31" name="Text 29"/>
          <p:cNvSpPr txBox="1"/>
          <p:nvPr/>
        </p:nvSpPr>
        <p:spPr>
          <a:xfrm>
            <a:off x="10771632" y="2395728"/>
            <a:ext cx="1554480" cy="219456"/>
          </a:xfrm>
          <a:prstGeom prst="rect">
            <a:avLst/>
          </a:prstGeom>
          <a:noFill/>
          <a:ln/>
        </p:spPr>
        <p:txBody>
          <a:bodyPr wrap="square" lIns="0" tIns="0" rIns="0" bIns="0" rtlCol="0" anchor="ctr"/>
          <a:lstStyle/>
          <a:p>
            <a:pPr algn="ctr" indent="0" marL="0">
              <a:buNone/>
            </a:pPr>
            <a:r>
              <a:rPr lang="en-US" sz="950" dirty="0">
                <a:solidFill>
                  <a:srgbClr val="C3A965"/>
                </a:solidFill>
                <a:latin typeface="Arial" pitchFamily="34" charset="0"/>
                <a:ea typeface="Arial" pitchFamily="34" charset="-122"/>
                <a:cs typeface="Arial" pitchFamily="34" charset="-120"/>
              </a:rPr>
              <a:t>4 and 6 Nov</a:t>
            </a:r>
            <a:endParaRPr lang="en-US" sz="950" dirty="0"/>
          </a:p>
        </p:txBody>
      </p:sp>
      <p:sp>
        <p:nvSpPr>
          <p:cNvPr id="32" name="Text 30"/>
          <p:cNvSpPr txBox="1"/>
          <p:nvPr/>
        </p:nvSpPr>
        <p:spPr>
          <a:xfrm>
            <a:off x="1077163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Exams</a:t>
            </a:r>
            <a:endParaRPr lang="en-US" sz="1200" dirty="0"/>
          </a:p>
        </p:txBody>
      </p:sp>
      <p:sp>
        <p:nvSpPr>
          <p:cNvPr id="33" name="Text 31"/>
          <p:cNvSpPr txBox="1"/>
          <p:nvPr/>
        </p:nvSpPr>
        <p:spPr>
          <a:xfrm>
            <a:off x="685800" y="3383280"/>
            <a:ext cx="5486400" cy="274320"/>
          </a:xfrm>
          <a:prstGeom prst="rect">
            <a:avLst/>
          </a:prstGeom>
          <a:noFill/>
          <a:ln/>
        </p:spPr>
        <p:txBody>
          <a:bodyPr wrap="square" lIns="0" tIns="0" rIns="0" bIns="0" rtlCol="0" anchor="ctr"/>
          <a:lstStyle/>
          <a:p>
            <a:pPr indent="0" marL="0">
              <a:buNone/>
            </a:pPr>
            <a:r>
              <a:rPr lang="en-US" sz="1800" dirty="0">
                <a:solidFill>
                  <a:srgbClr val="162947"/>
                </a:solidFill>
                <a:latin typeface="Cambria" pitchFamily="34" charset="0"/>
                <a:ea typeface="Cambria" pitchFamily="34" charset="-122"/>
                <a:cs typeface="Cambria" pitchFamily="34" charset="-120"/>
              </a:rPr>
              <a:t>How the balance shifts</a:t>
            </a:r>
            <a:endParaRPr lang="en-US" sz="1800" dirty="0"/>
          </a:p>
        </p:txBody>
      </p:sp>
      <p:sp>
        <p:nvSpPr>
          <p:cNvPr id="34" name="Shape 32"/>
          <p:cNvSpPr/>
          <p:nvPr/>
        </p:nvSpPr>
        <p:spPr>
          <a:xfrm>
            <a:off x="685800" y="3749040"/>
            <a:ext cx="3502152" cy="1170432"/>
          </a:xfrm>
          <a:prstGeom prst="roundRect">
            <a:avLst>
              <a:gd name="adj" fmla="val 3125"/>
            </a:avLst>
          </a:prstGeom>
          <a:solidFill>
            <a:srgbClr val="FFFFFF"/>
          </a:solidFill>
          <a:ln w="9525">
            <a:solidFill>
              <a:srgbClr val="E3DFD5"/>
            </a:solidFill>
            <a:prstDash val="solid"/>
          </a:ln>
        </p:spPr>
      </p:sp>
      <p:sp>
        <p:nvSpPr>
          <p:cNvPr id="35" name="Text 33"/>
          <p:cNvSpPr txBox="1"/>
          <p:nvPr/>
        </p:nvSpPr>
        <p:spPr>
          <a:xfrm>
            <a:off x="941832" y="3913632"/>
            <a:ext cx="3017520" cy="237744"/>
          </a:xfrm>
          <a:prstGeom prst="rect">
            <a:avLst/>
          </a:prstGeom>
          <a:noFill/>
          <a:ln/>
        </p:spPr>
        <p:txBody>
          <a:bodyPr wrap="square" lIns="0" tIns="0" rIns="0" bIns="0" rtlCol="0" anchor="ctr"/>
          <a:lstStyle/>
          <a:p>
            <a:pPr indent="0" marL="0">
              <a:buNone/>
            </a:pPr>
            <a:r>
              <a:rPr lang="en-US" sz="1100" b="1" spc="120" kern="0" dirty="0">
                <a:solidFill>
                  <a:srgbClr val="C3A965"/>
                </a:solidFill>
                <a:latin typeface="Arial" pitchFamily="34" charset="0"/>
                <a:ea typeface="Arial" pitchFamily="34" charset="-122"/>
                <a:cs typeface="Arial" pitchFamily="34" charset="-120"/>
              </a:rPr>
              <a:t>Weeks 1 and 2</a:t>
            </a:r>
            <a:endParaRPr lang="en-US" sz="1100" dirty="0"/>
          </a:p>
        </p:txBody>
      </p:sp>
      <p:sp>
        <p:nvSpPr>
          <p:cNvPr id="36" name="Text 34"/>
          <p:cNvSpPr txBox="1"/>
          <p:nvPr/>
        </p:nvSpPr>
        <p:spPr>
          <a:xfrm>
            <a:off x="941832" y="4169664"/>
            <a:ext cx="3017520" cy="402336"/>
          </a:xfrm>
          <a:prstGeom prst="rect">
            <a:avLst/>
          </a:prstGeom>
          <a:noFill/>
          <a:ln/>
        </p:spPr>
        <p:txBody>
          <a:bodyPr wrap="square" lIns="0" tIns="0" rIns="0" bIns="0" rtlCol="0" anchor="t"/>
          <a:lstStyle/>
          <a:p>
            <a:pPr indent="0" marL="0">
              <a:lnSpc>
                <a:spcPts val="1500"/>
              </a:lnSpc>
              <a:buNone/>
            </a:pPr>
            <a:r>
              <a:rPr lang="en-US" sz="1150" b="1" dirty="0">
                <a:solidFill>
                  <a:srgbClr val="162947"/>
                </a:solidFill>
                <a:latin typeface="Arial" pitchFamily="34" charset="0"/>
                <a:ea typeface="Arial" pitchFamily="34" charset="-122"/>
                <a:cs typeface="Arial" pitchFamily="34" charset="-120"/>
              </a:rPr>
              <a:t>80% teaching  ·  20% exam questions</a:t>
            </a:r>
            <a:endParaRPr lang="en-US" sz="1150" dirty="0"/>
          </a:p>
        </p:txBody>
      </p:sp>
      <p:sp>
        <p:nvSpPr>
          <p:cNvPr id="37" name="Text 35"/>
          <p:cNvSpPr txBox="1"/>
          <p:nvPr/>
        </p:nvSpPr>
        <p:spPr>
          <a:xfrm>
            <a:off x="941832" y="4572000"/>
            <a:ext cx="3017520" cy="256032"/>
          </a:xfrm>
          <a:prstGeom prst="rect">
            <a:avLst/>
          </a:prstGeom>
          <a:noFill/>
          <a:ln/>
        </p:spPr>
        <p:txBody>
          <a:bodyPr wrap="square" lIns="0" tIns="0" rIns="0" bIns="0" rtlCol="0" anchor="ctr"/>
          <a:lstStyle/>
          <a:p>
            <a:pPr indent="0" marL="0">
              <a:buNone/>
            </a:pPr>
            <a:r>
              <a:rPr lang="en-US" sz="1000" dirty="0">
                <a:solidFill>
                  <a:srgbClr val="5D6471"/>
                </a:solidFill>
                <a:latin typeface="Arial" pitchFamily="34" charset="0"/>
                <a:ea typeface="Arial" pitchFamily="34" charset="-122"/>
                <a:cs typeface="Arial" pitchFamily="34" charset="-120"/>
              </a:rPr>
              <a:t>Most of the time goes on content.</a:t>
            </a:r>
            <a:endParaRPr lang="en-US" sz="1000" dirty="0"/>
          </a:p>
        </p:txBody>
      </p:sp>
      <p:sp>
        <p:nvSpPr>
          <p:cNvPr id="38" name="Shape 36"/>
          <p:cNvSpPr/>
          <p:nvPr/>
        </p:nvSpPr>
        <p:spPr>
          <a:xfrm>
            <a:off x="4343400" y="3749040"/>
            <a:ext cx="3502152" cy="1170432"/>
          </a:xfrm>
          <a:prstGeom prst="roundRect">
            <a:avLst>
              <a:gd name="adj" fmla="val 3125"/>
            </a:avLst>
          </a:prstGeom>
          <a:solidFill>
            <a:srgbClr val="FFFFFF"/>
          </a:solidFill>
          <a:ln w="9525">
            <a:solidFill>
              <a:srgbClr val="E3DFD5"/>
            </a:solidFill>
            <a:prstDash val="solid"/>
          </a:ln>
        </p:spPr>
      </p:sp>
      <p:sp>
        <p:nvSpPr>
          <p:cNvPr id="39" name="Text 37"/>
          <p:cNvSpPr txBox="1"/>
          <p:nvPr/>
        </p:nvSpPr>
        <p:spPr>
          <a:xfrm>
            <a:off x="4599432" y="3913632"/>
            <a:ext cx="3017520" cy="237744"/>
          </a:xfrm>
          <a:prstGeom prst="rect">
            <a:avLst/>
          </a:prstGeom>
          <a:noFill/>
          <a:ln/>
        </p:spPr>
        <p:txBody>
          <a:bodyPr wrap="square" lIns="0" tIns="0" rIns="0" bIns="0" rtlCol="0" anchor="ctr"/>
          <a:lstStyle/>
          <a:p>
            <a:pPr indent="0" marL="0">
              <a:buNone/>
            </a:pPr>
            <a:r>
              <a:rPr lang="en-US" sz="1100" b="1" spc="120" kern="0" dirty="0">
                <a:solidFill>
                  <a:srgbClr val="C3A965"/>
                </a:solidFill>
                <a:latin typeface="Arial" pitchFamily="34" charset="0"/>
                <a:ea typeface="Arial" pitchFamily="34" charset="-122"/>
                <a:cs typeface="Arial" pitchFamily="34" charset="-120"/>
              </a:rPr>
              <a:t>Weeks 3 to 5</a:t>
            </a:r>
            <a:endParaRPr lang="en-US" sz="1100" dirty="0"/>
          </a:p>
        </p:txBody>
      </p:sp>
      <p:sp>
        <p:nvSpPr>
          <p:cNvPr id="40" name="Text 38"/>
          <p:cNvSpPr txBox="1"/>
          <p:nvPr/>
        </p:nvSpPr>
        <p:spPr>
          <a:xfrm>
            <a:off x="4599432" y="4169664"/>
            <a:ext cx="3017520" cy="402336"/>
          </a:xfrm>
          <a:prstGeom prst="rect">
            <a:avLst/>
          </a:prstGeom>
          <a:noFill/>
          <a:ln/>
        </p:spPr>
        <p:txBody>
          <a:bodyPr wrap="square" lIns="0" tIns="0" rIns="0" bIns="0" rtlCol="0" anchor="t"/>
          <a:lstStyle/>
          <a:p>
            <a:pPr indent="0" marL="0">
              <a:lnSpc>
                <a:spcPts val="1500"/>
              </a:lnSpc>
              <a:buNone/>
            </a:pPr>
            <a:r>
              <a:rPr lang="en-US" sz="1150" b="1" dirty="0">
                <a:solidFill>
                  <a:srgbClr val="162947"/>
                </a:solidFill>
                <a:latin typeface="Arial" pitchFamily="34" charset="0"/>
                <a:ea typeface="Arial" pitchFamily="34" charset="-122"/>
                <a:cs typeface="Arial" pitchFamily="34" charset="-120"/>
              </a:rPr>
              <a:t>Roughly half teaching, half timed work</a:t>
            </a:r>
            <a:endParaRPr lang="en-US" sz="1150" dirty="0"/>
          </a:p>
        </p:txBody>
      </p:sp>
      <p:sp>
        <p:nvSpPr>
          <p:cNvPr id="41" name="Text 39"/>
          <p:cNvSpPr txBox="1"/>
          <p:nvPr/>
        </p:nvSpPr>
        <p:spPr>
          <a:xfrm>
            <a:off x="4599432" y="4572000"/>
            <a:ext cx="3017520" cy="256032"/>
          </a:xfrm>
          <a:prstGeom prst="rect">
            <a:avLst/>
          </a:prstGeom>
          <a:noFill/>
          <a:ln/>
        </p:spPr>
        <p:txBody>
          <a:bodyPr wrap="square" lIns="0" tIns="0" rIns="0" bIns="0" rtlCol="0" anchor="ctr"/>
          <a:lstStyle/>
          <a:p>
            <a:pPr indent="0" marL="0">
              <a:buNone/>
            </a:pPr>
            <a:r>
              <a:rPr lang="en-US" sz="1000" dirty="0">
                <a:solidFill>
                  <a:srgbClr val="5D6471"/>
                </a:solidFill>
                <a:latin typeface="Arial" pitchFamily="34" charset="0"/>
                <a:ea typeface="Arial" pitchFamily="34" charset="-122"/>
                <a:cs typeface="Arial" pitchFamily="34" charset="-120"/>
              </a:rPr>
              <a:t>Timed sections start short and lengthen.</a:t>
            </a:r>
            <a:endParaRPr lang="en-US" sz="1000" dirty="0"/>
          </a:p>
        </p:txBody>
      </p:sp>
      <p:sp>
        <p:nvSpPr>
          <p:cNvPr id="42" name="Shape 40"/>
          <p:cNvSpPr/>
          <p:nvPr/>
        </p:nvSpPr>
        <p:spPr>
          <a:xfrm>
            <a:off x="8001000" y="3749040"/>
            <a:ext cx="3502152" cy="1170432"/>
          </a:xfrm>
          <a:prstGeom prst="roundRect">
            <a:avLst>
              <a:gd name="adj" fmla="val 3125"/>
            </a:avLst>
          </a:prstGeom>
          <a:solidFill>
            <a:srgbClr val="FFFFFF"/>
          </a:solidFill>
          <a:ln w="9525">
            <a:solidFill>
              <a:srgbClr val="E3DFD5"/>
            </a:solidFill>
            <a:prstDash val="solid"/>
          </a:ln>
        </p:spPr>
      </p:sp>
      <p:sp>
        <p:nvSpPr>
          <p:cNvPr id="43" name="Text 41"/>
          <p:cNvSpPr txBox="1"/>
          <p:nvPr/>
        </p:nvSpPr>
        <p:spPr>
          <a:xfrm>
            <a:off x="8257032" y="3913632"/>
            <a:ext cx="3017520" cy="237744"/>
          </a:xfrm>
          <a:prstGeom prst="rect">
            <a:avLst/>
          </a:prstGeom>
          <a:noFill/>
          <a:ln/>
        </p:spPr>
        <p:txBody>
          <a:bodyPr wrap="square" lIns="0" tIns="0" rIns="0" bIns="0" rtlCol="0" anchor="ctr"/>
          <a:lstStyle/>
          <a:p>
            <a:pPr indent="0" marL="0">
              <a:buNone/>
            </a:pPr>
            <a:r>
              <a:rPr lang="en-US" sz="1100" b="1" spc="120" kern="0" dirty="0">
                <a:solidFill>
                  <a:srgbClr val="C3A965"/>
                </a:solidFill>
                <a:latin typeface="Arial" pitchFamily="34" charset="0"/>
                <a:ea typeface="Arial" pitchFamily="34" charset="-122"/>
                <a:cs typeface="Arial" pitchFamily="34" charset="-120"/>
              </a:rPr>
              <a:t>Week 6</a:t>
            </a:r>
            <a:endParaRPr lang="en-US" sz="1100" dirty="0"/>
          </a:p>
        </p:txBody>
      </p:sp>
      <p:sp>
        <p:nvSpPr>
          <p:cNvPr id="44" name="Text 42"/>
          <p:cNvSpPr txBox="1"/>
          <p:nvPr/>
        </p:nvSpPr>
        <p:spPr>
          <a:xfrm>
            <a:off x="8257032" y="4169664"/>
            <a:ext cx="3017520" cy="402336"/>
          </a:xfrm>
          <a:prstGeom prst="rect">
            <a:avLst/>
          </a:prstGeom>
          <a:noFill/>
          <a:ln/>
        </p:spPr>
        <p:txBody>
          <a:bodyPr wrap="square" lIns="0" tIns="0" rIns="0" bIns="0" rtlCol="0" anchor="t"/>
          <a:lstStyle/>
          <a:p>
            <a:pPr indent="0" marL="0">
              <a:lnSpc>
                <a:spcPts val="1500"/>
              </a:lnSpc>
              <a:buNone/>
            </a:pPr>
            <a:r>
              <a:rPr lang="en-US" sz="1150" b="1" dirty="0">
                <a:solidFill>
                  <a:srgbClr val="162947"/>
                </a:solidFill>
                <a:latin typeface="Arial" pitchFamily="34" charset="0"/>
                <a:ea typeface="Arial" pitchFamily="34" charset="-122"/>
                <a:cs typeface="Arial" pitchFamily="34" charset="-120"/>
              </a:rPr>
              <a:t>Full papers only, no new content</a:t>
            </a:r>
            <a:endParaRPr lang="en-US" sz="1150" dirty="0"/>
          </a:p>
        </p:txBody>
      </p:sp>
      <p:sp>
        <p:nvSpPr>
          <p:cNvPr id="45" name="Text 43"/>
          <p:cNvSpPr txBox="1"/>
          <p:nvPr/>
        </p:nvSpPr>
        <p:spPr>
          <a:xfrm>
            <a:off x="8257032" y="4572000"/>
            <a:ext cx="3017520" cy="256032"/>
          </a:xfrm>
          <a:prstGeom prst="rect">
            <a:avLst/>
          </a:prstGeom>
          <a:noFill/>
          <a:ln/>
        </p:spPr>
        <p:txBody>
          <a:bodyPr wrap="square" lIns="0" tIns="0" rIns="0" bIns="0" rtlCol="0" anchor="ctr"/>
          <a:lstStyle/>
          <a:p>
            <a:pPr indent="0" marL="0">
              <a:buNone/>
            </a:pPr>
            <a:r>
              <a:rPr lang="en-US" sz="1000" dirty="0">
                <a:solidFill>
                  <a:srgbClr val="5D6471"/>
                </a:solidFill>
                <a:latin typeface="Arial" pitchFamily="34" charset="0"/>
                <a:ea typeface="Arial" pitchFamily="34" charset="-122"/>
                <a:cs typeface="Arial" pitchFamily="34" charset="-120"/>
              </a:rPr>
              <a:t>Two full papers, marked and reviewed.</a:t>
            </a:r>
            <a:endParaRPr lang="en-US" sz="1000" dirty="0"/>
          </a:p>
        </p:txBody>
      </p:sp>
      <p:sp>
        <p:nvSpPr>
          <p:cNvPr id="46" name="Shape 44"/>
          <p:cNvSpPr/>
          <p:nvPr/>
        </p:nvSpPr>
        <p:spPr>
          <a:xfrm>
            <a:off x="685800" y="5138928"/>
            <a:ext cx="10817352" cy="987552"/>
          </a:xfrm>
          <a:prstGeom prst="roundRect">
            <a:avLst>
              <a:gd name="adj" fmla="val 3704"/>
            </a:avLst>
          </a:prstGeom>
          <a:solidFill>
            <a:srgbClr val="EFEBE1"/>
          </a:solidFill>
          <a:ln/>
        </p:spPr>
      </p:sp>
      <p:sp>
        <p:nvSpPr>
          <p:cNvPr id="47" name="Text 45"/>
          <p:cNvSpPr txBox="1"/>
          <p:nvPr/>
        </p:nvSpPr>
        <p:spPr>
          <a:xfrm>
            <a:off x="1005840" y="5321808"/>
            <a:ext cx="10149840" cy="256032"/>
          </a:xfrm>
          <a:prstGeom prst="rect">
            <a:avLst/>
          </a:prstGeom>
          <a:noFill/>
          <a:ln/>
        </p:spPr>
        <p:txBody>
          <a:bodyPr wrap="square" lIns="0" tIns="0" rIns="0" bIns="0" rtlCol="0" anchor="ctr"/>
          <a:lstStyle/>
          <a:p>
            <a:pPr indent="0" marL="0">
              <a:buNone/>
            </a:pPr>
            <a:r>
              <a:rPr lang="en-US" sz="1200" b="1" dirty="0">
                <a:solidFill>
                  <a:srgbClr val="162947"/>
                </a:solidFill>
                <a:latin typeface="Arial" pitchFamily="34" charset="0"/>
                <a:ea typeface="Arial" pitchFamily="34" charset="-122"/>
                <a:cs typeface="Arial" pitchFamily="34" charset="-120"/>
              </a:rPr>
              <a:t>Full papers come in weeks 1, 5 and twice in week 6, with timed sections in weeks 3 and 4.</a:t>
            </a:r>
            <a:endParaRPr lang="en-US" sz="1200" dirty="0"/>
          </a:p>
        </p:txBody>
      </p:sp>
      <p:sp>
        <p:nvSpPr>
          <p:cNvPr id="48" name="Text 46"/>
          <p:cNvSpPr txBox="1"/>
          <p:nvPr/>
        </p:nvSpPr>
        <p:spPr>
          <a:xfrm>
            <a:off x="1005840" y="5614416"/>
            <a:ext cx="10149840" cy="274320"/>
          </a:xfrm>
          <a:prstGeom prst="rect">
            <a:avLst/>
          </a:prstGeom>
          <a:noFill/>
          <a:ln/>
        </p:spPr>
        <p:txBody>
          <a:bodyPr wrap="square" lIns="0" tIns="0" rIns="0" bIns="0" rtlCol="0" anchor="ctr"/>
          <a:lstStyle/>
          <a:p>
            <a:pPr indent="0" marL="0">
              <a:buNone/>
            </a:pPr>
            <a:r>
              <a:rPr lang="en-US" sz="1100" dirty="0">
                <a:solidFill>
                  <a:srgbClr val="5D6471"/>
                </a:solidFill>
                <a:latin typeface="Arial" pitchFamily="34" charset="0"/>
                <a:ea typeface="Arial" pitchFamily="34" charset="-122"/>
                <a:cs typeface="Arial" pitchFamily="34" charset="-120"/>
              </a:rPr>
              <a:t>That gives three rounds of feedback with time left to act on each one.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PAST PAPERS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How they are used, and from when</a:t>
            </a:r>
            <a:endParaRPr lang="en-US" sz="3300" dirty="0"/>
          </a:p>
        </p:txBody>
      </p:sp>
      <p:sp>
        <p:nvSpPr>
          <p:cNvPr id="4" name="Text 2"/>
          <p:cNvSpPr txBox="1"/>
          <p:nvPr/>
        </p:nvSpPr>
        <p:spPr>
          <a:xfrm>
            <a:off x="685800" y="1463040"/>
            <a:ext cx="10424160" cy="274320"/>
          </a:xfrm>
          <a:prstGeom prst="rect">
            <a:avLst/>
          </a:prstGeom>
          <a:noFill/>
          <a:ln/>
        </p:spPr>
        <p:txBody>
          <a:bodyPr wrap="square" lIns="0" tIns="0" rIns="0" bIns="0" rtlCol="0" anchor="t"/>
          <a:lstStyle/>
          <a:p>
            <a:pPr indent="0" marL="0">
              <a:buNone/>
            </a:pPr>
            <a:r>
              <a:rPr lang="en-US" sz="1250" dirty="0">
                <a:solidFill>
                  <a:srgbClr val="5D6471"/>
                </a:solidFill>
                <a:latin typeface="Arial" pitchFamily="34" charset="0"/>
                <a:ea typeface="Arial" pitchFamily="34" charset="-122"/>
                <a:cs typeface="Arial" pitchFamily="34" charset="-120"/>
              </a:rPr>
              <a:t>Past papers do two jobs here, and we use them differently for each.</a:t>
            </a:r>
            <a:endParaRPr lang="en-US" sz="1250" dirty="0"/>
          </a:p>
        </p:txBody>
      </p:sp>
      <p:sp>
        <p:nvSpPr>
          <p:cNvPr id="5" name="Shape 3"/>
          <p:cNvSpPr/>
          <p:nvPr/>
        </p:nvSpPr>
        <p:spPr>
          <a:xfrm>
            <a:off x="685800" y="1847088"/>
            <a:ext cx="5212080" cy="2724912"/>
          </a:xfrm>
          <a:prstGeom prst="roundRect">
            <a:avLst>
              <a:gd name="adj" fmla="val 1342"/>
            </a:avLst>
          </a:prstGeom>
          <a:solidFill>
            <a:srgbClr val="FFFFFF"/>
          </a:solidFill>
          <a:ln w="9525">
            <a:solidFill>
              <a:srgbClr val="C3A965"/>
            </a:solidFill>
            <a:prstDash val="solid"/>
          </a:ln>
        </p:spPr>
      </p:sp>
      <p:sp>
        <p:nvSpPr>
          <p:cNvPr id="6" name="Text 4"/>
          <p:cNvSpPr txBox="1"/>
          <p:nvPr/>
        </p:nvSpPr>
        <p:spPr>
          <a:xfrm>
            <a:off x="1005840" y="2048256"/>
            <a:ext cx="4572000" cy="310896"/>
          </a:xfrm>
          <a:prstGeom prst="rect">
            <a:avLst/>
          </a:prstGeom>
          <a:noFill/>
          <a:ln/>
        </p:spPr>
        <p:txBody>
          <a:bodyPr wrap="square" lIns="0" tIns="0" rIns="0" bIns="0" rtlCol="0" anchor="t"/>
          <a:lstStyle/>
          <a:p>
            <a:pPr indent="0" marL="0">
              <a:buNone/>
            </a:pPr>
            <a:r>
              <a:rPr lang="en-US" sz="2000" dirty="0">
                <a:solidFill>
                  <a:srgbClr val="162947"/>
                </a:solidFill>
                <a:latin typeface="Cambria" pitchFamily="34" charset="0"/>
                <a:ea typeface="Cambria" pitchFamily="34" charset="-122"/>
                <a:cs typeface="Cambria" pitchFamily="34" charset="-120"/>
              </a:rPr>
              <a:t>Questions, from the next session</a:t>
            </a:r>
            <a:endParaRPr lang="en-US" sz="2000" dirty="0"/>
          </a:p>
        </p:txBody>
      </p:sp>
      <p:sp>
        <p:nvSpPr>
          <p:cNvPr id="7" name="Text 5"/>
          <p:cNvSpPr txBox="1"/>
          <p:nvPr/>
        </p:nvSpPr>
        <p:spPr>
          <a:xfrm>
            <a:off x="1005840" y="2414016"/>
            <a:ext cx="4572000" cy="365760"/>
          </a:xfrm>
          <a:prstGeom prst="rect">
            <a:avLst/>
          </a:prstGeom>
          <a:noFill/>
          <a:ln/>
        </p:spPr>
        <p:txBody>
          <a:bodyPr wrap="square" lIns="0" tIns="0" rIns="0" bIns="0" rtlCol="0" anchor="t"/>
          <a:lstStyle/>
          <a:p>
            <a:pPr indent="0" marL="0">
              <a:lnSpc>
                <a:spcPts val="1400"/>
              </a:lnSpc>
              <a:buNone/>
            </a:pPr>
            <a:r>
              <a:rPr lang="en-US" sz="1050" i="1" dirty="0">
                <a:solidFill>
                  <a:srgbClr val="5D6471"/>
                </a:solidFill>
                <a:latin typeface="Arial" pitchFamily="34" charset="0"/>
                <a:ea typeface="Arial" pitchFamily="34" charset="-122"/>
                <a:cs typeface="Arial" pitchFamily="34" charset="-120"/>
              </a:rPr>
              <a:t>Every topic is practised on real exam questions rather than textbook exercises.</a:t>
            </a:r>
            <a:endParaRPr lang="en-US" sz="1050" dirty="0"/>
          </a:p>
        </p:txBody>
      </p:sp>
      <p:sp>
        <p:nvSpPr>
          <p:cNvPr id="8" name="Text 6"/>
          <p:cNvSpPr txBox="1"/>
          <p:nvPr/>
        </p:nvSpPr>
        <p:spPr>
          <a:xfrm>
            <a:off x="1005840" y="2889504"/>
            <a:ext cx="4572000" cy="1097280"/>
          </a:xfrm>
          <a:prstGeom prst="rect">
            <a:avLst/>
          </a:prstGeom>
          <a:noFill/>
          <a:ln/>
        </p:spPr>
        <p:txBody>
          <a:bodyPr wrap="square" lIns="0" tIns="0" rIns="0" bIns="0" rtlCol="0" anchor="ctr"/>
          <a:lstStyle/>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Topic-sorted questions while the topic is being covered</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Mixed and ungrouped in the daily practice, so the method has to be chosen first</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Marked against the published mark scheme</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Anything wrong goes into the error log</a:t>
            </a:r>
            <a:endParaRPr lang="en-US" sz="1100" dirty="0"/>
          </a:p>
        </p:txBody>
      </p:sp>
      <p:sp>
        <p:nvSpPr>
          <p:cNvPr id="9" name="Shape 7"/>
          <p:cNvSpPr/>
          <p:nvPr/>
        </p:nvSpPr>
        <p:spPr>
          <a:xfrm>
            <a:off x="6291072" y="1847088"/>
            <a:ext cx="5212080" cy="2724912"/>
          </a:xfrm>
          <a:prstGeom prst="roundRect">
            <a:avLst>
              <a:gd name="adj" fmla="val 1342"/>
            </a:avLst>
          </a:prstGeom>
          <a:solidFill>
            <a:srgbClr val="162947"/>
          </a:solidFill>
          <a:ln/>
        </p:spPr>
      </p:sp>
      <p:sp>
        <p:nvSpPr>
          <p:cNvPr id="10" name="Text 8"/>
          <p:cNvSpPr txBox="1"/>
          <p:nvPr/>
        </p:nvSpPr>
        <p:spPr>
          <a:xfrm>
            <a:off x="6611112" y="2048256"/>
            <a:ext cx="4572000" cy="310896"/>
          </a:xfrm>
          <a:prstGeom prst="rect">
            <a:avLst/>
          </a:prstGeom>
          <a:noFill/>
          <a:ln/>
        </p:spPr>
        <p:txBody>
          <a:bodyPr wrap="square" lIns="0" tIns="0" rIns="0" bIns="0" rtlCol="0" anchor="t"/>
          <a:lstStyle/>
          <a:p>
            <a:pPr indent="0" marL="0">
              <a:buNone/>
            </a:pPr>
            <a:r>
              <a:rPr lang="en-US" sz="2000" dirty="0">
                <a:solidFill>
                  <a:srgbClr val="F6F4EF"/>
                </a:solidFill>
                <a:latin typeface="Cambria" pitchFamily="34" charset="0"/>
                <a:ea typeface="Cambria" pitchFamily="34" charset="-122"/>
                <a:cs typeface="Cambria" pitchFamily="34" charset="-120"/>
              </a:rPr>
              <a:t>Whole papers, four of them</a:t>
            </a:r>
            <a:endParaRPr lang="en-US" sz="2000" dirty="0"/>
          </a:p>
        </p:txBody>
      </p:sp>
      <p:sp>
        <p:nvSpPr>
          <p:cNvPr id="11" name="Text 9"/>
          <p:cNvSpPr txBox="1"/>
          <p:nvPr/>
        </p:nvSpPr>
        <p:spPr>
          <a:xfrm>
            <a:off x="6611112" y="2414016"/>
            <a:ext cx="4572000" cy="365760"/>
          </a:xfrm>
          <a:prstGeom prst="rect">
            <a:avLst/>
          </a:prstGeom>
          <a:noFill/>
          <a:ln/>
        </p:spPr>
        <p:txBody>
          <a:bodyPr wrap="square" lIns="0" tIns="0" rIns="0" bIns="0" rtlCol="0" anchor="t"/>
          <a:lstStyle/>
          <a:p>
            <a:pPr indent="0" marL="0">
              <a:lnSpc>
                <a:spcPts val="1400"/>
              </a:lnSpc>
              <a:buNone/>
            </a:pPr>
            <a:r>
              <a:rPr lang="en-US" sz="1050" i="1" dirty="0">
                <a:solidFill>
                  <a:srgbClr val="A8B2C2"/>
                </a:solidFill>
                <a:latin typeface="Arial" pitchFamily="34" charset="0"/>
                <a:ea typeface="Arial" pitchFamily="34" charset="-122"/>
                <a:cs typeface="Arial" pitchFamily="34" charset="-120"/>
              </a:rPr>
              <a:t>Timed, under exam conditions, on set dates. These are how we measure progress.</a:t>
            </a:r>
            <a:endParaRPr lang="en-US" sz="1050" dirty="0"/>
          </a:p>
        </p:txBody>
      </p:sp>
      <p:sp>
        <p:nvSpPr>
          <p:cNvPr id="12" name="Text 10"/>
          <p:cNvSpPr txBox="1"/>
          <p:nvPr/>
        </p:nvSpPr>
        <p:spPr>
          <a:xfrm>
            <a:off x="6611112" y="2862072"/>
            <a:ext cx="914400" cy="237744"/>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1</a:t>
            </a:r>
            <a:endParaRPr lang="en-US" sz="950" dirty="0"/>
          </a:p>
        </p:txBody>
      </p:sp>
      <p:sp>
        <p:nvSpPr>
          <p:cNvPr id="13" name="Text 11"/>
          <p:cNvSpPr txBox="1"/>
          <p:nvPr/>
        </p:nvSpPr>
        <p:spPr>
          <a:xfrm>
            <a:off x="7589520" y="2834640"/>
            <a:ext cx="3611880" cy="274320"/>
          </a:xfrm>
          <a:prstGeom prst="rect">
            <a:avLst/>
          </a:prstGeom>
          <a:noFill/>
          <a:ln/>
        </p:spPr>
        <p:txBody>
          <a:bodyPr wrap="square" lIns="0" tIns="0" rIns="0" bIns="0" rtlCol="0" anchor="t"/>
          <a:lstStyle/>
          <a:p>
            <a:pPr indent="0" marL="0">
              <a:buNone/>
            </a:pPr>
            <a:r>
              <a:rPr lang="en-US" sz="1150" dirty="0">
                <a:solidFill>
                  <a:srgbClr val="E8E4DA"/>
                </a:solidFill>
                <a:latin typeface="Arial" pitchFamily="34" charset="0"/>
                <a:ea typeface="Arial" pitchFamily="34" charset="-122"/>
                <a:cs typeface="Arial" pitchFamily="34" charset="-120"/>
              </a:rPr>
              <a:t>Baseline paper, at home, timed</a:t>
            </a:r>
            <a:endParaRPr lang="en-US" sz="1150" dirty="0"/>
          </a:p>
        </p:txBody>
      </p:sp>
      <p:sp>
        <p:nvSpPr>
          <p:cNvPr id="14" name="Text 12"/>
          <p:cNvSpPr txBox="1"/>
          <p:nvPr/>
        </p:nvSpPr>
        <p:spPr>
          <a:xfrm>
            <a:off x="6611112" y="3264408"/>
            <a:ext cx="914400" cy="237744"/>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5</a:t>
            </a:r>
            <a:endParaRPr lang="en-US" sz="950" dirty="0"/>
          </a:p>
        </p:txBody>
      </p:sp>
      <p:sp>
        <p:nvSpPr>
          <p:cNvPr id="15" name="Text 13"/>
          <p:cNvSpPr txBox="1"/>
          <p:nvPr/>
        </p:nvSpPr>
        <p:spPr>
          <a:xfrm>
            <a:off x="7589520" y="3236976"/>
            <a:ext cx="3611880" cy="274320"/>
          </a:xfrm>
          <a:prstGeom prst="rect">
            <a:avLst/>
          </a:prstGeom>
          <a:noFill/>
          <a:ln/>
        </p:spPr>
        <p:txBody>
          <a:bodyPr wrap="square" lIns="0" tIns="0" rIns="0" bIns="0" rtlCol="0" anchor="t"/>
          <a:lstStyle/>
          <a:p>
            <a:pPr indent="0" marL="0">
              <a:buNone/>
            </a:pPr>
            <a:r>
              <a:rPr lang="en-US" sz="1150" dirty="0">
                <a:solidFill>
                  <a:srgbClr val="E8E4DA"/>
                </a:solidFill>
                <a:latin typeface="Arial" pitchFamily="34" charset="0"/>
                <a:ea typeface="Arial" pitchFamily="34" charset="-122"/>
                <a:cs typeface="Arial" pitchFamily="34" charset="-120"/>
              </a:rPr>
              <a:t>Full paper under exam conditions</a:t>
            </a:r>
            <a:endParaRPr lang="en-US" sz="1150" dirty="0"/>
          </a:p>
        </p:txBody>
      </p:sp>
      <p:sp>
        <p:nvSpPr>
          <p:cNvPr id="16" name="Text 14"/>
          <p:cNvSpPr txBox="1"/>
          <p:nvPr/>
        </p:nvSpPr>
        <p:spPr>
          <a:xfrm>
            <a:off x="6611112" y="3666744"/>
            <a:ext cx="914400" cy="237744"/>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6</a:t>
            </a:r>
            <a:endParaRPr lang="en-US" sz="950" dirty="0"/>
          </a:p>
        </p:txBody>
      </p:sp>
      <p:sp>
        <p:nvSpPr>
          <p:cNvPr id="17" name="Text 15"/>
          <p:cNvSpPr txBox="1"/>
          <p:nvPr/>
        </p:nvSpPr>
        <p:spPr>
          <a:xfrm>
            <a:off x="7589520" y="3639312"/>
            <a:ext cx="3611880" cy="274320"/>
          </a:xfrm>
          <a:prstGeom prst="rect">
            <a:avLst/>
          </a:prstGeom>
          <a:noFill/>
          <a:ln/>
        </p:spPr>
        <p:txBody>
          <a:bodyPr wrap="square" lIns="0" tIns="0" rIns="0" bIns="0" rtlCol="0" anchor="t"/>
          <a:lstStyle/>
          <a:p>
            <a:pPr indent="0" marL="0">
              <a:buNone/>
            </a:pPr>
            <a:r>
              <a:rPr lang="en-US" sz="1150" dirty="0">
                <a:solidFill>
                  <a:srgbClr val="E8E4DA"/>
                </a:solidFill>
                <a:latin typeface="Arial" pitchFamily="34" charset="0"/>
                <a:ea typeface="Arial" pitchFamily="34" charset="-122"/>
                <a:cs typeface="Arial" pitchFamily="34" charset="-120"/>
              </a:rPr>
              <a:t>Two full papers, marked and reviewed</a:t>
            </a:r>
            <a:endParaRPr lang="en-US" sz="1150" dirty="0"/>
          </a:p>
        </p:txBody>
      </p:sp>
      <p:sp>
        <p:nvSpPr>
          <p:cNvPr id="18" name="Text 16"/>
          <p:cNvSpPr txBox="1"/>
          <p:nvPr/>
        </p:nvSpPr>
        <p:spPr>
          <a:xfrm>
            <a:off x="6611112" y="3895344"/>
            <a:ext cx="4572000" cy="548640"/>
          </a:xfrm>
          <a:prstGeom prst="rect">
            <a:avLst/>
          </a:prstGeom>
          <a:noFill/>
          <a:ln/>
        </p:spPr>
        <p:txBody>
          <a:bodyPr wrap="square" lIns="0" tIns="0" rIns="0" bIns="0" rtlCol="0" anchor="t"/>
          <a:lstStyle/>
          <a:p>
            <a:pPr indent="0" marL="0">
              <a:lnSpc>
                <a:spcPts val="1350"/>
              </a:lnSpc>
              <a:buNone/>
            </a:pPr>
            <a:r>
              <a:rPr lang="en-US" sz="1000" dirty="0">
                <a:solidFill>
                  <a:srgbClr val="A8B2C2"/>
                </a:solidFill>
                <a:latin typeface="Arial" pitchFamily="34" charset="0"/>
                <a:ea typeface="Arial" pitchFamily="34" charset="-122"/>
                <a:cs typeface="Arial" pitchFamily="34" charset="-120"/>
              </a:rPr>
              <a:t>The baseline uses a past paper rather than the specimen, since part of the specimen has already been seen.</a:t>
            </a:r>
            <a:endParaRPr lang="en-US" sz="1000" dirty="0"/>
          </a:p>
          <a:p>
            <a:pPr indent="0" marL="0">
              <a:lnSpc>
                <a:spcPts val="1350"/>
              </a:lnSpc>
              <a:buNone/>
            </a:pPr>
            <a:r>
              <a:rPr lang="en-US" sz="1000" dirty="0">
                <a:solidFill>
                  <a:srgbClr val="A8B2C2"/>
                </a:solidFill>
                <a:latin typeface="Arial" pitchFamily="34" charset="0"/>
                <a:ea typeface="Arial" pitchFamily="34" charset="-122"/>
                <a:cs typeface="Arial" pitchFamily="34" charset="-120"/>
              </a:rPr>
              <a:t>About twelve hours in total, including the marking.</a:t>
            </a:r>
            <a:endParaRPr lang="en-US" sz="1000" dirty="0"/>
          </a:p>
        </p:txBody>
      </p:sp>
      <p:sp>
        <p:nvSpPr>
          <p:cNvPr id="19" name="Shape 17"/>
          <p:cNvSpPr/>
          <p:nvPr/>
        </p:nvSpPr>
        <p:spPr>
          <a:xfrm>
            <a:off x="685800" y="4754880"/>
            <a:ext cx="10817352" cy="1371600"/>
          </a:xfrm>
          <a:prstGeom prst="roundRect">
            <a:avLst>
              <a:gd name="adj" fmla="val 2667"/>
            </a:avLst>
          </a:prstGeom>
          <a:solidFill>
            <a:srgbClr val="EFEBE1"/>
          </a:solidFill>
          <a:ln/>
        </p:spPr>
      </p:sp>
      <p:sp>
        <p:nvSpPr>
          <p:cNvPr id="20" name="Text 18"/>
          <p:cNvSpPr txBox="1"/>
          <p:nvPr/>
        </p:nvSpPr>
        <p:spPr>
          <a:xfrm>
            <a:off x="1005840" y="4919472"/>
            <a:ext cx="4846320" cy="219456"/>
          </a:xfrm>
          <a:prstGeom prst="rect">
            <a:avLst/>
          </a:prstGeom>
          <a:noFill/>
          <a:ln/>
        </p:spPr>
        <p:txBody>
          <a:bodyPr wrap="square" lIns="0" tIns="0" rIns="0" bIns="0" rtlCol="0" anchor="ctr"/>
          <a:lstStyle/>
          <a:p>
            <a:pPr indent="0" marL="0">
              <a:buNone/>
            </a:pPr>
            <a:r>
              <a:rPr lang="en-US" sz="900" b="1" spc="140" kern="0" dirty="0">
                <a:solidFill>
                  <a:srgbClr val="C3A965"/>
                </a:solidFill>
                <a:latin typeface="Arial" pitchFamily="34" charset="0"/>
                <a:ea typeface="Arial" pitchFamily="34" charset="-122"/>
                <a:cs typeface="Arial" pitchFamily="34" charset="-120"/>
              </a:rPr>
              <a:t>MARKING</a:t>
            </a:r>
            <a:endParaRPr lang="en-US" sz="900" dirty="0"/>
          </a:p>
        </p:txBody>
      </p:sp>
      <p:sp>
        <p:nvSpPr>
          <p:cNvPr id="21" name="Text 19"/>
          <p:cNvSpPr txBox="1"/>
          <p:nvPr/>
        </p:nvSpPr>
        <p:spPr>
          <a:xfrm>
            <a:off x="1005840" y="5175504"/>
            <a:ext cx="4846320" cy="804672"/>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A paper is only worth the time if it is marked and reviewed. Charlotte marks each one against the published mark scheme, and the session afterwards covers her five biggest losses.</a:t>
            </a:r>
            <a:endParaRPr lang="en-US" sz="1050" dirty="0"/>
          </a:p>
        </p:txBody>
      </p:sp>
      <p:sp>
        <p:nvSpPr>
          <p:cNvPr id="22" name="Text 20"/>
          <p:cNvSpPr txBox="1"/>
          <p:nvPr/>
        </p:nvSpPr>
        <p:spPr>
          <a:xfrm>
            <a:off x="6400800" y="4919472"/>
            <a:ext cx="4846320" cy="219456"/>
          </a:xfrm>
          <a:prstGeom prst="rect">
            <a:avLst/>
          </a:prstGeom>
          <a:noFill/>
          <a:ln/>
        </p:spPr>
        <p:txBody>
          <a:bodyPr wrap="square" lIns="0" tIns="0" rIns="0" bIns="0" rtlCol="0" anchor="ctr"/>
          <a:lstStyle/>
          <a:p>
            <a:pPr indent="0" marL="0">
              <a:buNone/>
            </a:pPr>
            <a:r>
              <a:rPr lang="en-US" sz="900" b="1" spc="140" kern="0" dirty="0">
                <a:solidFill>
                  <a:srgbClr val="C3A965"/>
                </a:solidFill>
                <a:latin typeface="Arial" pitchFamily="34" charset="0"/>
                <a:ea typeface="Arial" pitchFamily="34" charset="-122"/>
                <a:cs typeface="Arial" pitchFamily="34" charset="-120"/>
              </a:rPr>
              <a:t>WHY NOT MORE</a:t>
            </a:r>
            <a:endParaRPr lang="en-US" sz="900" dirty="0"/>
          </a:p>
        </p:txBody>
      </p:sp>
      <p:sp>
        <p:nvSpPr>
          <p:cNvPr id="23" name="Text 21"/>
          <p:cNvSpPr txBox="1"/>
          <p:nvPr/>
        </p:nvSpPr>
        <p:spPr>
          <a:xfrm>
            <a:off x="6400800" y="5175504"/>
            <a:ext cx="4846320" cy="804672"/>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There is no shortage of 4MA1 papers, so the limit is time. A full paper costs two hours to sit and one to review. In weeks 2 to 4 those hours are better spent on teaching and short timed sections.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WEEKS 1 AND 2</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Starting with the foundations</a:t>
            </a:r>
            <a:endParaRPr lang="en-US" sz="3300" dirty="0"/>
          </a:p>
        </p:txBody>
      </p:sp>
      <p:sp>
        <p:nvSpPr>
          <p:cNvPr id="4" name="Shape 2"/>
          <p:cNvSpPr/>
          <p:nvPr/>
        </p:nvSpPr>
        <p:spPr>
          <a:xfrm>
            <a:off x="685800" y="1572768"/>
            <a:ext cx="5212080" cy="4553712"/>
          </a:xfrm>
          <a:prstGeom prst="roundRect">
            <a:avLst>
              <a:gd name="adj" fmla="val 803"/>
            </a:avLst>
          </a:prstGeom>
          <a:solidFill>
            <a:srgbClr val="FFFFFF"/>
          </a:solidFill>
          <a:ln w="9525">
            <a:solidFill>
              <a:srgbClr val="E3DFD5"/>
            </a:solidFill>
            <a:prstDash val="solid"/>
          </a:ln>
        </p:spPr>
      </p:sp>
      <p:sp>
        <p:nvSpPr>
          <p:cNvPr id="5" name="Shape 3"/>
          <p:cNvSpPr/>
          <p:nvPr/>
        </p:nvSpPr>
        <p:spPr>
          <a:xfrm>
            <a:off x="1005840" y="1810512"/>
            <a:ext cx="420624" cy="420624"/>
          </a:xfrm>
          <a:prstGeom prst="ellipse">
            <a:avLst/>
          </a:prstGeom>
          <a:solidFill>
            <a:srgbClr val="162947"/>
          </a:solidFill>
          <a:ln/>
        </p:spPr>
      </p:sp>
      <p:sp>
        <p:nvSpPr>
          <p:cNvPr id="6" name="Text 4"/>
          <p:cNvSpPr txBox="1"/>
          <p:nvPr/>
        </p:nvSpPr>
        <p:spPr>
          <a:xfrm>
            <a:off x="1005840"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554480"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1  ·  21 to 27 Sep</a:t>
            </a:r>
            <a:endParaRPr lang="en-US" sz="950" dirty="0"/>
          </a:p>
        </p:txBody>
      </p:sp>
      <p:sp>
        <p:nvSpPr>
          <p:cNvPr id="8" name="Text 6"/>
          <p:cNvSpPr txBox="1"/>
          <p:nvPr/>
        </p:nvSpPr>
        <p:spPr>
          <a:xfrm>
            <a:off x="1554480"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Baseline and setup</a:t>
            </a:r>
            <a:endParaRPr lang="en-US" sz="2000" dirty="0"/>
          </a:p>
        </p:txBody>
      </p:sp>
      <p:sp>
        <p:nvSpPr>
          <p:cNvPr id="9" name="Text 7"/>
          <p:cNvSpPr txBox="1"/>
          <p:nvPr/>
        </p:nvSpPr>
        <p:spPr>
          <a:xfrm>
            <a:off x="1005840"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Fluency audit: 35 questions, 50 minutes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Calculator setup: fraction key, ANS and STO, standard form, table mode, degree mode</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The formula sheet: what is provided, so no time goes on learning it</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Method marks: how working earns marks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Setting up the error log</a:t>
            </a:r>
            <a:endParaRPr lang="en-US" sz="1150" dirty="0"/>
          </a:p>
        </p:txBody>
      </p:sp>
      <p:sp>
        <p:nvSpPr>
          <p:cNvPr id="10" name="Shape 8"/>
          <p:cNvSpPr/>
          <p:nvPr/>
        </p:nvSpPr>
        <p:spPr>
          <a:xfrm>
            <a:off x="1005840" y="4443984"/>
            <a:ext cx="4572000" cy="0"/>
          </a:xfrm>
          <a:prstGeom prst="line">
            <a:avLst/>
          </a:prstGeom>
          <a:noFill/>
          <a:ln w="9525">
            <a:solidFill>
              <a:srgbClr val="E3DFD5"/>
            </a:solidFill>
            <a:prstDash val="solid"/>
          </a:ln>
        </p:spPr>
      </p:sp>
      <p:sp>
        <p:nvSpPr>
          <p:cNvPr id="11" name="Text 9"/>
          <p:cNvSpPr txBox="1"/>
          <p:nvPr/>
        </p:nvSpPr>
        <p:spPr>
          <a:xfrm>
            <a:off x="1005840"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12" name="Text 10"/>
          <p:cNvSpPr txBox="1"/>
          <p:nvPr/>
        </p:nvSpPr>
        <p:spPr>
          <a:xfrm>
            <a:off x="1005840"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Baseline paper at home, 2 hours, timed. Daily practice: negatives in algebra.</a:t>
            </a:r>
            <a:endParaRPr lang="en-US" sz="1100" dirty="0"/>
          </a:p>
        </p:txBody>
      </p:sp>
      <p:sp>
        <p:nvSpPr>
          <p:cNvPr id="13" name="Text 11"/>
          <p:cNvSpPr txBox="1"/>
          <p:nvPr/>
        </p:nvSpPr>
        <p:spPr>
          <a:xfrm>
            <a:off x="1005840"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14" name="Text 12"/>
          <p:cNvSpPr txBox="1"/>
          <p:nvPr/>
        </p:nvSpPr>
        <p:spPr>
          <a:xfrm>
            <a:off x="1005840"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Baseline paper, reviewed together in session two</a:t>
            </a:r>
            <a:endParaRPr lang="en-US" sz="1100" dirty="0"/>
          </a:p>
        </p:txBody>
      </p:sp>
      <p:sp>
        <p:nvSpPr>
          <p:cNvPr id="15" name="Shape 13"/>
          <p:cNvSpPr/>
          <p:nvPr/>
        </p:nvSpPr>
        <p:spPr>
          <a:xfrm>
            <a:off x="6291072" y="1572768"/>
            <a:ext cx="5212080" cy="4553712"/>
          </a:xfrm>
          <a:prstGeom prst="roundRect">
            <a:avLst>
              <a:gd name="adj" fmla="val 803"/>
            </a:avLst>
          </a:prstGeom>
          <a:solidFill>
            <a:srgbClr val="FFFFFF"/>
          </a:solidFill>
          <a:ln w="9525">
            <a:solidFill>
              <a:srgbClr val="E3DFD5"/>
            </a:solidFill>
            <a:prstDash val="solid"/>
          </a:ln>
        </p:spPr>
      </p:sp>
      <p:sp>
        <p:nvSpPr>
          <p:cNvPr id="16" name="Shape 14"/>
          <p:cNvSpPr/>
          <p:nvPr/>
        </p:nvSpPr>
        <p:spPr>
          <a:xfrm>
            <a:off x="6611112" y="1810512"/>
            <a:ext cx="420624" cy="420624"/>
          </a:xfrm>
          <a:prstGeom prst="ellipse">
            <a:avLst/>
          </a:prstGeom>
          <a:solidFill>
            <a:srgbClr val="162947"/>
          </a:solidFill>
          <a:ln/>
        </p:spPr>
      </p:sp>
      <p:sp>
        <p:nvSpPr>
          <p:cNvPr id="17" name="Text 15"/>
          <p:cNvSpPr txBox="1"/>
          <p:nvPr/>
        </p:nvSpPr>
        <p:spPr>
          <a:xfrm>
            <a:off x="6611112"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8" name="Text 16"/>
          <p:cNvSpPr txBox="1"/>
          <p:nvPr/>
        </p:nvSpPr>
        <p:spPr>
          <a:xfrm>
            <a:off x="7159752"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2  ·  28 Sep to 4 Oct</a:t>
            </a:r>
            <a:endParaRPr lang="en-US" sz="950" dirty="0"/>
          </a:p>
        </p:txBody>
      </p:sp>
      <p:sp>
        <p:nvSpPr>
          <p:cNvPr id="19" name="Text 17"/>
          <p:cNvSpPr txBox="1"/>
          <p:nvPr/>
        </p:nvSpPr>
        <p:spPr>
          <a:xfrm>
            <a:off x="7159752"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Number</a:t>
            </a:r>
            <a:endParaRPr lang="en-US" sz="2000" dirty="0"/>
          </a:p>
        </p:txBody>
      </p:sp>
      <p:sp>
        <p:nvSpPr>
          <p:cNvPr id="20" name="Text 18"/>
          <p:cNvSpPr txBox="1"/>
          <p:nvPr/>
        </p:nvSpPr>
        <p:spPr>
          <a:xfrm>
            <a:off x="6611112"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Fractions: all four operations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Percentage multipliers, increase and decrease</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Reverse percentages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Standard form and index laws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One method per topic, used every time</a:t>
            </a:r>
            <a:endParaRPr lang="en-US" sz="1150" dirty="0"/>
          </a:p>
        </p:txBody>
      </p:sp>
      <p:sp>
        <p:nvSpPr>
          <p:cNvPr id="21" name="Shape 19"/>
          <p:cNvSpPr/>
          <p:nvPr/>
        </p:nvSpPr>
        <p:spPr>
          <a:xfrm>
            <a:off x="6611112" y="4443984"/>
            <a:ext cx="4572000" cy="0"/>
          </a:xfrm>
          <a:prstGeom prst="line">
            <a:avLst/>
          </a:prstGeom>
          <a:noFill/>
          <a:ln w="9525">
            <a:solidFill>
              <a:srgbClr val="E3DFD5"/>
            </a:solidFill>
            <a:prstDash val="solid"/>
          </a:ln>
        </p:spPr>
      </p:sp>
      <p:sp>
        <p:nvSpPr>
          <p:cNvPr id="22" name="Text 20"/>
          <p:cNvSpPr txBox="1"/>
          <p:nvPr/>
        </p:nvSpPr>
        <p:spPr>
          <a:xfrm>
            <a:off x="6611112"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23" name="Text 21"/>
          <p:cNvSpPr txBox="1"/>
          <p:nvPr/>
        </p:nvSpPr>
        <p:spPr>
          <a:xfrm>
            <a:off x="6611112"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practice: negatives and fractions.</a:t>
            </a:r>
            <a:endParaRPr lang="en-US" sz="1100" dirty="0"/>
          </a:p>
        </p:txBody>
      </p:sp>
      <p:sp>
        <p:nvSpPr>
          <p:cNvPr id="24" name="Text 22"/>
          <p:cNvSpPr txBox="1"/>
          <p:nvPr/>
        </p:nvSpPr>
        <p:spPr>
          <a:xfrm>
            <a:off x="6611112"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25" name="Text 23"/>
          <p:cNvSpPr txBox="1"/>
          <p:nvPr/>
        </p:nvSpPr>
        <p:spPr>
          <a:xfrm>
            <a:off x="6611112"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Topic questions on percentages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WEEKS 3 AND 4</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Algebra, then the data topics</a:t>
            </a:r>
            <a:endParaRPr lang="en-US" sz="3300" dirty="0"/>
          </a:p>
        </p:txBody>
      </p:sp>
      <p:sp>
        <p:nvSpPr>
          <p:cNvPr id="4" name="Shape 2"/>
          <p:cNvSpPr/>
          <p:nvPr/>
        </p:nvSpPr>
        <p:spPr>
          <a:xfrm>
            <a:off x="685800" y="1572768"/>
            <a:ext cx="5212080" cy="4553712"/>
          </a:xfrm>
          <a:prstGeom prst="roundRect">
            <a:avLst>
              <a:gd name="adj" fmla="val 803"/>
            </a:avLst>
          </a:prstGeom>
          <a:solidFill>
            <a:srgbClr val="FFFFFF"/>
          </a:solidFill>
          <a:ln w="9525">
            <a:solidFill>
              <a:srgbClr val="E3DFD5"/>
            </a:solidFill>
            <a:prstDash val="solid"/>
          </a:ln>
        </p:spPr>
      </p:sp>
      <p:sp>
        <p:nvSpPr>
          <p:cNvPr id="5" name="Shape 3"/>
          <p:cNvSpPr/>
          <p:nvPr/>
        </p:nvSpPr>
        <p:spPr>
          <a:xfrm>
            <a:off x="1005840" y="1810512"/>
            <a:ext cx="420624" cy="420624"/>
          </a:xfrm>
          <a:prstGeom prst="ellipse">
            <a:avLst/>
          </a:prstGeom>
          <a:solidFill>
            <a:srgbClr val="162947"/>
          </a:solidFill>
          <a:ln/>
        </p:spPr>
      </p:sp>
      <p:sp>
        <p:nvSpPr>
          <p:cNvPr id="6" name="Text 4"/>
          <p:cNvSpPr txBox="1"/>
          <p:nvPr/>
        </p:nvSpPr>
        <p:spPr>
          <a:xfrm>
            <a:off x="1005840"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7" name="Text 5"/>
          <p:cNvSpPr txBox="1"/>
          <p:nvPr/>
        </p:nvSpPr>
        <p:spPr>
          <a:xfrm>
            <a:off x="1554480"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3  ·  5 to 11 Oct</a:t>
            </a:r>
            <a:endParaRPr lang="en-US" sz="950" dirty="0"/>
          </a:p>
        </p:txBody>
      </p:sp>
      <p:sp>
        <p:nvSpPr>
          <p:cNvPr id="8" name="Text 6"/>
          <p:cNvSpPr txBox="1"/>
          <p:nvPr/>
        </p:nvSpPr>
        <p:spPr>
          <a:xfrm>
            <a:off x="1554480"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Algebra</a:t>
            </a:r>
            <a:endParaRPr lang="en-US" sz="2000" dirty="0"/>
          </a:p>
        </p:txBody>
      </p:sp>
      <p:sp>
        <p:nvSpPr>
          <p:cNvPr id="9" name="Text 7"/>
          <p:cNvSpPr txBox="1"/>
          <p:nvPr/>
        </p:nvSpPr>
        <p:spPr>
          <a:xfrm>
            <a:off x="1005840"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Collecting terms and expanding brackets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Solving with x on both sides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Substitution and rearranging formulae</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Linear simultaneous equations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Audit repeated (checkpoint 1)</a:t>
            </a:r>
            <a:endParaRPr lang="en-US" sz="1150" dirty="0"/>
          </a:p>
        </p:txBody>
      </p:sp>
      <p:sp>
        <p:nvSpPr>
          <p:cNvPr id="10" name="Shape 8"/>
          <p:cNvSpPr/>
          <p:nvPr/>
        </p:nvSpPr>
        <p:spPr>
          <a:xfrm>
            <a:off x="1005840" y="4443984"/>
            <a:ext cx="4572000" cy="0"/>
          </a:xfrm>
          <a:prstGeom prst="line">
            <a:avLst/>
          </a:prstGeom>
          <a:noFill/>
          <a:ln w="9525">
            <a:solidFill>
              <a:srgbClr val="E3DFD5"/>
            </a:solidFill>
            <a:prstDash val="solid"/>
          </a:ln>
        </p:spPr>
      </p:sp>
      <p:sp>
        <p:nvSpPr>
          <p:cNvPr id="11" name="Text 9"/>
          <p:cNvSpPr txBox="1"/>
          <p:nvPr/>
        </p:nvSpPr>
        <p:spPr>
          <a:xfrm>
            <a:off x="1005840"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12" name="Text 10"/>
          <p:cNvSpPr txBox="1"/>
          <p:nvPr/>
        </p:nvSpPr>
        <p:spPr>
          <a:xfrm>
            <a:off x="1005840"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practice: fractions and percentages.</a:t>
            </a:r>
            <a:endParaRPr lang="en-US" sz="1100" dirty="0"/>
          </a:p>
        </p:txBody>
      </p:sp>
      <p:sp>
        <p:nvSpPr>
          <p:cNvPr id="13" name="Text 11"/>
          <p:cNvSpPr txBox="1"/>
          <p:nvPr/>
        </p:nvSpPr>
        <p:spPr>
          <a:xfrm>
            <a:off x="1005840"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14" name="Text 12"/>
          <p:cNvSpPr txBox="1"/>
          <p:nvPr/>
        </p:nvSpPr>
        <p:spPr>
          <a:xfrm>
            <a:off x="1005840"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Timed section, 25 minutes, two-pass rule applied</a:t>
            </a:r>
            <a:endParaRPr lang="en-US" sz="1100" dirty="0"/>
          </a:p>
        </p:txBody>
      </p:sp>
      <p:sp>
        <p:nvSpPr>
          <p:cNvPr id="15" name="Shape 13"/>
          <p:cNvSpPr/>
          <p:nvPr/>
        </p:nvSpPr>
        <p:spPr>
          <a:xfrm>
            <a:off x="6291072" y="1572768"/>
            <a:ext cx="5212080" cy="4553712"/>
          </a:xfrm>
          <a:prstGeom prst="roundRect">
            <a:avLst>
              <a:gd name="adj" fmla="val 803"/>
            </a:avLst>
          </a:prstGeom>
          <a:solidFill>
            <a:srgbClr val="FFFFFF"/>
          </a:solidFill>
          <a:ln w="9525">
            <a:solidFill>
              <a:srgbClr val="E3DFD5"/>
            </a:solidFill>
            <a:prstDash val="solid"/>
          </a:ln>
        </p:spPr>
      </p:sp>
      <p:sp>
        <p:nvSpPr>
          <p:cNvPr id="16" name="Shape 14"/>
          <p:cNvSpPr/>
          <p:nvPr/>
        </p:nvSpPr>
        <p:spPr>
          <a:xfrm>
            <a:off x="6611112" y="1810512"/>
            <a:ext cx="420624" cy="420624"/>
          </a:xfrm>
          <a:prstGeom prst="ellipse">
            <a:avLst/>
          </a:prstGeom>
          <a:solidFill>
            <a:srgbClr val="162947"/>
          </a:solidFill>
          <a:ln/>
        </p:spPr>
      </p:sp>
      <p:sp>
        <p:nvSpPr>
          <p:cNvPr id="17" name="Text 15"/>
          <p:cNvSpPr txBox="1"/>
          <p:nvPr/>
        </p:nvSpPr>
        <p:spPr>
          <a:xfrm>
            <a:off x="6611112"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7159752"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4  ·  12 to 18 Oct</a:t>
            </a:r>
            <a:endParaRPr lang="en-US" sz="950" dirty="0"/>
          </a:p>
        </p:txBody>
      </p:sp>
      <p:sp>
        <p:nvSpPr>
          <p:cNvPr id="19" name="Text 17"/>
          <p:cNvSpPr txBox="1"/>
          <p:nvPr/>
        </p:nvSpPr>
        <p:spPr>
          <a:xfrm>
            <a:off x="7159752"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Ratio, data and graphs</a:t>
            </a:r>
            <a:endParaRPr lang="en-US" sz="2000" dirty="0"/>
          </a:p>
        </p:txBody>
      </p:sp>
      <p:sp>
        <p:nvSpPr>
          <p:cNvPr id="20" name="Text 18"/>
          <p:cNvSpPr txBox="1"/>
          <p:nvPr/>
        </p:nvSpPr>
        <p:spPr>
          <a:xfrm>
            <a:off x="6611112"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Ratio and proportion by the unitary method</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Averages and frequency tables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Estimated mean from grouped data</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Probability, tree diagrams and Venn diagrams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Sequences and straight-line graphs</a:t>
            </a:r>
            <a:endParaRPr lang="en-US" sz="1150" dirty="0"/>
          </a:p>
        </p:txBody>
      </p:sp>
      <p:sp>
        <p:nvSpPr>
          <p:cNvPr id="21" name="Shape 19"/>
          <p:cNvSpPr/>
          <p:nvPr/>
        </p:nvSpPr>
        <p:spPr>
          <a:xfrm>
            <a:off x="6611112" y="4443984"/>
            <a:ext cx="4572000" cy="0"/>
          </a:xfrm>
          <a:prstGeom prst="line">
            <a:avLst/>
          </a:prstGeom>
          <a:noFill/>
          <a:ln w="9525">
            <a:solidFill>
              <a:srgbClr val="E3DFD5"/>
            </a:solidFill>
            <a:prstDash val="solid"/>
          </a:ln>
        </p:spPr>
      </p:sp>
      <p:sp>
        <p:nvSpPr>
          <p:cNvPr id="22" name="Text 20"/>
          <p:cNvSpPr txBox="1"/>
          <p:nvPr/>
        </p:nvSpPr>
        <p:spPr>
          <a:xfrm>
            <a:off x="6611112"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23" name="Text 21"/>
          <p:cNvSpPr txBox="1"/>
          <p:nvPr/>
        </p:nvSpPr>
        <p:spPr>
          <a:xfrm>
            <a:off x="6611112"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practice: solving and ratio.</a:t>
            </a:r>
            <a:endParaRPr lang="en-US" sz="1100" dirty="0"/>
          </a:p>
        </p:txBody>
      </p:sp>
      <p:sp>
        <p:nvSpPr>
          <p:cNvPr id="24" name="Text 22"/>
          <p:cNvSpPr txBox="1"/>
          <p:nvPr/>
        </p:nvSpPr>
        <p:spPr>
          <a:xfrm>
            <a:off x="6611112"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25" name="Text 23"/>
          <p:cNvSpPr txBox="1"/>
          <p:nvPr/>
        </p:nvSpPr>
        <p:spPr>
          <a:xfrm>
            <a:off x="6611112"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Timed section, 40 minutes, marked against the mark scheme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WEEKS 5 AND 6</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Shape, then papers</a:t>
            </a:r>
            <a:endParaRPr lang="en-US" sz="3300" dirty="0"/>
          </a:p>
        </p:txBody>
      </p:sp>
      <p:sp>
        <p:nvSpPr>
          <p:cNvPr id="4" name="Shape 2"/>
          <p:cNvSpPr/>
          <p:nvPr/>
        </p:nvSpPr>
        <p:spPr>
          <a:xfrm>
            <a:off x="685800" y="1572768"/>
            <a:ext cx="5212080" cy="4553712"/>
          </a:xfrm>
          <a:prstGeom prst="roundRect">
            <a:avLst>
              <a:gd name="adj" fmla="val 803"/>
            </a:avLst>
          </a:prstGeom>
          <a:solidFill>
            <a:srgbClr val="FFFFFF"/>
          </a:solidFill>
          <a:ln w="9525">
            <a:solidFill>
              <a:srgbClr val="E3DFD5"/>
            </a:solidFill>
            <a:prstDash val="solid"/>
          </a:ln>
        </p:spPr>
      </p:sp>
      <p:sp>
        <p:nvSpPr>
          <p:cNvPr id="5" name="Shape 3"/>
          <p:cNvSpPr/>
          <p:nvPr/>
        </p:nvSpPr>
        <p:spPr>
          <a:xfrm>
            <a:off x="1005840" y="1810512"/>
            <a:ext cx="420624" cy="420624"/>
          </a:xfrm>
          <a:prstGeom prst="ellipse">
            <a:avLst/>
          </a:prstGeom>
          <a:solidFill>
            <a:srgbClr val="162947"/>
          </a:solidFill>
          <a:ln/>
        </p:spPr>
      </p:sp>
      <p:sp>
        <p:nvSpPr>
          <p:cNvPr id="6" name="Text 4"/>
          <p:cNvSpPr txBox="1"/>
          <p:nvPr/>
        </p:nvSpPr>
        <p:spPr>
          <a:xfrm>
            <a:off x="1005840"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5</a:t>
            </a:r>
            <a:endParaRPr lang="en-US" sz="1500" dirty="0"/>
          </a:p>
        </p:txBody>
      </p:sp>
      <p:sp>
        <p:nvSpPr>
          <p:cNvPr id="7" name="Text 5"/>
          <p:cNvSpPr txBox="1"/>
          <p:nvPr/>
        </p:nvSpPr>
        <p:spPr>
          <a:xfrm>
            <a:off x="1554480"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5  ·  19 to 25 Oct</a:t>
            </a:r>
            <a:endParaRPr lang="en-US" sz="950" dirty="0"/>
          </a:p>
        </p:txBody>
      </p:sp>
      <p:sp>
        <p:nvSpPr>
          <p:cNvPr id="8" name="Text 6"/>
          <p:cNvSpPr txBox="1"/>
          <p:nvPr/>
        </p:nvSpPr>
        <p:spPr>
          <a:xfrm>
            <a:off x="1554480"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Shape and space</a:t>
            </a:r>
            <a:endParaRPr lang="en-US" sz="2000" dirty="0"/>
          </a:p>
        </p:txBody>
      </p:sp>
      <p:sp>
        <p:nvSpPr>
          <p:cNvPr id="9" name="Text 7"/>
          <p:cNvSpPr txBox="1"/>
          <p:nvPr/>
        </p:nvSpPr>
        <p:spPr>
          <a:xfrm>
            <a:off x="1005840"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Angle facts, area and perimeter</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Circles, prisms and cylinders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Pythagoras and right-angled trigonometry</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Similar shapes: area and volume ratios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Audit repeated (checkpoint 2)</a:t>
            </a:r>
            <a:endParaRPr lang="en-US" sz="1150" dirty="0"/>
          </a:p>
        </p:txBody>
      </p:sp>
      <p:sp>
        <p:nvSpPr>
          <p:cNvPr id="10" name="Shape 8"/>
          <p:cNvSpPr/>
          <p:nvPr/>
        </p:nvSpPr>
        <p:spPr>
          <a:xfrm>
            <a:off x="1005840" y="4443984"/>
            <a:ext cx="4572000" cy="0"/>
          </a:xfrm>
          <a:prstGeom prst="line">
            <a:avLst/>
          </a:prstGeom>
          <a:noFill/>
          <a:ln w="9525">
            <a:solidFill>
              <a:srgbClr val="E3DFD5"/>
            </a:solidFill>
            <a:prstDash val="solid"/>
          </a:ln>
        </p:spPr>
      </p:sp>
      <p:sp>
        <p:nvSpPr>
          <p:cNvPr id="11" name="Text 9"/>
          <p:cNvSpPr txBox="1"/>
          <p:nvPr/>
        </p:nvSpPr>
        <p:spPr>
          <a:xfrm>
            <a:off x="1005840"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12" name="Text 10"/>
          <p:cNvSpPr txBox="1"/>
          <p:nvPr/>
        </p:nvSpPr>
        <p:spPr>
          <a:xfrm>
            <a:off x="1005840"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practice: all six target skills, mixed.</a:t>
            </a:r>
            <a:endParaRPr lang="en-US" sz="1100" dirty="0"/>
          </a:p>
        </p:txBody>
      </p:sp>
      <p:sp>
        <p:nvSpPr>
          <p:cNvPr id="13" name="Text 11"/>
          <p:cNvSpPr txBox="1"/>
          <p:nvPr/>
        </p:nvSpPr>
        <p:spPr>
          <a:xfrm>
            <a:off x="1005840"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14" name="Text 12"/>
          <p:cNvSpPr txBox="1"/>
          <p:nvPr/>
        </p:nvSpPr>
        <p:spPr>
          <a:xfrm>
            <a:off x="1005840"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First full paper, 2 hours, exam conditions</a:t>
            </a:r>
            <a:endParaRPr lang="en-US" sz="1100" dirty="0"/>
          </a:p>
        </p:txBody>
      </p:sp>
      <p:sp>
        <p:nvSpPr>
          <p:cNvPr id="15" name="Shape 13"/>
          <p:cNvSpPr/>
          <p:nvPr/>
        </p:nvSpPr>
        <p:spPr>
          <a:xfrm>
            <a:off x="6291072" y="1572768"/>
            <a:ext cx="5212080" cy="4553712"/>
          </a:xfrm>
          <a:prstGeom prst="roundRect">
            <a:avLst>
              <a:gd name="adj" fmla="val 803"/>
            </a:avLst>
          </a:prstGeom>
          <a:solidFill>
            <a:srgbClr val="FFFFFF"/>
          </a:solidFill>
          <a:ln w="9525">
            <a:solidFill>
              <a:srgbClr val="E3DFD5"/>
            </a:solidFill>
            <a:prstDash val="solid"/>
          </a:ln>
        </p:spPr>
      </p:sp>
      <p:sp>
        <p:nvSpPr>
          <p:cNvPr id="16" name="Shape 14"/>
          <p:cNvSpPr/>
          <p:nvPr/>
        </p:nvSpPr>
        <p:spPr>
          <a:xfrm>
            <a:off x="6611112" y="1810512"/>
            <a:ext cx="420624" cy="420624"/>
          </a:xfrm>
          <a:prstGeom prst="ellipse">
            <a:avLst/>
          </a:prstGeom>
          <a:solidFill>
            <a:srgbClr val="162947"/>
          </a:solidFill>
          <a:ln/>
        </p:spPr>
      </p:sp>
      <p:sp>
        <p:nvSpPr>
          <p:cNvPr id="17" name="Text 15"/>
          <p:cNvSpPr txBox="1"/>
          <p:nvPr/>
        </p:nvSpPr>
        <p:spPr>
          <a:xfrm>
            <a:off x="6611112"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6</a:t>
            </a:r>
            <a:endParaRPr lang="en-US" sz="1500" dirty="0"/>
          </a:p>
        </p:txBody>
      </p:sp>
      <p:sp>
        <p:nvSpPr>
          <p:cNvPr id="18" name="Text 16"/>
          <p:cNvSpPr txBox="1"/>
          <p:nvPr/>
        </p:nvSpPr>
        <p:spPr>
          <a:xfrm>
            <a:off x="7159752"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6  ·  26 Oct to 1 Nov</a:t>
            </a:r>
            <a:endParaRPr lang="en-US" sz="950" dirty="0"/>
          </a:p>
        </p:txBody>
      </p:sp>
      <p:sp>
        <p:nvSpPr>
          <p:cNvPr id="19" name="Text 17"/>
          <p:cNvSpPr txBox="1"/>
          <p:nvPr/>
        </p:nvSpPr>
        <p:spPr>
          <a:xfrm>
            <a:off x="7159752"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Papers</a:t>
            </a:r>
            <a:endParaRPr lang="en-US" sz="2000" dirty="0"/>
          </a:p>
        </p:txBody>
      </p:sp>
      <p:sp>
        <p:nvSpPr>
          <p:cNvPr id="20" name="Text 18"/>
          <p:cNvSpPr txBox="1"/>
          <p:nvPr/>
        </p:nvSpPr>
        <p:spPr>
          <a:xfrm>
            <a:off x="6611112"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Review and correct the week 5 paper</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Second full paper, then the five biggest losses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Third full paper if the first two are on target</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Pacing and exam technique session</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No new content after 25 October</a:t>
            </a:r>
            <a:endParaRPr lang="en-US" sz="1150" dirty="0"/>
          </a:p>
        </p:txBody>
      </p:sp>
      <p:sp>
        <p:nvSpPr>
          <p:cNvPr id="21" name="Shape 19"/>
          <p:cNvSpPr/>
          <p:nvPr/>
        </p:nvSpPr>
        <p:spPr>
          <a:xfrm>
            <a:off x="6611112" y="4443984"/>
            <a:ext cx="4572000" cy="0"/>
          </a:xfrm>
          <a:prstGeom prst="line">
            <a:avLst/>
          </a:prstGeom>
          <a:noFill/>
          <a:ln w="9525">
            <a:solidFill>
              <a:srgbClr val="E3DFD5"/>
            </a:solidFill>
            <a:prstDash val="solid"/>
          </a:ln>
        </p:spPr>
      </p:sp>
      <p:sp>
        <p:nvSpPr>
          <p:cNvPr id="22" name="Text 20"/>
          <p:cNvSpPr txBox="1"/>
          <p:nvPr/>
        </p:nvSpPr>
        <p:spPr>
          <a:xfrm>
            <a:off x="6611112"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23" name="Text 21"/>
          <p:cNvSpPr txBox="1"/>
          <p:nvPr/>
        </p:nvSpPr>
        <p:spPr>
          <a:xfrm>
            <a:off x="6611112"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practice: from the error log.</a:t>
            </a:r>
            <a:endParaRPr lang="en-US" sz="1100" dirty="0"/>
          </a:p>
        </p:txBody>
      </p:sp>
      <p:sp>
        <p:nvSpPr>
          <p:cNvPr id="24" name="Text 22"/>
          <p:cNvSpPr txBox="1"/>
          <p:nvPr/>
        </p:nvSpPr>
        <p:spPr>
          <a:xfrm>
            <a:off x="6611112"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25" name="Text 23"/>
          <p:cNvSpPr txBox="1"/>
          <p:nvPr/>
        </p:nvSpPr>
        <p:spPr>
          <a:xfrm>
            <a:off x="6611112"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Two full papers, plus a third if week 5 reached 35 out of 100</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EXAM WEEK</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2 to 6 November</a:t>
            </a:r>
            <a:endParaRPr lang="en-US" sz="3300" dirty="0"/>
          </a:p>
        </p:txBody>
      </p:sp>
      <p:sp>
        <p:nvSpPr>
          <p:cNvPr id="4" name="Shape 2"/>
          <p:cNvSpPr/>
          <p:nvPr/>
        </p:nvSpPr>
        <p:spPr>
          <a:xfrm>
            <a:off x="685800" y="1645920"/>
            <a:ext cx="2587752" cy="3794760"/>
          </a:xfrm>
          <a:prstGeom prst="roundRect">
            <a:avLst>
              <a:gd name="adj" fmla="val 1413"/>
            </a:avLst>
          </a:prstGeom>
          <a:solidFill>
            <a:srgbClr val="FFFFFF"/>
          </a:solidFill>
          <a:ln w="9525">
            <a:solidFill>
              <a:srgbClr val="E3DFD5"/>
            </a:solidFill>
            <a:prstDash val="solid"/>
          </a:ln>
        </p:spPr>
      </p:sp>
      <p:sp>
        <p:nvSpPr>
          <p:cNvPr id="5" name="Text 3"/>
          <p:cNvSpPr txBox="1"/>
          <p:nvPr/>
        </p:nvSpPr>
        <p:spPr>
          <a:xfrm>
            <a:off x="9418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MON 2 NOV</a:t>
            </a:r>
            <a:endParaRPr lang="en-US" sz="950" dirty="0"/>
          </a:p>
        </p:txBody>
      </p:sp>
      <p:sp>
        <p:nvSpPr>
          <p:cNvPr id="6" name="Text 4"/>
          <p:cNvSpPr txBox="1"/>
          <p:nvPr/>
        </p:nvSpPr>
        <p:spPr>
          <a:xfrm>
            <a:off x="941832" y="2103120"/>
            <a:ext cx="2103120" cy="310896"/>
          </a:xfrm>
          <a:prstGeom prst="rect">
            <a:avLst/>
          </a:prstGeom>
          <a:noFill/>
          <a:ln/>
        </p:spPr>
        <p:txBody>
          <a:bodyPr wrap="square" lIns="0" tIns="0" rIns="0" bIns="0" rtlCol="0" anchor="ctr"/>
          <a:lstStyle/>
          <a:p>
            <a:pPr indent="0" marL="0">
              <a:buNone/>
            </a:pPr>
            <a:r>
              <a:rPr lang="en-US" sz="1900" dirty="0">
                <a:solidFill>
                  <a:srgbClr val="162947"/>
                </a:solidFill>
                <a:latin typeface="Cambria" pitchFamily="34" charset="0"/>
                <a:ea typeface="Cambria" pitchFamily="34" charset="-122"/>
                <a:cs typeface="Cambria" pitchFamily="34" charset="-120"/>
              </a:rPr>
              <a:t>Last session</a:t>
            </a:r>
            <a:endParaRPr lang="en-US" sz="1900" dirty="0"/>
          </a:p>
        </p:txBody>
      </p:sp>
      <p:sp>
        <p:nvSpPr>
          <p:cNvPr id="7" name="Text 5"/>
          <p:cNvSpPr txBox="1"/>
          <p:nvPr/>
        </p:nvSpPr>
        <p:spPr>
          <a:xfrm>
            <a:off x="9418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No new content. A run through everything covered, a pacing rehearsal and a calculator check, finishing on a topic Charlotte is confident with.</a:t>
            </a:r>
            <a:endParaRPr lang="en-US" sz="1100" dirty="0"/>
          </a:p>
        </p:txBody>
      </p:sp>
      <p:sp>
        <p:nvSpPr>
          <p:cNvPr id="8" name="Shape 6"/>
          <p:cNvSpPr/>
          <p:nvPr/>
        </p:nvSpPr>
        <p:spPr>
          <a:xfrm>
            <a:off x="3429000" y="1645920"/>
            <a:ext cx="2587752" cy="3794760"/>
          </a:xfrm>
          <a:prstGeom prst="roundRect">
            <a:avLst>
              <a:gd name="adj" fmla="val 1413"/>
            </a:avLst>
          </a:prstGeom>
          <a:solidFill>
            <a:srgbClr val="162947"/>
          </a:solidFill>
          <a:ln/>
        </p:spPr>
      </p:sp>
      <p:sp>
        <p:nvSpPr>
          <p:cNvPr id="9" name="Text 7"/>
          <p:cNvSpPr txBox="1"/>
          <p:nvPr/>
        </p:nvSpPr>
        <p:spPr>
          <a:xfrm>
            <a:off x="36850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WED 4 NOV</a:t>
            </a:r>
            <a:endParaRPr lang="en-US" sz="950" dirty="0"/>
          </a:p>
        </p:txBody>
      </p:sp>
      <p:sp>
        <p:nvSpPr>
          <p:cNvPr id="10" name="Text 8"/>
          <p:cNvSpPr txBox="1"/>
          <p:nvPr/>
        </p:nvSpPr>
        <p:spPr>
          <a:xfrm>
            <a:off x="3685032" y="2103120"/>
            <a:ext cx="2103120" cy="310896"/>
          </a:xfrm>
          <a:prstGeom prst="rect">
            <a:avLst/>
          </a:prstGeom>
          <a:noFill/>
          <a:ln/>
        </p:spPr>
        <p:txBody>
          <a:bodyPr wrap="square" lIns="0" tIns="0" rIns="0" bIns="0" rtlCol="0" anchor="ctr"/>
          <a:lstStyle/>
          <a:p>
            <a:pPr indent="0" marL="0">
              <a:buNone/>
            </a:pPr>
            <a:r>
              <a:rPr lang="en-US" sz="1900" dirty="0">
                <a:solidFill>
                  <a:srgbClr val="F6F4EF"/>
                </a:solidFill>
                <a:latin typeface="Cambria" pitchFamily="34" charset="0"/>
                <a:ea typeface="Cambria" pitchFamily="34" charset="-122"/>
                <a:cs typeface="Cambria" pitchFamily="34" charset="-120"/>
              </a:rPr>
              <a:t>Paper 1H</a:t>
            </a:r>
            <a:endParaRPr lang="en-US" sz="1900" dirty="0"/>
          </a:p>
        </p:txBody>
      </p:sp>
      <p:sp>
        <p:nvSpPr>
          <p:cNvPr id="11" name="Text 9"/>
          <p:cNvSpPr txBox="1"/>
          <p:nvPr/>
        </p:nvSpPr>
        <p:spPr>
          <a:xfrm>
            <a:off x="36850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Morning, 2 hours, 100 marks. Two passes: the recognisable questions first, then back to anything flagged. The last ten minutes for checking.</a:t>
            </a:r>
            <a:endParaRPr lang="en-US" sz="1100" dirty="0"/>
          </a:p>
        </p:txBody>
      </p:sp>
      <p:sp>
        <p:nvSpPr>
          <p:cNvPr id="12" name="Shape 10"/>
          <p:cNvSpPr/>
          <p:nvPr/>
        </p:nvSpPr>
        <p:spPr>
          <a:xfrm>
            <a:off x="6172200" y="1645920"/>
            <a:ext cx="2587752" cy="3794760"/>
          </a:xfrm>
          <a:prstGeom prst="roundRect">
            <a:avLst>
              <a:gd name="adj" fmla="val 1413"/>
            </a:avLst>
          </a:prstGeom>
          <a:solidFill>
            <a:srgbClr val="FFFFFF"/>
          </a:solidFill>
          <a:ln w="9525">
            <a:solidFill>
              <a:srgbClr val="E3DFD5"/>
            </a:solidFill>
            <a:prstDash val="solid"/>
          </a:ln>
        </p:spPr>
      </p:sp>
      <p:sp>
        <p:nvSpPr>
          <p:cNvPr id="13" name="Text 11"/>
          <p:cNvSpPr txBox="1"/>
          <p:nvPr/>
        </p:nvSpPr>
        <p:spPr>
          <a:xfrm>
            <a:off x="64282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THU 5 NOV</a:t>
            </a:r>
            <a:endParaRPr lang="en-US" sz="950" dirty="0"/>
          </a:p>
        </p:txBody>
      </p:sp>
      <p:sp>
        <p:nvSpPr>
          <p:cNvPr id="14" name="Text 12"/>
          <p:cNvSpPr txBox="1"/>
          <p:nvPr/>
        </p:nvSpPr>
        <p:spPr>
          <a:xfrm>
            <a:off x="6428232" y="2103120"/>
            <a:ext cx="2103120" cy="310896"/>
          </a:xfrm>
          <a:prstGeom prst="rect">
            <a:avLst/>
          </a:prstGeom>
          <a:noFill/>
          <a:ln/>
        </p:spPr>
        <p:txBody>
          <a:bodyPr wrap="square" lIns="0" tIns="0" rIns="0" bIns="0" rtlCol="0" anchor="ctr"/>
          <a:lstStyle/>
          <a:p>
            <a:pPr indent="0" marL="0">
              <a:buNone/>
            </a:pPr>
            <a:r>
              <a:rPr lang="en-US" sz="1900" dirty="0">
                <a:solidFill>
                  <a:srgbClr val="162947"/>
                </a:solidFill>
                <a:latin typeface="Cambria" pitchFamily="34" charset="0"/>
                <a:ea typeface="Cambria" pitchFamily="34" charset="-122"/>
                <a:cs typeface="Cambria" pitchFamily="34" charset="-120"/>
              </a:rPr>
              <a:t>The day between</a:t>
            </a:r>
            <a:endParaRPr lang="en-US" sz="1900" dirty="0"/>
          </a:p>
        </p:txBody>
      </p:sp>
      <p:sp>
        <p:nvSpPr>
          <p:cNvPr id="15" name="Text 13"/>
          <p:cNvSpPr txBox="1"/>
          <p:nvPr/>
        </p:nvSpPr>
        <p:spPr>
          <a:xfrm>
            <a:off x="64282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No full review of the paper. We go back to the questions Charlotte started and left, where a mark is often one line away, then cover the two or three topics she could not begin.</a:t>
            </a:r>
            <a:endParaRPr lang="en-US" sz="1100" dirty="0"/>
          </a:p>
        </p:txBody>
      </p:sp>
      <p:sp>
        <p:nvSpPr>
          <p:cNvPr id="16" name="Shape 14"/>
          <p:cNvSpPr/>
          <p:nvPr/>
        </p:nvSpPr>
        <p:spPr>
          <a:xfrm>
            <a:off x="8915400" y="1645920"/>
            <a:ext cx="2587752" cy="3794760"/>
          </a:xfrm>
          <a:prstGeom prst="roundRect">
            <a:avLst>
              <a:gd name="adj" fmla="val 1413"/>
            </a:avLst>
          </a:prstGeom>
          <a:solidFill>
            <a:srgbClr val="162947"/>
          </a:solidFill>
          <a:ln/>
        </p:spPr>
      </p:sp>
      <p:sp>
        <p:nvSpPr>
          <p:cNvPr id="17" name="Text 15"/>
          <p:cNvSpPr txBox="1"/>
          <p:nvPr/>
        </p:nvSpPr>
        <p:spPr>
          <a:xfrm>
            <a:off x="91714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FRI 6 NOV</a:t>
            </a:r>
            <a:endParaRPr lang="en-US" sz="950" dirty="0"/>
          </a:p>
        </p:txBody>
      </p:sp>
      <p:sp>
        <p:nvSpPr>
          <p:cNvPr id="18" name="Text 16"/>
          <p:cNvSpPr txBox="1"/>
          <p:nvPr/>
        </p:nvSpPr>
        <p:spPr>
          <a:xfrm>
            <a:off x="9171432" y="2103120"/>
            <a:ext cx="2103120" cy="310896"/>
          </a:xfrm>
          <a:prstGeom prst="rect">
            <a:avLst/>
          </a:prstGeom>
          <a:noFill/>
          <a:ln/>
        </p:spPr>
        <p:txBody>
          <a:bodyPr wrap="square" lIns="0" tIns="0" rIns="0" bIns="0" rtlCol="0" anchor="ctr"/>
          <a:lstStyle/>
          <a:p>
            <a:pPr indent="0" marL="0">
              <a:buNone/>
            </a:pPr>
            <a:r>
              <a:rPr lang="en-US" sz="1900" dirty="0">
                <a:solidFill>
                  <a:srgbClr val="F6F4EF"/>
                </a:solidFill>
                <a:latin typeface="Cambria" pitchFamily="34" charset="0"/>
                <a:ea typeface="Cambria" pitchFamily="34" charset="-122"/>
                <a:cs typeface="Cambria" pitchFamily="34" charset="-120"/>
              </a:rPr>
              <a:t>Paper 2H</a:t>
            </a:r>
            <a:endParaRPr lang="en-US" sz="1900" dirty="0"/>
          </a:p>
        </p:txBody>
      </p:sp>
      <p:sp>
        <p:nvSpPr>
          <p:cNvPr id="19" name="Text 17"/>
          <p:cNvSpPr txBox="1"/>
          <p:nvPr/>
        </p:nvSpPr>
        <p:spPr>
          <a:xfrm>
            <a:off x="91714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Morning, 2 hours, 100 marks. Same pacing. Both papers draw on the whole course, so topics from Wednesday will come up again.</a:t>
            </a:r>
            <a:endParaRPr lang="en-US" sz="1100" dirty="0"/>
          </a:p>
        </p:txBody>
      </p:sp>
      <p:sp>
        <p:nvSpPr>
          <p:cNvPr id="20" name="Shape 18"/>
          <p:cNvSpPr/>
          <p:nvPr/>
        </p:nvSpPr>
        <p:spPr>
          <a:xfrm>
            <a:off x="685800" y="5596128"/>
            <a:ext cx="10817352" cy="566928"/>
          </a:xfrm>
          <a:prstGeom prst="roundRect">
            <a:avLst>
              <a:gd name="adj" fmla="val 6452"/>
            </a:avLst>
          </a:prstGeom>
          <a:solidFill>
            <a:srgbClr val="EFEBE1"/>
          </a:solidFill>
          <a:ln/>
        </p:spPr>
      </p:sp>
      <p:sp>
        <p:nvSpPr>
          <p:cNvPr id="21" name="Text 19"/>
          <p:cNvSpPr txBox="1"/>
          <p:nvPr/>
        </p:nvSpPr>
        <p:spPr>
          <a:xfrm>
            <a:off x="1005840" y="5596128"/>
            <a:ext cx="10149840" cy="566928"/>
          </a:xfrm>
          <a:prstGeom prst="rect">
            <a:avLst/>
          </a:prstGeom>
          <a:noFill/>
          <a:ln/>
        </p:spPr>
        <p:txBody>
          <a:bodyPr wrap="square" lIns="0" tIns="0" rIns="0" bIns="0" rtlCol="0" anchor="ctr"/>
          <a:lstStyle/>
          <a:p>
            <a:pPr indent="0" marL="0">
              <a:buNone/>
            </a:pPr>
            <a:r>
              <a:rPr lang="en-US" sz="1200" b="1" dirty="0">
                <a:solidFill>
                  <a:srgbClr val="162947"/>
                </a:solidFill>
                <a:latin typeface="Arial" pitchFamily="34" charset="0"/>
                <a:ea typeface="Arial" pitchFamily="34" charset="-122"/>
                <a:cs typeface="Arial" pitchFamily="34" charset="-120"/>
              </a:rPr>
              <a:t>No new content after 25 October. The remaining time is for consolidation. Results are released to candidates on 21 January 2027.</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SCOPE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What we cover, and what we leave out</a:t>
            </a:r>
            <a:endParaRPr lang="en-US" sz="3300" dirty="0"/>
          </a:p>
        </p:txBody>
      </p:sp>
      <p:sp>
        <p:nvSpPr>
          <p:cNvPr id="4" name="Shape 2"/>
          <p:cNvSpPr/>
          <p:nvPr/>
        </p:nvSpPr>
        <p:spPr>
          <a:xfrm>
            <a:off x="685800" y="1572768"/>
            <a:ext cx="5212080" cy="3822192"/>
          </a:xfrm>
          <a:prstGeom prst="roundRect">
            <a:avLst>
              <a:gd name="adj" fmla="val 957"/>
            </a:avLst>
          </a:prstGeom>
          <a:solidFill>
            <a:srgbClr val="FFFFFF"/>
          </a:solidFill>
          <a:ln w="9525">
            <a:solidFill>
              <a:srgbClr val="C3A965"/>
            </a:solidFill>
            <a:prstDash val="solid"/>
          </a:ln>
        </p:spPr>
      </p:sp>
      <p:sp>
        <p:nvSpPr>
          <p:cNvPr id="5" name="Shape 3"/>
          <p:cNvSpPr/>
          <p:nvPr/>
        </p:nvSpPr>
        <p:spPr>
          <a:xfrm>
            <a:off x="1005840" y="1792224"/>
            <a:ext cx="384048" cy="384048"/>
          </a:xfrm>
          <a:prstGeom prst="ellipse">
            <a:avLst/>
          </a:prstGeom>
          <a:solidFill>
            <a:srgbClr val="162947"/>
          </a:solidFill>
          <a:ln/>
        </p:spPr>
      </p:sp>
      <p:sp>
        <p:nvSpPr>
          <p:cNvPr id="6" name="Text 4"/>
          <p:cNvSpPr txBox="1"/>
          <p:nvPr/>
        </p:nvSpPr>
        <p:spPr>
          <a:xfrm>
            <a:off x="1005840" y="1792224"/>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a:t>
            </a:r>
            <a:endParaRPr lang="en-US" sz="1500" dirty="0"/>
          </a:p>
        </p:txBody>
      </p:sp>
      <p:sp>
        <p:nvSpPr>
          <p:cNvPr id="7" name="Text 5"/>
          <p:cNvSpPr txBox="1"/>
          <p:nvPr/>
        </p:nvSpPr>
        <p:spPr>
          <a:xfrm>
            <a:off x="1527048" y="1801368"/>
            <a:ext cx="4114800" cy="329184"/>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Covered</a:t>
            </a:r>
            <a:endParaRPr lang="en-US" sz="2000" dirty="0"/>
          </a:p>
        </p:txBody>
      </p:sp>
      <p:sp>
        <p:nvSpPr>
          <p:cNvPr id="8" name="Text 6"/>
          <p:cNvSpPr txBox="1"/>
          <p:nvPr/>
        </p:nvSpPr>
        <p:spPr>
          <a:xfrm>
            <a:off x="1005840" y="2249424"/>
            <a:ext cx="4572000" cy="420624"/>
          </a:xfrm>
          <a:prstGeom prst="rect">
            <a:avLst/>
          </a:prstGeom>
          <a:noFill/>
          <a:ln/>
        </p:spPr>
        <p:txBody>
          <a:bodyPr wrap="square" lIns="0" tIns="0" rIns="0" bIns="0" rtlCol="0" anchor="t"/>
          <a:lstStyle/>
          <a:p>
            <a:pPr indent="0" marL="0">
              <a:lnSpc>
                <a:spcPts val="1400"/>
              </a:lnSpc>
              <a:buNone/>
            </a:pPr>
            <a:r>
              <a:rPr lang="en-US" sz="1050" i="1" dirty="0">
                <a:solidFill>
                  <a:srgbClr val="5D6471"/>
                </a:solidFill>
                <a:latin typeface="Arial" pitchFamily="34" charset="0"/>
                <a:ea typeface="Arial" pitchFamily="34" charset="-122"/>
                <a:cs typeface="Arial" pitchFamily="34" charset="-120"/>
              </a:rPr>
              <a:t>About 105 marks sit in this list, comfortably above the target.</a:t>
            </a:r>
            <a:endParaRPr lang="en-US" sz="1050" dirty="0"/>
          </a:p>
        </p:txBody>
      </p:sp>
      <p:sp>
        <p:nvSpPr>
          <p:cNvPr id="9" name="Text 7"/>
          <p:cNvSpPr txBox="1"/>
          <p:nvPr/>
        </p:nvSpPr>
        <p:spPr>
          <a:xfrm>
            <a:off x="1005840" y="2743200"/>
            <a:ext cx="4572000" cy="2468880"/>
          </a:xfrm>
          <a:prstGeom prst="rect">
            <a:avLst/>
          </a:prstGeom>
          <a:noFill/>
          <a:ln/>
        </p:spPr>
        <p:txBody>
          <a:bodyPr wrap="square" lIns="0" tIns="0" rIns="0" bIns="0" rtlCol="0" anchor="ctr"/>
          <a:lstStyle/>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Fractions, decimals, percentages, reverse percentages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Negatives, indices, standard form, rounding</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Ratio and proportion by the unitary method</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Solving, expanding, substituting, rearranging</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Linear simultaneous equations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Sequences and straight-line graphs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Angles, area, circles, prisms, Pythagoras, trigonometry</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Similar shapes: area and volume ratios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Averages, frequency tables, probability, Venn diagrams</a:t>
            </a:r>
            <a:endParaRPr lang="en-US" sz="1100" dirty="0"/>
          </a:p>
        </p:txBody>
      </p:sp>
      <p:sp>
        <p:nvSpPr>
          <p:cNvPr id="10" name="Shape 8"/>
          <p:cNvSpPr/>
          <p:nvPr/>
        </p:nvSpPr>
        <p:spPr>
          <a:xfrm>
            <a:off x="6291072" y="1572768"/>
            <a:ext cx="5212080" cy="3822192"/>
          </a:xfrm>
          <a:prstGeom prst="roundRect">
            <a:avLst>
              <a:gd name="adj" fmla="val 957"/>
            </a:avLst>
          </a:prstGeom>
          <a:solidFill>
            <a:srgbClr val="EFEBE1"/>
          </a:solidFill>
          <a:ln w="9525">
            <a:solidFill>
              <a:srgbClr val="E3DFD5"/>
            </a:solidFill>
            <a:prstDash val="solid"/>
          </a:ln>
        </p:spPr>
      </p:sp>
      <p:sp>
        <p:nvSpPr>
          <p:cNvPr id="11" name="Shape 9"/>
          <p:cNvSpPr/>
          <p:nvPr/>
        </p:nvSpPr>
        <p:spPr>
          <a:xfrm>
            <a:off x="6611112" y="1792224"/>
            <a:ext cx="384048" cy="384048"/>
          </a:xfrm>
          <a:prstGeom prst="ellipse">
            <a:avLst/>
          </a:prstGeom>
          <a:solidFill>
            <a:srgbClr val="C4C8CE"/>
          </a:solidFill>
          <a:ln/>
        </p:spPr>
      </p:sp>
      <p:sp>
        <p:nvSpPr>
          <p:cNvPr id="12" name="Text 10"/>
          <p:cNvSpPr txBox="1"/>
          <p:nvPr/>
        </p:nvSpPr>
        <p:spPr>
          <a:xfrm>
            <a:off x="6611112" y="1792224"/>
            <a:ext cx="384048" cy="384048"/>
          </a:xfrm>
          <a:prstGeom prst="rect">
            <a:avLst/>
          </a:prstGeom>
          <a:noFill/>
          <a:ln/>
        </p:spPr>
        <p:txBody>
          <a:bodyPr wrap="square" lIns="0" tIns="0" rIns="0" bIns="0" rtlCol="0" anchor="ctr"/>
          <a:lstStyle/>
          <a:p>
            <a:pPr algn="ctr" indent="0" marL="0">
              <a:buNone/>
            </a:pPr>
            <a:r>
              <a:rPr lang="en-US" sz="1500" b="1" dirty="0">
                <a:solidFill>
                  <a:srgbClr val="F6F4EF"/>
                </a:solidFill>
                <a:latin typeface="Cambria" pitchFamily="34" charset="0"/>
                <a:ea typeface="Cambria" pitchFamily="34" charset="-122"/>
                <a:cs typeface="Cambria" pitchFamily="34" charset="-120"/>
              </a:rPr>
              <a:t>✕</a:t>
            </a:r>
            <a:endParaRPr lang="en-US" sz="1500" dirty="0"/>
          </a:p>
        </p:txBody>
      </p:sp>
      <p:sp>
        <p:nvSpPr>
          <p:cNvPr id="13" name="Text 11"/>
          <p:cNvSpPr txBox="1"/>
          <p:nvPr/>
        </p:nvSpPr>
        <p:spPr>
          <a:xfrm>
            <a:off x="7132320" y="1801368"/>
            <a:ext cx="4114800" cy="329184"/>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Left out</a:t>
            </a:r>
            <a:endParaRPr lang="en-US" sz="2000" dirty="0"/>
          </a:p>
        </p:txBody>
      </p:sp>
      <p:sp>
        <p:nvSpPr>
          <p:cNvPr id="14" name="Text 12"/>
          <p:cNvSpPr txBox="1"/>
          <p:nvPr/>
        </p:nvSpPr>
        <p:spPr>
          <a:xfrm>
            <a:off x="6611112" y="2249424"/>
            <a:ext cx="4572000" cy="420624"/>
          </a:xfrm>
          <a:prstGeom prst="rect">
            <a:avLst/>
          </a:prstGeom>
          <a:noFill/>
          <a:ln/>
        </p:spPr>
        <p:txBody>
          <a:bodyPr wrap="square" lIns="0" tIns="0" rIns="0" bIns="0" rtlCol="0" anchor="t"/>
          <a:lstStyle/>
          <a:p>
            <a:pPr indent="0" marL="0">
              <a:lnSpc>
                <a:spcPts val="1400"/>
              </a:lnSpc>
              <a:buNone/>
            </a:pPr>
            <a:r>
              <a:rPr lang="en-US" sz="1050" i="1" dirty="0">
                <a:solidFill>
                  <a:srgbClr val="5D6471"/>
                </a:solidFill>
                <a:latin typeface="Arial" pitchFamily="34" charset="0"/>
                <a:ea typeface="Arial" pitchFamily="34" charset="-122"/>
                <a:cs typeface="Arial" pitchFamily="34" charset="-120"/>
              </a:rPr>
              <a:t>Worth 60 to 80 marks, and unlikely to repay the time in six weeks.</a:t>
            </a:r>
            <a:endParaRPr lang="en-US" sz="1050" dirty="0"/>
          </a:p>
        </p:txBody>
      </p:sp>
      <p:sp>
        <p:nvSpPr>
          <p:cNvPr id="15" name="Text 13"/>
          <p:cNvSpPr txBox="1"/>
          <p:nvPr/>
        </p:nvSpPr>
        <p:spPr>
          <a:xfrm>
            <a:off x="6611112" y="2743200"/>
            <a:ext cx="4572000" cy="1920240"/>
          </a:xfrm>
          <a:prstGeom prst="rect">
            <a:avLst/>
          </a:prstGeom>
          <a:noFill/>
          <a:ln/>
        </p:spPr>
        <p:txBody>
          <a:bodyPr wrap="square" lIns="0" tIns="0" rIns="0" bIns="0" rtlCol="0" anchor="ctr"/>
          <a:lstStyle/>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Circle theorems and their proofs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Vectors and vector geometry</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Histograms with unequal class widths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Algebraic fractions, functions, graph transformations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Surds, bounds, 3D trigonometry</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Quadratic formula, sine and cosine rules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Quadratic simultaneous equations</a:t>
            </a:r>
            <a:endParaRPr lang="en-US" sz="1100" dirty="0"/>
          </a:p>
        </p:txBody>
      </p:sp>
      <p:sp>
        <p:nvSpPr>
          <p:cNvPr id="16" name="Shape 14"/>
          <p:cNvSpPr/>
          <p:nvPr/>
        </p:nvSpPr>
        <p:spPr>
          <a:xfrm>
            <a:off x="685800" y="5541264"/>
            <a:ext cx="10817352" cy="512064"/>
          </a:xfrm>
          <a:prstGeom prst="roundRect">
            <a:avLst>
              <a:gd name="adj" fmla="val 7143"/>
            </a:avLst>
          </a:prstGeom>
          <a:solidFill>
            <a:srgbClr val="162947"/>
          </a:solidFill>
          <a:ln/>
        </p:spPr>
      </p:sp>
      <p:sp>
        <p:nvSpPr>
          <p:cNvPr id="17" name="Text 15"/>
          <p:cNvSpPr txBox="1"/>
          <p:nvPr/>
        </p:nvSpPr>
        <p:spPr>
          <a:xfrm>
            <a:off x="1005840" y="5541264"/>
            <a:ext cx="10149840" cy="512064"/>
          </a:xfrm>
          <a:prstGeom prst="rect">
            <a:avLst/>
          </a:prstGeom>
          <a:noFill/>
          <a:ln/>
        </p:spPr>
        <p:txBody>
          <a:bodyPr wrap="square" lIns="0" tIns="0" rIns="0" bIns="0" rtlCol="0" anchor="ctr"/>
          <a:lstStyle/>
          <a:p>
            <a:pPr indent="0" marL="0">
              <a:buNone/>
            </a:pPr>
            <a:r>
              <a:rPr lang="en-US" sz="1150" dirty="0">
                <a:solidFill>
                  <a:srgbClr val="E8E4DA"/>
                </a:solidFill>
                <a:latin typeface="Arial" pitchFamily="34" charset="0"/>
                <a:ea typeface="Arial" pitchFamily="34" charset="-122"/>
                <a:cs typeface="Arial" pitchFamily="34" charset="-120"/>
              </a:rPr>
              <a:t>Charlotte will learn to recognise the topics on the right quickly and move past them, so the time goes to questions she can answer.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TECHNIQUE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Marks that do not need new content</a:t>
            </a:r>
            <a:endParaRPr lang="en-US" sz="3300" dirty="0"/>
          </a:p>
        </p:txBody>
      </p:sp>
      <p:sp>
        <p:nvSpPr>
          <p:cNvPr id="4" name="Text 2"/>
          <p:cNvSpPr txBox="1"/>
          <p:nvPr/>
        </p:nvSpPr>
        <p:spPr>
          <a:xfrm>
            <a:off x="685800" y="1481328"/>
            <a:ext cx="10424160" cy="310896"/>
          </a:xfrm>
          <a:prstGeom prst="rect">
            <a:avLst/>
          </a:prstGeom>
          <a:noFill/>
          <a:ln/>
        </p:spPr>
        <p:txBody>
          <a:bodyPr wrap="square" lIns="0" tIns="0" rIns="0" bIns="0" rtlCol="0" anchor="t"/>
          <a:lstStyle/>
          <a:p>
            <a:pPr indent="0" marL="0">
              <a:buNone/>
            </a:pPr>
            <a:r>
              <a:rPr lang="en-US" sz="1250" dirty="0">
                <a:solidFill>
                  <a:srgbClr val="5D6471"/>
                </a:solidFill>
                <a:latin typeface="Arial" pitchFamily="34" charset="0"/>
                <a:ea typeface="Arial" pitchFamily="34" charset="-122"/>
                <a:cs typeface="Arial" pitchFamily="34" charset="-120"/>
              </a:rPr>
              <a:t>Four habits, covered in week 1 and applied to every timed piece of work after it. At this level they are usually worth more than any single extra topic.</a:t>
            </a:r>
            <a:endParaRPr lang="en-US" sz="1250" dirty="0"/>
          </a:p>
        </p:txBody>
      </p:sp>
      <p:sp>
        <p:nvSpPr>
          <p:cNvPr id="5" name="Shape 3"/>
          <p:cNvSpPr/>
          <p:nvPr/>
        </p:nvSpPr>
        <p:spPr>
          <a:xfrm>
            <a:off x="685800" y="1965960"/>
            <a:ext cx="2587752" cy="3246120"/>
          </a:xfrm>
          <a:prstGeom prst="roundRect">
            <a:avLst>
              <a:gd name="adj" fmla="val 1413"/>
            </a:avLst>
          </a:prstGeom>
          <a:solidFill>
            <a:srgbClr val="162947"/>
          </a:solidFill>
          <a:ln/>
        </p:spPr>
      </p:sp>
      <p:sp>
        <p:nvSpPr>
          <p:cNvPr id="6" name="Text 4"/>
          <p:cNvSpPr txBox="1"/>
          <p:nvPr/>
        </p:nvSpPr>
        <p:spPr>
          <a:xfrm>
            <a:off x="9418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01</a:t>
            </a:r>
            <a:endParaRPr lang="en-US" sz="2800" dirty="0"/>
          </a:p>
        </p:txBody>
      </p:sp>
      <p:sp>
        <p:nvSpPr>
          <p:cNvPr id="7" name="Text 5"/>
          <p:cNvSpPr txBox="1"/>
          <p:nvPr/>
        </p:nvSpPr>
        <p:spPr>
          <a:xfrm>
            <a:off x="941832" y="2651760"/>
            <a:ext cx="2103120" cy="457200"/>
          </a:xfrm>
          <a:prstGeom prst="rect">
            <a:avLst/>
          </a:prstGeom>
          <a:noFill/>
          <a:ln/>
        </p:spPr>
        <p:txBody>
          <a:bodyPr wrap="square" lIns="0" tIns="0" rIns="0" bIns="0" rtlCol="0" anchor="t"/>
          <a:lstStyle/>
          <a:p>
            <a:pPr indent="0" marL="0">
              <a:lnSpc>
                <a:spcPts val="2100"/>
              </a:lnSpc>
              <a:buNone/>
            </a:pPr>
            <a:r>
              <a:rPr lang="en-US" sz="1800" dirty="0">
                <a:solidFill>
                  <a:srgbClr val="F6F4EF"/>
                </a:solidFill>
                <a:latin typeface="Cambria" pitchFamily="34" charset="0"/>
                <a:ea typeface="Cambria" pitchFamily="34" charset="-122"/>
                <a:cs typeface="Cambria" pitchFamily="34" charset="-120"/>
              </a:rPr>
              <a:t>Method marks</a:t>
            </a:r>
            <a:endParaRPr lang="en-US" sz="1800" dirty="0"/>
          </a:p>
        </p:txBody>
      </p:sp>
      <p:sp>
        <p:nvSpPr>
          <p:cNvPr id="8" name="Text 6"/>
          <p:cNvSpPr txBox="1"/>
          <p:nvPr/>
        </p:nvSpPr>
        <p:spPr>
          <a:xfrm>
            <a:off x="941832" y="3218688"/>
            <a:ext cx="2103120" cy="182880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Working earns marks even when the final answer is wrong. Every question gets a substitution line and visible steps, and nothing is rubbed out.</a:t>
            </a:r>
            <a:endParaRPr lang="en-US" sz="1100" dirty="0"/>
          </a:p>
        </p:txBody>
      </p:sp>
      <p:sp>
        <p:nvSpPr>
          <p:cNvPr id="9" name="Shape 7"/>
          <p:cNvSpPr/>
          <p:nvPr/>
        </p:nvSpPr>
        <p:spPr>
          <a:xfrm>
            <a:off x="3429000" y="1965960"/>
            <a:ext cx="2587752" cy="3246120"/>
          </a:xfrm>
          <a:prstGeom prst="roundRect">
            <a:avLst>
              <a:gd name="adj" fmla="val 1413"/>
            </a:avLst>
          </a:prstGeom>
          <a:solidFill>
            <a:srgbClr val="FFFFFF"/>
          </a:solidFill>
          <a:ln w="9525">
            <a:solidFill>
              <a:srgbClr val="E3DFD5"/>
            </a:solidFill>
            <a:prstDash val="solid"/>
          </a:ln>
        </p:spPr>
      </p:sp>
      <p:sp>
        <p:nvSpPr>
          <p:cNvPr id="10" name="Text 8"/>
          <p:cNvSpPr txBox="1"/>
          <p:nvPr/>
        </p:nvSpPr>
        <p:spPr>
          <a:xfrm>
            <a:off x="36850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02</a:t>
            </a:r>
            <a:endParaRPr lang="en-US" sz="2800" dirty="0"/>
          </a:p>
        </p:txBody>
      </p:sp>
      <p:sp>
        <p:nvSpPr>
          <p:cNvPr id="11" name="Text 9"/>
          <p:cNvSpPr txBox="1"/>
          <p:nvPr/>
        </p:nvSpPr>
        <p:spPr>
          <a:xfrm>
            <a:off x="3685032" y="2651760"/>
            <a:ext cx="2103120" cy="457200"/>
          </a:xfrm>
          <a:prstGeom prst="rect">
            <a:avLst/>
          </a:prstGeom>
          <a:noFill/>
          <a:ln/>
        </p:spPr>
        <p:txBody>
          <a:bodyPr wrap="square" lIns="0" tIns="0" rIns="0" bIns="0" rtlCol="0" anchor="t"/>
          <a:lstStyle/>
          <a:p>
            <a:pPr indent="0" marL="0">
              <a:lnSpc>
                <a:spcPts val="2100"/>
              </a:lnSpc>
              <a:buNone/>
            </a:pPr>
            <a:r>
              <a:rPr lang="en-US" sz="1800" dirty="0">
                <a:solidFill>
                  <a:srgbClr val="162947"/>
                </a:solidFill>
                <a:latin typeface="Cambria" pitchFamily="34" charset="0"/>
                <a:ea typeface="Cambria" pitchFamily="34" charset="-122"/>
                <a:cs typeface="Cambria" pitchFamily="34" charset="-120"/>
              </a:rPr>
              <a:t>Always something written</a:t>
            </a:r>
            <a:endParaRPr lang="en-US" sz="1800" dirty="0"/>
          </a:p>
        </p:txBody>
      </p:sp>
      <p:sp>
        <p:nvSpPr>
          <p:cNvPr id="12" name="Text 10"/>
          <p:cNvSpPr txBox="1"/>
          <p:nvPr/>
        </p:nvSpPr>
        <p:spPr>
          <a:xfrm>
            <a:off x="3685032" y="3218688"/>
            <a:ext cx="2103120" cy="182880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A correct first step scores, and a blank does not. Every question gets at least one line, including the ones we have left out.</a:t>
            </a:r>
            <a:endParaRPr lang="en-US" sz="1100" dirty="0"/>
          </a:p>
        </p:txBody>
      </p:sp>
      <p:sp>
        <p:nvSpPr>
          <p:cNvPr id="13" name="Shape 11"/>
          <p:cNvSpPr/>
          <p:nvPr/>
        </p:nvSpPr>
        <p:spPr>
          <a:xfrm>
            <a:off x="6172200" y="1965960"/>
            <a:ext cx="2587752" cy="3246120"/>
          </a:xfrm>
          <a:prstGeom prst="roundRect">
            <a:avLst>
              <a:gd name="adj" fmla="val 1413"/>
            </a:avLst>
          </a:prstGeom>
          <a:solidFill>
            <a:srgbClr val="162947"/>
          </a:solidFill>
          <a:ln/>
        </p:spPr>
      </p:sp>
      <p:sp>
        <p:nvSpPr>
          <p:cNvPr id="14" name="Text 12"/>
          <p:cNvSpPr txBox="1"/>
          <p:nvPr/>
        </p:nvSpPr>
        <p:spPr>
          <a:xfrm>
            <a:off x="64282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03</a:t>
            </a:r>
            <a:endParaRPr lang="en-US" sz="2800" dirty="0"/>
          </a:p>
        </p:txBody>
      </p:sp>
      <p:sp>
        <p:nvSpPr>
          <p:cNvPr id="15" name="Text 13"/>
          <p:cNvSpPr txBox="1"/>
          <p:nvPr/>
        </p:nvSpPr>
        <p:spPr>
          <a:xfrm>
            <a:off x="6428232" y="2651760"/>
            <a:ext cx="2103120" cy="457200"/>
          </a:xfrm>
          <a:prstGeom prst="rect">
            <a:avLst/>
          </a:prstGeom>
          <a:noFill/>
          <a:ln/>
        </p:spPr>
        <p:txBody>
          <a:bodyPr wrap="square" lIns="0" tIns="0" rIns="0" bIns="0" rtlCol="0" anchor="t"/>
          <a:lstStyle/>
          <a:p>
            <a:pPr indent="0" marL="0">
              <a:lnSpc>
                <a:spcPts val="2100"/>
              </a:lnSpc>
              <a:buNone/>
            </a:pPr>
            <a:r>
              <a:rPr lang="en-US" sz="1800" dirty="0">
                <a:solidFill>
                  <a:srgbClr val="F6F4EF"/>
                </a:solidFill>
                <a:latin typeface="Cambria" pitchFamily="34" charset="0"/>
                <a:ea typeface="Cambria" pitchFamily="34" charset="-122"/>
                <a:cs typeface="Cambria" pitchFamily="34" charset="-120"/>
              </a:rPr>
              <a:t>Two passes</a:t>
            </a:r>
            <a:endParaRPr lang="en-US" sz="1800" dirty="0"/>
          </a:p>
        </p:txBody>
      </p:sp>
      <p:sp>
        <p:nvSpPr>
          <p:cNvPr id="16" name="Text 14"/>
          <p:cNvSpPr txBox="1"/>
          <p:nvPr/>
        </p:nvSpPr>
        <p:spPr>
          <a:xfrm>
            <a:off x="6428232" y="3218688"/>
            <a:ext cx="2103120" cy="182880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The recognisable questions first, then back to anything flagged. Practised on every timed section from week 3, so it is familiar by November.</a:t>
            </a:r>
            <a:endParaRPr lang="en-US" sz="1100" dirty="0"/>
          </a:p>
        </p:txBody>
      </p:sp>
      <p:sp>
        <p:nvSpPr>
          <p:cNvPr id="17" name="Shape 15"/>
          <p:cNvSpPr/>
          <p:nvPr/>
        </p:nvSpPr>
        <p:spPr>
          <a:xfrm>
            <a:off x="8915400" y="1965960"/>
            <a:ext cx="2587752" cy="3246120"/>
          </a:xfrm>
          <a:prstGeom prst="roundRect">
            <a:avLst>
              <a:gd name="adj" fmla="val 1413"/>
            </a:avLst>
          </a:prstGeom>
          <a:solidFill>
            <a:srgbClr val="FFFFFF"/>
          </a:solidFill>
          <a:ln w="9525">
            <a:solidFill>
              <a:srgbClr val="E3DFD5"/>
            </a:solidFill>
            <a:prstDash val="solid"/>
          </a:ln>
        </p:spPr>
      </p:sp>
      <p:sp>
        <p:nvSpPr>
          <p:cNvPr id="18" name="Text 16"/>
          <p:cNvSpPr txBox="1"/>
          <p:nvPr/>
        </p:nvSpPr>
        <p:spPr>
          <a:xfrm>
            <a:off x="91714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04</a:t>
            </a:r>
            <a:endParaRPr lang="en-US" sz="2800" dirty="0"/>
          </a:p>
        </p:txBody>
      </p:sp>
      <p:sp>
        <p:nvSpPr>
          <p:cNvPr id="19" name="Text 17"/>
          <p:cNvSpPr txBox="1"/>
          <p:nvPr/>
        </p:nvSpPr>
        <p:spPr>
          <a:xfrm>
            <a:off x="9171432" y="2651760"/>
            <a:ext cx="2103120" cy="457200"/>
          </a:xfrm>
          <a:prstGeom prst="rect">
            <a:avLst/>
          </a:prstGeom>
          <a:noFill/>
          <a:ln/>
        </p:spPr>
        <p:txBody>
          <a:bodyPr wrap="square" lIns="0" tIns="0" rIns="0" bIns="0" rtlCol="0" anchor="t"/>
          <a:lstStyle/>
          <a:p>
            <a:pPr indent="0" marL="0">
              <a:lnSpc>
                <a:spcPts val="2100"/>
              </a:lnSpc>
              <a:buNone/>
            </a:pPr>
            <a:r>
              <a:rPr lang="en-US" sz="1800" dirty="0">
                <a:solidFill>
                  <a:srgbClr val="162947"/>
                </a:solidFill>
                <a:latin typeface="Cambria" pitchFamily="34" charset="0"/>
                <a:ea typeface="Cambria" pitchFamily="34" charset="-122"/>
                <a:cs typeface="Cambria" pitchFamily="34" charset="-120"/>
              </a:rPr>
              <a:t>The last line</a:t>
            </a:r>
            <a:endParaRPr lang="en-US" sz="1800" dirty="0"/>
          </a:p>
        </p:txBody>
      </p:sp>
      <p:sp>
        <p:nvSpPr>
          <p:cNvPr id="20" name="Text 18"/>
          <p:cNvSpPr txBox="1"/>
          <p:nvPr/>
        </p:nvSpPr>
        <p:spPr>
          <a:xfrm>
            <a:off x="9171432" y="3218688"/>
            <a:ext cx="2103120" cy="182880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Marks are often lost at the end of correct work. Answers get checked for units, for degrees, and for the rounding the question asked for.</a:t>
            </a:r>
            <a:endParaRPr lang="en-US" sz="1100" dirty="0"/>
          </a:p>
        </p:txBody>
      </p:sp>
      <p:sp>
        <p:nvSpPr>
          <p:cNvPr id="21" name="Shape 19"/>
          <p:cNvSpPr/>
          <p:nvPr/>
        </p:nvSpPr>
        <p:spPr>
          <a:xfrm>
            <a:off x="685800" y="5440680"/>
            <a:ext cx="10817352" cy="713232"/>
          </a:xfrm>
          <a:prstGeom prst="roundRect">
            <a:avLst>
              <a:gd name="adj" fmla="val 5128"/>
            </a:avLst>
          </a:prstGeom>
          <a:solidFill>
            <a:srgbClr val="EFEBE1"/>
          </a:solidFill>
          <a:ln/>
        </p:spPr>
      </p:sp>
      <p:sp>
        <p:nvSpPr>
          <p:cNvPr id="22" name="Text 20"/>
          <p:cNvSpPr txBox="1"/>
          <p:nvPr/>
        </p:nvSpPr>
        <p:spPr>
          <a:xfrm>
            <a:off x="1005840" y="5440680"/>
            <a:ext cx="10149840" cy="713232"/>
          </a:xfrm>
          <a:prstGeom prst="rect">
            <a:avLst/>
          </a:prstGeom>
          <a:noFill/>
          <a:ln/>
        </p:spPr>
        <p:txBody>
          <a:bodyPr wrap="square" lIns="0" tIns="0" rIns="0" bIns="0" rtlCol="0" anchor="ctr"/>
          <a:lstStyle/>
          <a:p>
            <a:pPr indent="0" marL="0">
              <a:lnSpc>
                <a:spcPts val="1600"/>
              </a:lnSpc>
              <a:buNone/>
            </a:pPr>
            <a:r>
              <a:rPr lang="en-US" sz="1150" dirty="0">
                <a:solidFill>
                  <a:srgbClr val="162947"/>
                </a:solidFill>
                <a:latin typeface="Arial" pitchFamily="34" charset="0"/>
                <a:ea typeface="Arial" pitchFamily="34" charset="-122"/>
                <a:cs typeface="Arial" pitchFamily="34" charset="-120"/>
              </a:rPr>
              <a:t>Every marked piece of work records marks lost to blanks, to missing working and to the final line. We review those three numbers in weeks 3 and 5.</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BETWEEN SESSIONS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Twenty minutes a day, six days a week</a:t>
            </a:r>
            <a:endParaRPr lang="en-US" sz="3300" dirty="0"/>
          </a:p>
        </p:txBody>
      </p:sp>
      <p:sp>
        <p:nvSpPr>
          <p:cNvPr id="4" name="Text 2"/>
          <p:cNvSpPr txBox="1"/>
          <p:nvPr/>
        </p:nvSpPr>
        <p:spPr>
          <a:xfrm>
            <a:off x="685800" y="1481328"/>
            <a:ext cx="10424160" cy="365760"/>
          </a:xfrm>
          <a:prstGeom prst="rect">
            <a:avLst/>
          </a:prstGeom>
          <a:noFill/>
          <a:ln/>
        </p:spPr>
        <p:txBody>
          <a:bodyPr wrap="square" lIns="0" tIns="0" rIns="0" bIns="0" rtlCol="0" anchor="t"/>
          <a:lstStyle/>
          <a:p>
            <a:pPr indent="0" marL="0">
              <a:lnSpc>
                <a:spcPts val="1700"/>
              </a:lnSpc>
              <a:buNone/>
            </a:pPr>
            <a:r>
              <a:rPr lang="en-US" sz="1250" dirty="0">
                <a:solidFill>
                  <a:srgbClr val="5D6471"/>
                </a:solidFill>
                <a:latin typeface="Arial" pitchFamily="34" charset="0"/>
                <a:ea typeface="Arial" pitchFamily="34" charset="-122"/>
                <a:cs typeface="Arial" pitchFamily="34" charset="-120"/>
              </a:rPr>
              <a:t>This starts from the next session and runs to the exams. Six days a week for six weeks comes to about twelve hours, close to the total lesson time, and short daily sessions work better here than one long session at the weekend.</a:t>
            </a:r>
            <a:endParaRPr lang="en-US" sz="1250" dirty="0"/>
          </a:p>
        </p:txBody>
      </p:sp>
      <p:sp>
        <p:nvSpPr>
          <p:cNvPr id="5" name="Shape 3"/>
          <p:cNvSpPr/>
          <p:nvPr/>
        </p:nvSpPr>
        <p:spPr>
          <a:xfrm>
            <a:off x="685800" y="2011680"/>
            <a:ext cx="3502152" cy="1783080"/>
          </a:xfrm>
          <a:prstGeom prst="roundRect">
            <a:avLst>
              <a:gd name="adj" fmla="val 2051"/>
            </a:avLst>
          </a:prstGeom>
          <a:solidFill>
            <a:srgbClr val="FFFFFF"/>
          </a:solidFill>
          <a:ln w="9525">
            <a:solidFill>
              <a:srgbClr val="E3DFD5"/>
            </a:solidFill>
            <a:prstDash val="solid"/>
          </a:ln>
        </p:spPr>
      </p:sp>
      <p:sp>
        <p:nvSpPr>
          <p:cNvPr id="6" name="Text 4"/>
          <p:cNvSpPr txBox="1"/>
          <p:nvPr/>
        </p:nvSpPr>
        <p:spPr>
          <a:xfrm>
            <a:off x="960120" y="2194560"/>
            <a:ext cx="1280160" cy="329184"/>
          </a:xfrm>
          <a:prstGeom prst="rect">
            <a:avLst/>
          </a:prstGeom>
          <a:noFill/>
          <a:ln/>
        </p:spPr>
        <p:txBody>
          <a:bodyPr wrap="square" lIns="0" tIns="0" rIns="0" bIns="0" rtlCol="0" anchor="ctr"/>
          <a:lstStyle/>
          <a:p>
            <a:pPr indent="0" marL="0">
              <a:buNone/>
            </a:pPr>
            <a:r>
              <a:rPr lang="en-US" sz="2200" dirty="0">
                <a:solidFill>
                  <a:srgbClr val="C3A965"/>
                </a:solidFill>
                <a:latin typeface="Cambria" pitchFamily="34" charset="0"/>
                <a:ea typeface="Cambria" pitchFamily="34" charset="-122"/>
                <a:cs typeface="Cambria" pitchFamily="34" charset="-120"/>
              </a:rPr>
              <a:t>5 min</a:t>
            </a:r>
            <a:endParaRPr lang="en-US" sz="2200" dirty="0"/>
          </a:p>
        </p:txBody>
      </p:sp>
      <p:sp>
        <p:nvSpPr>
          <p:cNvPr id="7" name="Text 5"/>
          <p:cNvSpPr txBox="1"/>
          <p:nvPr/>
        </p:nvSpPr>
        <p:spPr>
          <a:xfrm>
            <a:off x="2103120" y="2258568"/>
            <a:ext cx="182880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Target skill</a:t>
            </a:r>
            <a:endParaRPr lang="en-US" sz="1250" dirty="0"/>
          </a:p>
        </p:txBody>
      </p:sp>
      <p:sp>
        <p:nvSpPr>
          <p:cNvPr id="8" name="Text 6"/>
          <p:cNvSpPr txBox="1"/>
          <p:nvPr/>
        </p:nvSpPr>
        <p:spPr>
          <a:xfrm>
            <a:off x="960120" y="2642616"/>
            <a:ext cx="2971800" cy="1024128"/>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Twenty questions on the week's target skill, written out in full and timed, with the score noted.</a:t>
            </a:r>
            <a:endParaRPr lang="en-US" sz="1050" dirty="0"/>
          </a:p>
        </p:txBody>
      </p:sp>
      <p:sp>
        <p:nvSpPr>
          <p:cNvPr id="9" name="Shape 7"/>
          <p:cNvSpPr/>
          <p:nvPr/>
        </p:nvSpPr>
        <p:spPr>
          <a:xfrm>
            <a:off x="4343400" y="2011680"/>
            <a:ext cx="3502152" cy="1783080"/>
          </a:xfrm>
          <a:prstGeom prst="roundRect">
            <a:avLst>
              <a:gd name="adj" fmla="val 2051"/>
            </a:avLst>
          </a:prstGeom>
          <a:solidFill>
            <a:srgbClr val="FFFFFF"/>
          </a:solidFill>
          <a:ln w="9525">
            <a:solidFill>
              <a:srgbClr val="E3DFD5"/>
            </a:solidFill>
            <a:prstDash val="solid"/>
          </a:ln>
        </p:spPr>
      </p:sp>
      <p:sp>
        <p:nvSpPr>
          <p:cNvPr id="10" name="Text 8"/>
          <p:cNvSpPr txBox="1"/>
          <p:nvPr/>
        </p:nvSpPr>
        <p:spPr>
          <a:xfrm>
            <a:off x="4617720" y="2194560"/>
            <a:ext cx="1280160" cy="329184"/>
          </a:xfrm>
          <a:prstGeom prst="rect">
            <a:avLst/>
          </a:prstGeom>
          <a:noFill/>
          <a:ln/>
        </p:spPr>
        <p:txBody>
          <a:bodyPr wrap="square" lIns="0" tIns="0" rIns="0" bIns="0" rtlCol="0" anchor="ctr"/>
          <a:lstStyle/>
          <a:p>
            <a:pPr indent="0" marL="0">
              <a:buNone/>
            </a:pPr>
            <a:r>
              <a:rPr lang="en-US" sz="2200" dirty="0">
                <a:solidFill>
                  <a:srgbClr val="C3A965"/>
                </a:solidFill>
                <a:latin typeface="Cambria" pitchFamily="34" charset="0"/>
                <a:ea typeface="Cambria" pitchFamily="34" charset="-122"/>
                <a:cs typeface="Cambria" pitchFamily="34" charset="-120"/>
              </a:rPr>
              <a:t>10 min</a:t>
            </a:r>
            <a:endParaRPr lang="en-US" sz="2200" dirty="0"/>
          </a:p>
        </p:txBody>
      </p:sp>
      <p:sp>
        <p:nvSpPr>
          <p:cNvPr id="11" name="Text 9"/>
          <p:cNvSpPr txBox="1"/>
          <p:nvPr/>
        </p:nvSpPr>
        <p:spPr>
          <a:xfrm>
            <a:off x="5760720" y="2258568"/>
            <a:ext cx="182880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Mixed practice</a:t>
            </a:r>
            <a:endParaRPr lang="en-US" sz="1250" dirty="0"/>
          </a:p>
        </p:txBody>
      </p:sp>
      <p:sp>
        <p:nvSpPr>
          <p:cNvPr id="12" name="Text 10"/>
          <p:cNvSpPr txBox="1"/>
          <p:nvPr/>
        </p:nvSpPr>
        <p:spPr>
          <a:xfrm>
            <a:off x="4617720" y="2642616"/>
            <a:ext cx="2971800" cy="1024128"/>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Six questions from topics already covered, not grouped, so the method has to be chosen first.</a:t>
            </a:r>
            <a:endParaRPr lang="en-US" sz="1050" dirty="0"/>
          </a:p>
        </p:txBody>
      </p:sp>
      <p:sp>
        <p:nvSpPr>
          <p:cNvPr id="13" name="Shape 11"/>
          <p:cNvSpPr/>
          <p:nvPr/>
        </p:nvSpPr>
        <p:spPr>
          <a:xfrm>
            <a:off x="8001000" y="2011680"/>
            <a:ext cx="3502152" cy="1783080"/>
          </a:xfrm>
          <a:prstGeom prst="roundRect">
            <a:avLst>
              <a:gd name="adj" fmla="val 2051"/>
            </a:avLst>
          </a:prstGeom>
          <a:solidFill>
            <a:srgbClr val="FFFFFF"/>
          </a:solidFill>
          <a:ln w="9525">
            <a:solidFill>
              <a:srgbClr val="E3DFD5"/>
            </a:solidFill>
            <a:prstDash val="solid"/>
          </a:ln>
        </p:spPr>
      </p:sp>
      <p:sp>
        <p:nvSpPr>
          <p:cNvPr id="14" name="Text 12"/>
          <p:cNvSpPr txBox="1"/>
          <p:nvPr/>
        </p:nvSpPr>
        <p:spPr>
          <a:xfrm>
            <a:off x="8275320" y="2194560"/>
            <a:ext cx="1280160" cy="329184"/>
          </a:xfrm>
          <a:prstGeom prst="rect">
            <a:avLst/>
          </a:prstGeom>
          <a:noFill/>
          <a:ln/>
        </p:spPr>
        <p:txBody>
          <a:bodyPr wrap="square" lIns="0" tIns="0" rIns="0" bIns="0" rtlCol="0" anchor="ctr"/>
          <a:lstStyle/>
          <a:p>
            <a:pPr indent="0" marL="0">
              <a:buNone/>
            </a:pPr>
            <a:r>
              <a:rPr lang="en-US" sz="2200" dirty="0">
                <a:solidFill>
                  <a:srgbClr val="C3A965"/>
                </a:solidFill>
                <a:latin typeface="Cambria" pitchFamily="34" charset="0"/>
                <a:ea typeface="Cambria" pitchFamily="34" charset="-122"/>
                <a:cs typeface="Cambria" pitchFamily="34" charset="-120"/>
              </a:rPr>
              <a:t>5 min</a:t>
            </a:r>
            <a:endParaRPr lang="en-US" sz="2200" dirty="0"/>
          </a:p>
        </p:txBody>
      </p:sp>
      <p:sp>
        <p:nvSpPr>
          <p:cNvPr id="15" name="Text 13"/>
          <p:cNvSpPr txBox="1"/>
          <p:nvPr/>
        </p:nvSpPr>
        <p:spPr>
          <a:xfrm>
            <a:off x="9418320" y="2258568"/>
            <a:ext cx="182880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Error log</a:t>
            </a:r>
            <a:endParaRPr lang="en-US" sz="1250" dirty="0"/>
          </a:p>
        </p:txBody>
      </p:sp>
      <p:sp>
        <p:nvSpPr>
          <p:cNvPr id="16" name="Text 14"/>
          <p:cNvSpPr txBox="1"/>
          <p:nvPr/>
        </p:nvSpPr>
        <p:spPr>
          <a:xfrm>
            <a:off x="8275320" y="2642616"/>
            <a:ext cx="2971800" cy="1024128"/>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Read through it, then redo two earlier errors without looking at the correction.</a:t>
            </a:r>
            <a:endParaRPr lang="en-US" sz="1050" dirty="0"/>
          </a:p>
        </p:txBody>
      </p:sp>
      <p:sp>
        <p:nvSpPr>
          <p:cNvPr id="17" name="Shape 15"/>
          <p:cNvSpPr/>
          <p:nvPr/>
        </p:nvSpPr>
        <p:spPr>
          <a:xfrm>
            <a:off x="685800" y="4096512"/>
            <a:ext cx="347472" cy="347472"/>
          </a:xfrm>
          <a:prstGeom prst="ellipse">
            <a:avLst/>
          </a:prstGeom>
          <a:solidFill>
            <a:srgbClr val="162947"/>
          </a:solidFill>
          <a:ln/>
        </p:spPr>
      </p:sp>
      <p:sp>
        <p:nvSpPr>
          <p:cNvPr id="18" name="Text 16"/>
          <p:cNvSpPr txBox="1"/>
          <p:nvPr/>
        </p:nvSpPr>
        <p:spPr>
          <a:xfrm>
            <a:off x="68580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19" name="Text 17"/>
          <p:cNvSpPr txBox="1"/>
          <p:nvPr/>
        </p:nvSpPr>
        <p:spPr>
          <a:xfrm>
            <a:off x="68580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Nothing new is learned at home</a:t>
            </a:r>
            <a:endParaRPr lang="en-US" sz="1100" dirty="0"/>
          </a:p>
        </p:txBody>
      </p:sp>
      <p:sp>
        <p:nvSpPr>
          <p:cNvPr id="20" name="Shape 18"/>
          <p:cNvSpPr/>
          <p:nvPr/>
        </p:nvSpPr>
        <p:spPr>
          <a:xfrm>
            <a:off x="2880360" y="4096512"/>
            <a:ext cx="347472" cy="347472"/>
          </a:xfrm>
          <a:prstGeom prst="ellipse">
            <a:avLst/>
          </a:prstGeom>
          <a:solidFill>
            <a:srgbClr val="162947"/>
          </a:solidFill>
          <a:ln/>
        </p:spPr>
      </p:sp>
      <p:sp>
        <p:nvSpPr>
          <p:cNvPr id="21" name="Text 19"/>
          <p:cNvSpPr txBox="1"/>
          <p:nvPr/>
        </p:nvSpPr>
        <p:spPr>
          <a:xfrm>
            <a:off x="288036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22" name="Text 20"/>
          <p:cNvSpPr txBox="1"/>
          <p:nvPr/>
        </p:nvSpPr>
        <p:spPr>
          <a:xfrm>
            <a:off x="288036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Charlotte marks her own work</a:t>
            </a:r>
            <a:endParaRPr lang="en-US" sz="1100" dirty="0"/>
          </a:p>
        </p:txBody>
      </p:sp>
      <p:sp>
        <p:nvSpPr>
          <p:cNvPr id="23" name="Shape 21"/>
          <p:cNvSpPr/>
          <p:nvPr/>
        </p:nvSpPr>
        <p:spPr>
          <a:xfrm>
            <a:off x="5074920" y="4096512"/>
            <a:ext cx="347472" cy="347472"/>
          </a:xfrm>
          <a:prstGeom prst="ellipse">
            <a:avLst/>
          </a:prstGeom>
          <a:solidFill>
            <a:srgbClr val="162947"/>
          </a:solidFill>
          <a:ln/>
        </p:spPr>
      </p:sp>
      <p:sp>
        <p:nvSpPr>
          <p:cNvPr id="24" name="Text 22"/>
          <p:cNvSpPr txBox="1"/>
          <p:nvPr/>
        </p:nvSpPr>
        <p:spPr>
          <a:xfrm>
            <a:off x="507492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25" name="Text 23"/>
          <p:cNvSpPr txBox="1"/>
          <p:nvPr/>
        </p:nvSpPr>
        <p:spPr>
          <a:xfrm>
            <a:off x="507492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The same time each day</a:t>
            </a:r>
            <a:endParaRPr lang="en-US" sz="1100" dirty="0"/>
          </a:p>
        </p:txBody>
      </p:sp>
      <p:sp>
        <p:nvSpPr>
          <p:cNvPr id="26" name="Shape 24"/>
          <p:cNvSpPr/>
          <p:nvPr/>
        </p:nvSpPr>
        <p:spPr>
          <a:xfrm>
            <a:off x="7269480" y="4096512"/>
            <a:ext cx="347472" cy="347472"/>
          </a:xfrm>
          <a:prstGeom prst="ellipse">
            <a:avLst/>
          </a:prstGeom>
          <a:solidFill>
            <a:srgbClr val="162947"/>
          </a:solidFill>
          <a:ln/>
        </p:spPr>
      </p:sp>
      <p:sp>
        <p:nvSpPr>
          <p:cNvPr id="27" name="Text 25"/>
          <p:cNvSpPr txBox="1"/>
          <p:nvPr/>
        </p:nvSpPr>
        <p:spPr>
          <a:xfrm>
            <a:off x="726948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28" name="Text 26"/>
          <p:cNvSpPr txBox="1"/>
          <p:nvPr/>
        </p:nvSpPr>
        <p:spPr>
          <a:xfrm>
            <a:off x="726948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Sunday is five minutes, error log only</a:t>
            </a:r>
            <a:endParaRPr lang="en-US" sz="1100" dirty="0"/>
          </a:p>
        </p:txBody>
      </p:sp>
      <p:sp>
        <p:nvSpPr>
          <p:cNvPr id="29" name="Shape 27"/>
          <p:cNvSpPr/>
          <p:nvPr/>
        </p:nvSpPr>
        <p:spPr>
          <a:xfrm>
            <a:off x="9464040" y="4096512"/>
            <a:ext cx="347472" cy="347472"/>
          </a:xfrm>
          <a:prstGeom prst="ellipse">
            <a:avLst/>
          </a:prstGeom>
          <a:solidFill>
            <a:srgbClr val="162947"/>
          </a:solidFill>
          <a:ln/>
        </p:spPr>
      </p:sp>
      <p:sp>
        <p:nvSpPr>
          <p:cNvPr id="30" name="Text 28"/>
          <p:cNvSpPr txBox="1"/>
          <p:nvPr/>
        </p:nvSpPr>
        <p:spPr>
          <a:xfrm>
            <a:off x="946404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5</a:t>
            </a:r>
            <a:endParaRPr lang="en-US" sz="1500" dirty="0"/>
          </a:p>
        </p:txBody>
      </p:sp>
      <p:sp>
        <p:nvSpPr>
          <p:cNvPr id="31" name="Text 29"/>
          <p:cNvSpPr txBox="1"/>
          <p:nvPr/>
        </p:nvSpPr>
        <p:spPr>
          <a:xfrm>
            <a:off x="946404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A photo of the marked sheet, sent the same day</a:t>
            </a:r>
            <a:endParaRPr lang="en-US" sz="1100" dirty="0"/>
          </a:p>
        </p:txBody>
      </p:sp>
      <p:sp>
        <p:nvSpPr>
          <p:cNvPr id="32" name="Shape 30"/>
          <p:cNvSpPr/>
          <p:nvPr/>
        </p:nvSpPr>
        <p:spPr>
          <a:xfrm>
            <a:off x="685800" y="5230368"/>
            <a:ext cx="10817352" cy="896112"/>
          </a:xfrm>
          <a:prstGeom prst="roundRect">
            <a:avLst>
              <a:gd name="adj" fmla="val 4082"/>
            </a:avLst>
          </a:prstGeom>
          <a:solidFill>
            <a:srgbClr val="162947"/>
          </a:solidFill>
          <a:ln/>
        </p:spPr>
      </p:sp>
      <p:sp>
        <p:nvSpPr>
          <p:cNvPr id="33" name="Text 31"/>
          <p:cNvSpPr txBox="1"/>
          <p:nvPr/>
        </p:nvSpPr>
        <p:spPr>
          <a:xfrm>
            <a:off x="1005840" y="5394960"/>
            <a:ext cx="10149840" cy="256032"/>
          </a:xfrm>
          <a:prstGeom prst="rect">
            <a:avLst/>
          </a:prstGeom>
          <a:noFill/>
          <a:ln/>
        </p:spPr>
        <p:txBody>
          <a:bodyPr wrap="square" lIns="0" tIns="0" rIns="0" bIns="0" rtlCol="0" anchor="ctr"/>
          <a:lstStyle/>
          <a:p>
            <a:pPr indent="0" marL="0">
              <a:buNone/>
            </a:pPr>
            <a:r>
              <a:rPr lang="en-US" sz="1250" b="1" dirty="0">
                <a:solidFill>
                  <a:srgbClr val="C3A965"/>
                </a:solidFill>
                <a:latin typeface="Arial" pitchFamily="34" charset="0"/>
                <a:ea typeface="Arial" pitchFamily="34" charset="-122"/>
                <a:cs typeface="Arial" pitchFamily="34" charset="-120"/>
              </a:rPr>
              <a:t>We will look at how the daily work is going at the end of week 2.</a:t>
            </a:r>
            <a:endParaRPr lang="en-US" sz="1250" dirty="0"/>
          </a:p>
        </p:txBody>
      </p:sp>
      <p:sp>
        <p:nvSpPr>
          <p:cNvPr id="34" name="Text 32"/>
          <p:cNvSpPr txBox="1"/>
          <p:nvPr/>
        </p:nvSpPr>
        <p:spPr>
          <a:xfrm>
            <a:off x="1005840" y="5687568"/>
            <a:ext cx="10149840" cy="310896"/>
          </a:xfrm>
          <a:prstGeom prst="rect">
            <a:avLst/>
          </a:prstGeom>
          <a:noFill/>
          <a:ln/>
        </p:spPr>
        <p:txBody>
          <a:bodyPr wrap="square" lIns="0" tIns="0" rIns="0" bIns="0" rtlCol="0" anchor="t"/>
          <a:lstStyle/>
          <a:p>
            <a:pPr indent="0" marL="0">
              <a:buNone/>
            </a:pPr>
            <a:r>
              <a:rPr lang="en-US" sz="1100" dirty="0">
                <a:solidFill>
                  <a:srgbClr val="A8B2C2"/>
                </a:solidFill>
                <a:latin typeface="Arial" pitchFamily="34" charset="0"/>
                <a:ea typeface="Arial" pitchFamily="34" charset="-122"/>
                <a:cs typeface="Arial" pitchFamily="34" charset="-120"/>
              </a:rPr>
              <a:t>It is the easiest part of the plan to lose and the hardest to make up. If twenty minutes is not fitting around everything else, please say so and we will adjust the plan around what is realistic.</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PROGRESS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How we will track it</a:t>
            </a:r>
            <a:endParaRPr lang="en-US" sz="3300" dirty="0"/>
          </a:p>
        </p:txBody>
      </p:sp>
      <p:sp>
        <p:nvSpPr>
          <p:cNvPr id="4" name="Text 2"/>
          <p:cNvSpPr txBox="1"/>
          <p:nvPr/>
        </p:nvSpPr>
        <p:spPr>
          <a:xfrm>
            <a:off x="685800" y="1481328"/>
            <a:ext cx="10424160" cy="274320"/>
          </a:xfrm>
          <a:prstGeom prst="rect">
            <a:avLst/>
          </a:prstGeom>
          <a:noFill/>
          <a:ln/>
        </p:spPr>
        <p:txBody>
          <a:bodyPr wrap="square" lIns="0" tIns="0" rIns="0" bIns="0" rtlCol="0" anchor="t"/>
          <a:lstStyle/>
          <a:p>
            <a:pPr indent="0" marL="0">
              <a:buNone/>
            </a:pPr>
            <a:r>
              <a:rPr lang="en-US" sz="1250" dirty="0">
                <a:solidFill>
                  <a:srgbClr val="5D6471"/>
                </a:solidFill>
                <a:latin typeface="Arial" pitchFamily="34" charset="0"/>
                <a:ea typeface="Arial" pitchFamily="34" charset="-122"/>
                <a:cs typeface="Arial" pitchFamily="34" charset="-120"/>
              </a:rPr>
              <a:t>Two numbers: Charlotte's audit score, and her marks on a timed paper. Each checkpoint has a set response.</a:t>
            </a:r>
            <a:endParaRPr lang="en-US" sz="1250" dirty="0"/>
          </a:p>
        </p:txBody>
      </p:sp>
      <p:sp>
        <p:nvSpPr>
          <p:cNvPr id="5" name="Shape 3"/>
          <p:cNvSpPr/>
          <p:nvPr/>
        </p:nvSpPr>
        <p:spPr>
          <a:xfrm>
            <a:off x="685800" y="1920240"/>
            <a:ext cx="2587752" cy="2331720"/>
          </a:xfrm>
          <a:prstGeom prst="roundRect">
            <a:avLst>
              <a:gd name="adj" fmla="val 1569"/>
            </a:avLst>
          </a:prstGeom>
          <a:solidFill>
            <a:srgbClr val="FFFFFF"/>
          </a:solidFill>
          <a:ln w="9525">
            <a:solidFill>
              <a:srgbClr val="E3DFD5"/>
            </a:solidFill>
            <a:prstDash val="solid"/>
          </a:ln>
        </p:spPr>
      </p:sp>
      <p:sp>
        <p:nvSpPr>
          <p:cNvPr id="6" name="Text 4"/>
          <p:cNvSpPr txBox="1"/>
          <p:nvPr/>
        </p:nvSpPr>
        <p:spPr>
          <a:xfrm>
            <a:off x="9418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1</a:t>
            </a:r>
            <a:endParaRPr lang="en-US" sz="950" dirty="0"/>
          </a:p>
        </p:txBody>
      </p:sp>
      <p:sp>
        <p:nvSpPr>
          <p:cNvPr id="7" name="Text 5"/>
          <p:cNvSpPr txBox="1"/>
          <p:nvPr/>
        </p:nvSpPr>
        <p:spPr>
          <a:xfrm>
            <a:off x="941832" y="2359152"/>
            <a:ext cx="210312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Baseline</a:t>
            </a:r>
            <a:endParaRPr lang="en-US" sz="1250" dirty="0"/>
          </a:p>
        </p:txBody>
      </p:sp>
      <p:sp>
        <p:nvSpPr>
          <p:cNvPr id="8" name="Text 6"/>
          <p:cNvSpPr txBox="1"/>
          <p:nvPr/>
        </p:nvSpPr>
        <p:spPr>
          <a:xfrm>
            <a:off x="9418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162947"/>
                </a:solidFill>
                <a:latin typeface="Cambria" pitchFamily="34" charset="0"/>
                <a:ea typeface="Cambria" pitchFamily="34" charset="-122"/>
                <a:cs typeface="Cambria" pitchFamily="34" charset="-120"/>
              </a:rPr>
              <a:t>Audit and a full paper</a:t>
            </a:r>
            <a:endParaRPr lang="en-US" sz="1700" dirty="0"/>
          </a:p>
        </p:txBody>
      </p:sp>
      <p:sp>
        <p:nvSpPr>
          <p:cNvPr id="9" name="Text 7"/>
          <p:cNvSpPr txBox="1"/>
          <p:nvPr/>
        </p:nvSpPr>
        <p:spPr>
          <a:xfrm>
            <a:off x="9418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Recorded as a starting point.</a:t>
            </a:r>
            <a:endParaRPr lang="en-US" sz="1050" dirty="0"/>
          </a:p>
        </p:txBody>
      </p:sp>
      <p:sp>
        <p:nvSpPr>
          <p:cNvPr id="10" name="Shape 8"/>
          <p:cNvSpPr/>
          <p:nvPr/>
        </p:nvSpPr>
        <p:spPr>
          <a:xfrm>
            <a:off x="3429000" y="1920240"/>
            <a:ext cx="2587752" cy="2331720"/>
          </a:xfrm>
          <a:prstGeom prst="roundRect">
            <a:avLst>
              <a:gd name="adj" fmla="val 1569"/>
            </a:avLst>
          </a:prstGeom>
          <a:solidFill>
            <a:srgbClr val="FFFFFF"/>
          </a:solidFill>
          <a:ln w="9525">
            <a:solidFill>
              <a:srgbClr val="E3DFD5"/>
            </a:solidFill>
            <a:prstDash val="solid"/>
          </a:ln>
        </p:spPr>
      </p:sp>
      <p:sp>
        <p:nvSpPr>
          <p:cNvPr id="11" name="Text 9"/>
          <p:cNvSpPr txBox="1"/>
          <p:nvPr/>
        </p:nvSpPr>
        <p:spPr>
          <a:xfrm>
            <a:off x="36850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3</a:t>
            </a:r>
            <a:endParaRPr lang="en-US" sz="950" dirty="0"/>
          </a:p>
        </p:txBody>
      </p:sp>
      <p:sp>
        <p:nvSpPr>
          <p:cNvPr id="12" name="Text 10"/>
          <p:cNvSpPr txBox="1"/>
          <p:nvPr/>
        </p:nvSpPr>
        <p:spPr>
          <a:xfrm>
            <a:off x="3685032" y="2359152"/>
            <a:ext cx="210312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Checkpoint 1</a:t>
            </a:r>
            <a:endParaRPr lang="en-US" sz="1250" dirty="0"/>
          </a:p>
        </p:txBody>
      </p:sp>
      <p:sp>
        <p:nvSpPr>
          <p:cNvPr id="13" name="Text 11"/>
          <p:cNvSpPr txBox="1"/>
          <p:nvPr/>
        </p:nvSpPr>
        <p:spPr>
          <a:xfrm>
            <a:off x="36850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162947"/>
                </a:solidFill>
                <a:latin typeface="Cambria" pitchFamily="34" charset="0"/>
                <a:ea typeface="Cambria" pitchFamily="34" charset="-122"/>
                <a:cs typeface="Cambria" pitchFamily="34" charset="-120"/>
              </a:rPr>
              <a:t>Audit repeated</a:t>
            </a:r>
            <a:endParaRPr lang="en-US" sz="1700" dirty="0"/>
          </a:p>
        </p:txBody>
      </p:sp>
      <p:sp>
        <p:nvSpPr>
          <p:cNvPr id="14" name="Text 12"/>
          <p:cNvSpPr txBox="1"/>
          <p:nvPr/>
        </p:nvSpPr>
        <p:spPr>
          <a:xfrm>
            <a:off x="36850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The weakest skills should have improved.</a:t>
            </a:r>
            <a:endParaRPr lang="en-US" sz="1050" dirty="0"/>
          </a:p>
        </p:txBody>
      </p:sp>
      <p:sp>
        <p:nvSpPr>
          <p:cNvPr id="15" name="Shape 13"/>
          <p:cNvSpPr/>
          <p:nvPr/>
        </p:nvSpPr>
        <p:spPr>
          <a:xfrm>
            <a:off x="6172200" y="1920240"/>
            <a:ext cx="2587752" cy="2331720"/>
          </a:xfrm>
          <a:prstGeom prst="roundRect">
            <a:avLst>
              <a:gd name="adj" fmla="val 1569"/>
            </a:avLst>
          </a:prstGeom>
          <a:solidFill>
            <a:srgbClr val="162947"/>
          </a:solidFill>
          <a:ln/>
        </p:spPr>
      </p:sp>
      <p:sp>
        <p:nvSpPr>
          <p:cNvPr id="16" name="Text 14"/>
          <p:cNvSpPr txBox="1"/>
          <p:nvPr/>
        </p:nvSpPr>
        <p:spPr>
          <a:xfrm>
            <a:off x="64282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5</a:t>
            </a:r>
            <a:endParaRPr lang="en-US" sz="950" dirty="0"/>
          </a:p>
        </p:txBody>
      </p:sp>
      <p:sp>
        <p:nvSpPr>
          <p:cNvPr id="17" name="Text 15"/>
          <p:cNvSpPr txBox="1"/>
          <p:nvPr/>
        </p:nvSpPr>
        <p:spPr>
          <a:xfrm>
            <a:off x="6428232" y="2359152"/>
            <a:ext cx="2103120" cy="274320"/>
          </a:xfrm>
          <a:prstGeom prst="rect">
            <a:avLst/>
          </a:prstGeom>
          <a:noFill/>
          <a:ln/>
        </p:spPr>
        <p:txBody>
          <a:bodyPr wrap="square" lIns="0" tIns="0" rIns="0" bIns="0" rtlCol="0" anchor="ctr"/>
          <a:lstStyle/>
          <a:p>
            <a:pPr indent="0" marL="0">
              <a:buNone/>
            </a:pPr>
            <a:r>
              <a:rPr lang="en-US" sz="1250" b="1" dirty="0">
                <a:solidFill>
                  <a:srgbClr val="F6F4EF"/>
                </a:solidFill>
                <a:latin typeface="Arial" pitchFamily="34" charset="0"/>
                <a:ea typeface="Arial" pitchFamily="34" charset="-122"/>
                <a:cs typeface="Arial" pitchFamily="34" charset="-120"/>
              </a:rPr>
              <a:t>First full paper</a:t>
            </a:r>
            <a:endParaRPr lang="en-US" sz="1250" dirty="0"/>
          </a:p>
        </p:txBody>
      </p:sp>
      <p:sp>
        <p:nvSpPr>
          <p:cNvPr id="18" name="Text 16"/>
          <p:cNvSpPr txBox="1"/>
          <p:nvPr/>
        </p:nvSpPr>
        <p:spPr>
          <a:xfrm>
            <a:off x="64282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C3A965"/>
                </a:solidFill>
                <a:latin typeface="Cambria" pitchFamily="34" charset="0"/>
                <a:ea typeface="Cambria" pitchFamily="34" charset="-122"/>
                <a:cs typeface="Cambria" pitchFamily="34" charset="-120"/>
              </a:rPr>
              <a:t>35 / 100 or better</a:t>
            </a:r>
            <a:endParaRPr lang="en-US" sz="1700" dirty="0"/>
          </a:p>
        </p:txBody>
      </p:sp>
      <p:sp>
        <p:nvSpPr>
          <p:cNvPr id="19" name="Text 17"/>
          <p:cNvSpPr txBox="1"/>
          <p:nvPr/>
        </p:nvSpPr>
        <p:spPr>
          <a:xfrm>
            <a:off x="64282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On track. If it is below, see the note underneath.</a:t>
            </a:r>
            <a:endParaRPr lang="en-US" sz="1050" dirty="0"/>
          </a:p>
        </p:txBody>
      </p:sp>
      <p:sp>
        <p:nvSpPr>
          <p:cNvPr id="20" name="Shape 18"/>
          <p:cNvSpPr/>
          <p:nvPr/>
        </p:nvSpPr>
        <p:spPr>
          <a:xfrm>
            <a:off x="8915400" y="1920240"/>
            <a:ext cx="2587752" cy="2331720"/>
          </a:xfrm>
          <a:prstGeom prst="roundRect">
            <a:avLst>
              <a:gd name="adj" fmla="val 1569"/>
            </a:avLst>
          </a:prstGeom>
          <a:solidFill>
            <a:srgbClr val="162947"/>
          </a:solidFill>
          <a:ln/>
        </p:spPr>
      </p:sp>
      <p:sp>
        <p:nvSpPr>
          <p:cNvPr id="21" name="Text 19"/>
          <p:cNvSpPr txBox="1"/>
          <p:nvPr/>
        </p:nvSpPr>
        <p:spPr>
          <a:xfrm>
            <a:off x="91714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6</a:t>
            </a:r>
            <a:endParaRPr lang="en-US" sz="950" dirty="0"/>
          </a:p>
        </p:txBody>
      </p:sp>
      <p:sp>
        <p:nvSpPr>
          <p:cNvPr id="22" name="Text 20"/>
          <p:cNvSpPr txBox="1"/>
          <p:nvPr/>
        </p:nvSpPr>
        <p:spPr>
          <a:xfrm>
            <a:off x="9171432" y="2359152"/>
            <a:ext cx="2103120" cy="274320"/>
          </a:xfrm>
          <a:prstGeom prst="rect">
            <a:avLst/>
          </a:prstGeom>
          <a:noFill/>
          <a:ln/>
        </p:spPr>
        <p:txBody>
          <a:bodyPr wrap="square" lIns="0" tIns="0" rIns="0" bIns="0" rtlCol="0" anchor="ctr"/>
          <a:lstStyle/>
          <a:p>
            <a:pPr indent="0" marL="0">
              <a:buNone/>
            </a:pPr>
            <a:r>
              <a:rPr lang="en-US" sz="1250" b="1" dirty="0">
                <a:solidFill>
                  <a:srgbClr val="F6F4EF"/>
                </a:solidFill>
                <a:latin typeface="Arial" pitchFamily="34" charset="0"/>
                <a:ea typeface="Arial" pitchFamily="34" charset="-122"/>
                <a:cs typeface="Arial" pitchFamily="34" charset="-120"/>
              </a:rPr>
              <a:t>Second full paper</a:t>
            </a:r>
            <a:endParaRPr lang="en-US" sz="1250" dirty="0"/>
          </a:p>
        </p:txBody>
      </p:sp>
      <p:sp>
        <p:nvSpPr>
          <p:cNvPr id="23" name="Text 21"/>
          <p:cNvSpPr txBox="1"/>
          <p:nvPr/>
        </p:nvSpPr>
        <p:spPr>
          <a:xfrm>
            <a:off x="91714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C3A965"/>
                </a:solidFill>
                <a:latin typeface="Cambria" pitchFamily="34" charset="0"/>
                <a:ea typeface="Cambria" pitchFamily="34" charset="-122"/>
                <a:cs typeface="Cambria" pitchFamily="34" charset="-120"/>
              </a:rPr>
              <a:t>40 / 100 or better</a:t>
            </a:r>
            <a:endParaRPr lang="en-US" sz="1700" dirty="0"/>
          </a:p>
        </p:txBody>
      </p:sp>
      <p:sp>
        <p:nvSpPr>
          <p:cNvPr id="24" name="Text 22"/>
          <p:cNvSpPr txBox="1"/>
          <p:nvPr/>
        </p:nvSpPr>
        <p:spPr>
          <a:xfrm>
            <a:off x="91714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80 out of 200, 15 clear of the boundary.</a:t>
            </a:r>
            <a:endParaRPr lang="en-US" sz="1050" dirty="0"/>
          </a:p>
        </p:txBody>
      </p:sp>
      <p:sp>
        <p:nvSpPr>
          <p:cNvPr id="25" name="Shape 23"/>
          <p:cNvSpPr/>
          <p:nvPr/>
        </p:nvSpPr>
        <p:spPr>
          <a:xfrm>
            <a:off x="685800" y="4462272"/>
            <a:ext cx="10817352" cy="1664208"/>
          </a:xfrm>
          <a:prstGeom prst="roundRect">
            <a:avLst>
              <a:gd name="adj" fmla="val 2198"/>
            </a:avLst>
          </a:prstGeom>
          <a:solidFill>
            <a:srgbClr val="EFEBE1"/>
          </a:solidFill>
          <a:ln/>
        </p:spPr>
      </p:sp>
      <p:sp>
        <p:nvSpPr>
          <p:cNvPr id="26" name="Text 24"/>
          <p:cNvSpPr txBox="1"/>
          <p:nvPr/>
        </p:nvSpPr>
        <p:spPr>
          <a:xfrm>
            <a:off x="1005840" y="4617720"/>
            <a:ext cx="4754880" cy="274320"/>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If a number comes in low</a:t>
            </a:r>
            <a:endParaRPr lang="en-US" sz="1700" dirty="0"/>
          </a:p>
        </p:txBody>
      </p:sp>
      <p:sp>
        <p:nvSpPr>
          <p:cNvPr id="27" name="Text 25"/>
          <p:cNvSpPr txBox="1"/>
          <p:nvPr/>
        </p:nvSpPr>
        <p:spPr>
          <a:xfrm>
            <a:off x="1005840" y="4983480"/>
            <a:ext cx="6949440" cy="768096"/>
          </a:xfrm>
          <a:prstGeom prst="rect">
            <a:avLst/>
          </a:prstGeom>
          <a:noFill/>
          <a:ln/>
        </p:spPr>
        <p:txBody>
          <a:bodyPr wrap="square" lIns="0" tIns="0" rIns="0" bIns="0" rtlCol="0" anchor="ctr"/>
          <a:lstStyle/>
          <a:p>
            <a:pPr marL="177800" indent="-177800">
              <a:lnSpc>
                <a:spcPts val="1281"/>
              </a:lnSpc>
              <a:spcAft>
                <a:spcPts val="500"/>
              </a:spcAft>
              <a:buSzPct val="100000"/>
              <a:buChar char="•"/>
            </a:pPr>
            <a:r>
              <a:rPr lang="en-US" sz="1050" dirty="0">
                <a:solidFill>
                  <a:srgbClr val="5D6471"/>
                </a:solidFill>
                <a:latin typeface="Arial" pitchFamily="34" charset="0"/>
                <a:ea typeface="Arial" pitchFamily="34" charset="-122"/>
                <a:cs typeface="Arial" pitchFamily="34" charset="-120"/>
              </a:rPr>
              <a:t>If the audit has not moved by week 3, the daily work is usually the cause, and we look at that first.</a:t>
            </a:r>
            <a:endParaRPr lang="en-US" sz="1050" dirty="0"/>
          </a:p>
          <a:p>
            <a:pPr marL="177800" indent="-177800">
              <a:lnSpc>
                <a:spcPts val="1281"/>
              </a:lnSpc>
              <a:spcAft>
                <a:spcPts val="500"/>
              </a:spcAft>
              <a:buSzPct val="100000"/>
              <a:buChar char="•"/>
            </a:pPr>
            <a:r>
              <a:rPr lang="en-US" sz="1050" dirty="0">
                <a:solidFill>
                  <a:srgbClr val="5D6471"/>
                </a:solidFill>
                <a:latin typeface="Arial" pitchFamily="34" charset="0"/>
                <a:ea typeface="Arial" pitchFamily="34" charset="-122"/>
                <a:cs typeface="Arial" pitchFamily="34" charset="-120"/>
              </a:rPr>
              <a:t>Below 35 out of 100 in week 5, week 6 drops the third paper and goes back to the two weakest topics.</a:t>
            </a:r>
            <a:endParaRPr lang="en-US" sz="1050" dirty="0"/>
          </a:p>
          <a:p>
            <a:pPr marL="177800" indent="-177800">
              <a:lnSpc>
                <a:spcPts val="1281"/>
              </a:lnSpc>
              <a:spcAft>
                <a:spcPts val="500"/>
              </a:spcAft>
              <a:buSzPct val="100000"/>
              <a:buChar char="•"/>
            </a:pPr>
            <a:r>
              <a:rPr lang="en-US" sz="1050" dirty="0">
                <a:solidFill>
                  <a:srgbClr val="5D6471"/>
                </a:solidFill>
                <a:latin typeface="Arial" pitchFamily="34" charset="0"/>
                <a:ea typeface="Arial" pitchFamily="34" charset="-122"/>
                <a:cs typeface="Arial" pitchFamily="34" charset="-120"/>
              </a:rPr>
              <a:t>Above 50 out of 100 in week 5, we add the single-step grade 6 topics.</a:t>
            </a:r>
            <a:endParaRPr lang="en-US" sz="1050" dirty="0"/>
          </a:p>
        </p:txBody>
      </p:sp>
      <p:sp>
        <p:nvSpPr>
          <p:cNvPr id="28" name="Shape 26"/>
          <p:cNvSpPr/>
          <p:nvPr/>
        </p:nvSpPr>
        <p:spPr>
          <a:xfrm>
            <a:off x="8275320" y="4617720"/>
            <a:ext cx="0" cy="1325880"/>
          </a:xfrm>
          <a:prstGeom prst="line">
            <a:avLst/>
          </a:prstGeom>
          <a:noFill/>
          <a:ln w="9525">
            <a:solidFill>
              <a:srgbClr val="D8D3C6"/>
            </a:solidFill>
            <a:prstDash val="solid"/>
          </a:ln>
        </p:spPr>
      </p:sp>
      <p:sp>
        <p:nvSpPr>
          <p:cNvPr id="29" name="Text 27"/>
          <p:cNvSpPr txBox="1"/>
          <p:nvPr/>
        </p:nvSpPr>
        <p:spPr>
          <a:xfrm>
            <a:off x="8595360" y="4617720"/>
            <a:ext cx="2743200" cy="219456"/>
          </a:xfrm>
          <a:prstGeom prst="rect">
            <a:avLst/>
          </a:prstGeom>
          <a:noFill/>
          <a:ln/>
        </p:spPr>
        <p:txBody>
          <a:bodyPr wrap="square" lIns="0" tIns="0" rIns="0" bIns="0" rtlCol="0" anchor="ctr"/>
          <a:lstStyle/>
          <a:p>
            <a:pPr indent="0" marL="0">
              <a:buNone/>
            </a:pPr>
            <a:r>
              <a:rPr lang="en-US" sz="900" b="1" spc="140" kern="0" dirty="0">
                <a:solidFill>
                  <a:srgbClr val="C3A965"/>
                </a:solidFill>
                <a:latin typeface="Arial" pitchFamily="34" charset="0"/>
                <a:ea typeface="Arial" pitchFamily="34" charset="-122"/>
                <a:cs typeface="Arial" pitchFamily="34" charset="-120"/>
              </a:rPr>
              <a:t>AFTER EACH SESSION</a:t>
            </a:r>
            <a:endParaRPr lang="en-US" sz="900" dirty="0"/>
          </a:p>
        </p:txBody>
      </p:sp>
      <p:sp>
        <p:nvSpPr>
          <p:cNvPr id="30" name="Text 28"/>
          <p:cNvSpPr txBox="1"/>
          <p:nvPr/>
        </p:nvSpPr>
        <p:spPr>
          <a:xfrm>
            <a:off x="8595360" y="4882896"/>
            <a:ext cx="2834640" cy="1005840"/>
          </a:xfrm>
          <a:prstGeom prst="rect">
            <a:avLst/>
          </a:prstGeom>
          <a:noFill/>
          <a:ln/>
        </p:spPr>
        <p:txBody>
          <a:bodyPr wrap="square" lIns="0" tIns="0" rIns="0" bIns="0" rtlCol="0" anchor="t"/>
          <a:lstStyle/>
          <a:p>
            <a:pPr indent="0" marL="0">
              <a:lnSpc>
                <a:spcPts val="1500"/>
              </a:lnSpc>
              <a:buNone/>
            </a:pPr>
            <a:r>
              <a:rPr lang="en-US" sz="1100" dirty="0">
                <a:solidFill>
                  <a:srgbClr val="5D6471"/>
                </a:solidFill>
                <a:latin typeface="Arial" pitchFamily="34" charset="0"/>
                <a:ea typeface="Arial" pitchFamily="34" charset="-122"/>
                <a:cs typeface="Arial" pitchFamily="34" charset="-120"/>
              </a:rPr>
              <a:t>A short note from me: what we covered, Charlotte's recall score out of six, and whether the daily work came back.</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CONTINGENCIES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What could get in the way, and what we do</a:t>
            </a:r>
            <a:endParaRPr lang="en-US" sz="3300" dirty="0"/>
          </a:p>
        </p:txBody>
      </p:sp>
      <p:sp>
        <p:nvSpPr>
          <p:cNvPr id="4" name="Shape 2"/>
          <p:cNvSpPr/>
          <p:nvPr/>
        </p:nvSpPr>
        <p:spPr>
          <a:xfrm>
            <a:off x="685800" y="1627632"/>
            <a:ext cx="5212080" cy="1874520"/>
          </a:xfrm>
          <a:prstGeom prst="roundRect">
            <a:avLst>
              <a:gd name="adj" fmla="val 1951"/>
            </a:avLst>
          </a:prstGeom>
          <a:solidFill>
            <a:srgbClr val="FFFFFF"/>
          </a:solidFill>
          <a:ln w="9525">
            <a:solidFill>
              <a:srgbClr val="E3DFD5"/>
            </a:solidFill>
            <a:prstDash val="solid"/>
          </a:ln>
        </p:spPr>
      </p:sp>
      <p:sp>
        <p:nvSpPr>
          <p:cNvPr id="5" name="Shape 3"/>
          <p:cNvSpPr/>
          <p:nvPr/>
        </p:nvSpPr>
        <p:spPr>
          <a:xfrm>
            <a:off x="1005840" y="1865376"/>
            <a:ext cx="384048" cy="384048"/>
          </a:xfrm>
          <a:prstGeom prst="ellipse">
            <a:avLst/>
          </a:prstGeom>
          <a:solidFill>
            <a:srgbClr val="162947"/>
          </a:solidFill>
          <a:ln/>
        </p:spPr>
      </p:sp>
      <p:sp>
        <p:nvSpPr>
          <p:cNvPr id="6" name="Text 4"/>
          <p:cNvSpPr txBox="1"/>
          <p:nvPr/>
        </p:nvSpPr>
        <p:spPr>
          <a:xfrm>
            <a:off x="1005840" y="18653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527048" y="18836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Entry not yet confirmed</a:t>
            </a:r>
            <a:endParaRPr lang="en-US" sz="1700" dirty="0"/>
          </a:p>
        </p:txBody>
      </p:sp>
      <p:sp>
        <p:nvSpPr>
          <p:cNvPr id="8" name="Text 6"/>
          <p:cNvSpPr txBox="1"/>
          <p:nvPr/>
        </p:nvSpPr>
        <p:spPr>
          <a:xfrm>
            <a:off x="1005840" y="23591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The standard entry deadline for the November series was 12 September, so this needs checking with the school now. Late fees have applied since 13 September and rise again from 10 October.</a:t>
            </a:r>
            <a:endParaRPr lang="en-US" sz="1100" dirty="0"/>
          </a:p>
        </p:txBody>
      </p:sp>
      <p:sp>
        <p:nvSpPr>
          <p:cNvPr id="9" name="Shape 7"/>
          <p:cNvSpPr/>
          <p:nvPr/>
        </p:nvSpPr>
        <p:spPr>
          <a:xfrm>
            <a:off x="6291072" y="1627632"/>
            <a:ext cx="5212080" cy="1874520"/>
          </a:xfrm>
          <a:prstGeom prst="roundRect">
            <a:avLst>
              <a:gd name="adj" fmla="val 1951"/>
            </a:avLst>
          </a:prstGeom>
          <a:solidFill>
            <a:srgbClr val="EFEBE1"/>
          </a:solidFill>
          <a:ln w="9525">
            <a:solidFill>
              <a:srgbClr val="E3DFD5"/>
            </a:solidFill>
            <a:prstDash val="solid"/>
          </a:ln>
        </p:spPr>
      </p:sp>
      <p:sp>
        <p:nvSpPr>
          <p:cNvPr id="10" name="Shape 8"/>
          <p:cNvSpPr/>
          <p:nvPr/>
        </p:nvSpPr>
        <p:spPr>
          <a:xfrm>
            <a:off x="6611112" y="1865376"/>
            <a:ext cx="384048" cy="384048"/>
          </a:xfrm>
          <a:prstGeom prst="ellipse">
            <a:avLst/>
          </a:prstGeom>
          <a:solidFill>
            <a:srgbClr val="162947"/>
          </a:solidFill>
          <a:ln/>
        </p:spPr>
      </p:sp>
      <p:sp>
        <p:nvSpPr>
          <p:cNvPr id="11" name="Text 9"/>
          <p:cNvSpPr txBox="1"/>
          <p:nvPr/>
        </p:nvSpPr>
        <p:spPr>
          <a:xfrm>
            <a:off x="6611112" y="18653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7132320" y="18836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A week is lost to illness</a:t>
            </a:r>
            <a:endParaRPr lang="en-US" sz="1700" dirty="0"/>
          </a:p>
        </p:txBody>
      </p:sp>
      <p:sp>
        <p:nvSpPr>
          <p:cNvPr id="13" name="Text 11"/>
          <p:cNvSpPr txBox="1"/>
          <p:nvPr/>
        </p:nvSpPr>
        <p:spPr>
          <a:xfrm>
            <a:off x="6611112" y="23591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Week 6 carries the slack. The third full paper comes out first, then the pacing session. The teaching weeks stay as they are.</a:t>
            </a:r>
            <a:endParaRPr lang="en-US" sz="1100" dirty="0"/>
          </a:p>
        </p:txBody>
      </p:sp>
      <p:sp>
        <p:nvSpPr>
          <p:cNvPr id="14" name="Shape 12"/>
          <p:cNvSpPr/>
          <p:nvPr/>
        </p:nvSpPr>
        <p:spPr>
          <a:xfrm>
            <a:off x="685800" y="3685032"/>
            <a:ext cx="5212080" cy="1874520"/>
          </a:xfrm>
          <a:prstGeom prst="roundRect">
            <a:avLst>
              <a:gd name="adj" fmla="val 1951"/>
            </a:avLst>
          </a:prstGeom>
          <a:solidFill>
            <a:srgbClr val="FFFFFF"/>
          </a:solidFill>
          <a:ln w="9525">
            <a:solidFill>
              <a:srgbClr val="E3DFD5"/>
            </a:solidFill>
            <a:prstDash val="solid"/>
          </a:ln>
        </p:spPr>
      </p:sp>
      <p:sp>
        <p:nvSpPr>
          <p:cNvPr id="15" name="Shape 13"/>
          <p:cNvSpPr/>
          <p:nvPr/>
        </p:nvSpPr>
        <p:spPr>
          <a:xfrm>
            <a:off x="1005840" y="3922776"/>
            <a:ext cx="384048" cy="384048"/>
          </a:xfrm>
          <a:prstGeom prst="ellipse">
            <a:avLst/>
          </a:prstGeom>
          <a:solidFill>
            <a:srgbClr val="162947"/>
          </a:solidFill>
          <a:ln/>
        </p:spPr>
      </p:sp>
      <p:sp>
        <p:nvSpPr>
          <p:cNvPr id="16" name="Text 14"/>
          <p:cNvSpPr txBox="1"/>
          <p:nvPr/>
        </p:nvSpPr>
        <p:spPr>
          <a:xfrm>
            <a:off x="1005840" y="39227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1527048" y="39410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The daily work does not fit</a:t>
            </a:r>
            <a:endParaRPr lang="en-US" sz="1700" dirty="0"/>
          </a:p>
        </p:txBody>
      </p:sp>
      <p:sp>
        <p:nvSpPr>
          <p:cNvPr id="18" name="Text 16"/>
          <p:cNvSpPr txBox="1"/>
          <p:nvPr/>
        </p:nvSpPr>
        <p:spPr>
          <a:xfrm>
            <a:off x="1005840" y="44165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We look at this at the end of week 2. If it is not working, week 5 shape content reduces to three topics and that time goes to number and algebra.</a:t>
            </a:r>
            <a:endParaRPr lang="en-US" sz="1100" dirty="0"/>
          </a:p>
        </p:txBody>
      </p:sp>
      <p:sp>
        <p:nvSpPr>
          <p:cNvPr id="19" name="Shape 17"/>
          <p:cNvSpPr/>
          <p:nvPr/>
        </p:nvSpPr>
        <p:spPr>
          <a:xfrm>
            <a:off x="6291072" y="3685032"/>
            <a:ext cx="5212080" cy="1874520"/>
          </a:xfrm>
          <a:prstGeom prst="roundRect">
            <a:avLst>
              <a:gd name="adj" fmla="val 1951"/>
            </a:avLst>
          </a:prstGeom>
          <a:solidFill>
            <a:srgbClr val="EFEBE1"/>
          </a:solidFill>
          <a:ln w="9525">
            <a:solidFill>
              <a:srgbClr val="E3DFD5"/>
            </a:solidFill>
            <a:prstDash val="solid"/>
          </a:ln>
        </p:spPr>
      </p:sp>
      <p:sp>
        <p:nvSpPr>
          <p:cNvPr id="20" name="Shape 18"/>
          <p:cNvSpPr/>
          <p:nvPr/>
        </p:nvSpPr>
        <p:spPr>
          <a:xfrm>
            <a:off x="6611112" y="3922776"/>
            <a:ext cx="384048" cy="384048"/>
          </a:xfrm>
          <a:prstGeom prst="ellipse">
            <a:avLst/>
          </a:prstGeom>
          <a:solidFill>
            <a:srgbClr val="162947"/>
          </a:solidFill>
          <a:ln/>
        </p:spPr>
      </p:sp>
      <p:sp>
        <p:nvSpPr>
          <p:cNvPr id="21" name="Text 19"/>
          <p:cNvSpPr txBox="1"/>
          <p:nvPr/>
        </p:nvSpPr>
        <p:spPr>
          <a:xfrm>
            <a:off x="6611112" y="39227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7132320" y="39410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The audit is worse than expected</a:t>
            </a:r>
            <a:endParaRPr lang="en-US" sz="1700" dirty="0"/>
          </a:p>
        </p:txBody>
      </p:sp>
      <p:sp>
        <p:nvSpPr>
          <p:cNvPr id="23" name="Text 21"/>
          <p:cNvSpPr txBox="1"/>
          <p:nvPr/>
        </p:nvSpPr>
        <p:spPr>
          <a:xfrm>
            <a:off x="6611112" y="44165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Weeks 2 and 3 stay as they are, and week 4 drops sequences and straight-line graphs. Number and algebra stay in.</a:t>
            </a:r>
            <a:endParaRPr lang="en-US" sz="1100" dirty="0"/>
          </a:p>
        </p:txBody>
      </p:sp>
      <p:sp>
        <p:nvSpPr>
          <p:cNvPr id="24" name="Text 22"/>
          <p:cNvSpPr txBox="1"/>
          <p:nvPr/>
        </p:nvSpPr>
        <p:spPr>
          <a:xfrm>
            <a:off x="685800" y="5852160"/>
            <a:ext cx="10817352" cy="274320"/>
          </a:xfrm>
          <a:prstGeom prst="rect">
            <a:avLst/>
          </a:prstGeom>
          <a:noFill/>
          <a:ln/>
        </p:spPr>
        <p:txBody>
          <a:bodyPr wrap="square" lIns="0" tIns="0" rIns="0" bIns="0" rtlCol="0" anchor="ctr"/>
          <a:lstStyle/>
          <a:p>
            <a:pPr indent="0" marL="0">
              <a:buNone/>
            </a:pPr>
            <a:r>
              <a:rPr lang="en-US" sz="1150" dirty="0">
                <a:solidFill>
                  <a:srgbClr val="5D6471"/>
                </a:solidFill>
                <a:latin typeface="Arial" pitchFamily="34" charset="0"/>
                <a:ea typeface="Arial" pitchFamily="34" charset="-122"/>
                <a:cs typeface="Arial" pitchFamily="34" charset="-120"/>
              </a:rPr>
              <a:t>Each of these has a response and a point at which we decide.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2947"/>
        </a:solidFill>
      </p:bgPr>
    </p:bg>
    <p:spTree>
      <p:nvGrpSpPr>
        <p:cNvPr id="1" name=""/>
        <p:cNvGrpSpPr/>
        <p:nvPr/>
      </p:nvGrpSpPr>
      <p:grpSpPr>
        <a:xfrm>
          <a:off x="0" y="0"/>
          <a:ext cx="0" cy="0"/>
          <a:chOff x="0" y="0"/>
          <a:chExt cx="0" cy="0"/>
        </a:xfrm>
      </p:grpSpPr>
      <p:sp>
        <p:nvSpPr>
          <p:cNvPr id="2" name="Shape 0"/>
          <p:cNvSpPr/>
          <p:nvPr/>
        </p:nvSpPr>
        <p:spPr>
          <a:xfrm>
            <a:off x="9692640" y="5120640"/>
            <a:ext cx="3108960" cy="3108960"/>
          </a:xfrm>
          <a:prstGeom prst="ellipse">
            <a:avLst/>
          </a:prstGeom>
          <a:solidFill>
            <a:srgbClr val="1C3255"/>
          </a:solidFill>
          <a:ln/>
        </p:spPr>
      </p:sp>
      <p:sp>
        <p:nvSpPr>
          <p:cNvPr id="3" name="Text 1"/>
          <p:cNvSpPr txBox="1"/>
          <p:nvPr/>
        </p:nvSpPr>
        <p:spPr>
          <a:xfrm>
            <a:off x="685800" y="868680"/>
            <a:ext cx="5486400" cy="274320"/>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PLAN</a:t>
            </a:r>
            <a:endParaRPr lang="en-US" sz="1050" dirty="0"/>
          </a:p>
        </p:txBody>
      </p:sp>
      <p:sp>
        <p:nvSpPr>
          <p:cNvPr id="4" name="Text 2"/>
          <p:cNvSpPr txBox="1"/>
          <p:nvPr/>
        </p:nvSpPr>
        <p:spPr>
          <a:xfrm>
            <a:off x="685800" y="1325880"/>
            <a:ext cx="10241280" cy="2011680"/>
          </a:xfrm>
          <a:prstGeom prst="rect">
            <a:avLst/>
          </a:prstGeom>
          <a:noFill/>
          <a:ln/>
        </p:spPr>
        <p:txBody>
          <a:bodyPr wrap="square" lIns="0" tIns="0" rIns="0" bIns="0" rtlCol="0" anchor="t"/>
          <a:lstStyle/>
          <a:p>
            <a:pPr indent="0" marL="0">
              <a:lnSpc>
                <a:spcPts val="4400"/>
              </a:lnSpc>
              <a:buNone/>
            </a:pPr>
            <a:r>
              <a:rPr lang="en-US" sz="2800" dirty="0">
                <a:solidFill>
                  <a:srgbClr val="F6F4EF"/>
                </a:solidFill>
                <a:latin typeface="Cambria" pitchFamily="34" charset="0"/>
                <a:ea typeface="Cambria" pitchFamily="34" charset="-122"/>
                <a:cs typeface="Cambria" pitchFamily="34" charset="-120"/>
              </a:rPr>
              <a:t>Rebuild number and algebra first.</a:t>
            </a:r>
            <a:endParaRPr lang="en-US" sz="2800" dirty="0"/>
          </a:p>
          <a:p>
            <a:pPr indent="0" marL="0">
              <a:lnSpc>
                <a:spcPts val="4400"/>
              </a:lnSpc>
              <a:buNone/>
            </a:pPr>
            <a:r>
              <a:rPr lang="en-US" sz="2800" dirty="0">
                <a:solidFill>
                  <a:srgbClr val="F6F4EF"/>
                </a:solidFill>
                <a:latin typeface="Cambria" pitchFamily="34" charset="0"/>
                <a:ea typeface="Cambria" pitchFamily="34" charset="-122"/>
                <a:cs typeface="Cambria" pitchFamily="34" charset="-120"/>
              </a:rPr>
              <a:t>Cover about 105 marks of content and work towards 80.</a:t>
            </a:r>
            <a:endParaRPr lang="en-US" sz="2800" dirty="0"/>
          </a:p>
          <a:p>
            <a:pPr indent="0" marL="0">
              <a:lnSpc>
                <a:spcPts val="4400"/>
              </a:lnSpc>
              <a:buNone/>
            </a:pPr>
            <a:r>
              <a:rPr lang="en-US" sz="2800" dirty="0">
                <a:solidFill>
                  <a:srgbClr val="F6F4EF"/>
                </a:solidFill>
                <a:latin typeface="Cambria" pitchFamily="34" charset="0"/>
                <a:ea typeface="Cambria" pitchFamily="34" charset="-122"/>
                <a:cs typeface="Cambria" pitchFamily="34" charset="-120"/>
              </a:rPr>
              <a:t>Leave the rest out.</a:t>
            </a:r>
            <a:endParaRPr lang="en-US" sz="2800" dirty="0"/>
          </a:p>
        </p:txBody>
      </p:sp>
      <p:sp>
        <p:nvSpPr>
          <p:cNvPr id="5" name="Shape 3"/>
          <p:cNvSpPr/>
          <p:nvPr/>
        </p:nvSpPr>
        <p:spPr>
          <a:xfrm>
            <a:off x="685800" y="3611880"/>
            <a:ext cx="5669280" cy="0"/>
          </a:xfrm>
          <a:prstGeom prst="line">
            <a:avLst/>
          </a:prstGeom>
          <a:noFill/>
          <a:ln w="9525">
            <a:solidFill>
              <a:srgbClr val="3A4E70"/>
            </a:solidFill>
            <a:prstDash val="solid"/>
          </a:ln>
        </p:spPr>
      </p:sp>
      <p:sp>
        <p:nvSpPr>
          <p:cNvPr id="6" name="Text 4"/>
          <p:cNvSpPr txBox="1"/>
          <p:nvPr/>
        </p:nvSpPr>
        <p:spPr>
          <a:xfrm>
            <a:off x="685800" y="3858768"/>
            <a:ext cx="3657600" cy="274320"/>
          </a:xfrm>
          <a:prstGeom prst="rect">
            <a:avLst/>
          </a:prstGeom>
          <a:noFill/>
          <a:ln/>
        </p:spPr>
        <p:txBody>
          <a:bodyPr wrap="square" lIns="0" tIns="0" rIns="0" bIns="0" rtlCol="0" anchor="ctr"/>
          <a:lstStyle/>
          <a:p>
            <a:pPr indent="0" marL="0">
              <a:buNone/>
            </a:pPr>
            <a:r>
              <a:rPr lang="en-US" sz="1050" b="1" spc="220" kern="0" dirty="0">
                <a:solidFill>
                  <a:srgbClr val="C3A965"/>
                </a:solidFill>
                <a:latin typeface="Arial" pitchFamily="34" charset="0"/>
                <a:ea typeface="Arial" pitchFamily="34" charset="-122"/>
                <a:cs typeface="Arial" pitchFamily="34" charset="-120"/>
              </a:rPr>
              <a:t>THIS WEEK</a:t>
            </a:r>
            <a:endParaRPr lang="en-US" sz="1050" dirty="0"/>
          </a:p>
        </p:txBody>
      </p:sp>
      <p:sp>
        <p:nvSpPr>
          <p:cNvPr id="7" name="Shape 5"/>
          <p:cNvSpPr/>
          <p:nvPr/>
        </p:nvSpPr>
        <p:spPr>
          <a:xfrm>
            <a:off x="685800" y="4224528"/>
            <a:ext cx="347472" cy="347472"/>
          </a:xfrm>
          <a:prstGeom prst="ellipse">
            <a:avLst/>
          </a:prstGeom>
          <a:solidFill>
            <a:srgbClr val="22355A"/>
          </a:solidFill>
          <a:ln/>
        </p:spPr>
      </p:sp>
      <p:sp>
        <p:nvSpPr>
          <p:cNvPr id="8" name="Text 6"/>
          <p:cNvSpPr txBox="1"/>
          <p:nvPr/>
        </p:nvSpPr>
        <p:spPr>
          <a:xfrm>
            <a:off x="685800" y="4224528"/>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9" name="Text 7"/>
          <p:cNvSpPr txBox="1"/>
          <p:nvPr/>
        </p:nvSpPr>
        <p:spPr>
          <a:xfrm>
            <a:off x="1188720" y="4261104"/>
            <a:ext cx="7772400" cy="274320"/>
          </a:xfrm>
          <a:prstGeom prst="rect">
            <a:avLst/>
          </a:prstGeom>
          <a:noFill/>
          <a:ln/>
        </p:spPr>
        <p:txBody>
          <a:bodyPr wrap="square" lIns="0" tIns="0" rIns="0" bIns="0" rtlCol="0" anchor="ctr"/>
          <a:lstStyle/>
          <a:p>
            <a:pPr indent="0" marL="0">
              <a:buNone/>
            </a:pPr>
            <a:r>
              <a:rPr lang="en-US" sz="1300" dirty="0">
                <a:solidFill>
                  <a:srgbClr val="E8E4DA"/>
                </a:solidFill>
                <a:latin typeface="Arial" pitchFamily="34" charset="0"/>
                <a:ea typeface="Arial" pitchFamily="34" charset="-122"/>
                <a:cs typeface="Arial" pitchFamily="34" charset="-120"/>
              </a:rPr>
              <a:t>Check with the school that Charlotte is entered, and for which tier</a:t>
            </a:r>
            <a:endParaRPr lang="en-US" sz="1300" dirty="0"/>
          </a:p>
        </p:txBody>
      </p:sp>
      <p:sp>
        <p:nvSpPr>
          <p:cNvPr id="10" name="Shape 8"/>
          <p:cNvSpPr/>
          <p:nvPr/>
        </p:nvSpPr>
        <p:spPr>
          <a:xfrm>
            <a:off x="685800" y="4736592"/>
            <a:ext cx="347472" cy="347472"/>
          </a:xfrm>
          <a:prstGeom prst="ellipse">
            <a:avLst/>
          </a:prstGeom>
          <a:solidFill>
            <a:srgbClr val="22355A"/>
          </a:solidFill>
          <a:ln/>
        </p:spPr>
      </p:sp>
      <p:sp>
        <p:nvSpPr>
          <p:cNvPr id="11" name="Text 9"/>
          <p:cNvSpPr txBox="1"/>
          <p:nvPr/>
        </p:nvSpPr>
        <p:spPr>
          <a:xfrm>
            <a:off x="685800" y="473659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188720" y="4773168"/>
            <a:ext cx="7772400" cy="274320"/>
          </a:xfrm>
          <a:prstGeom prst="rect">
            <a:avLst/>
          </a:prstGeom>
          <a:noFill/>
          <a:ln/>
        </p:spPr>
        <p:txBody>
          <a:bodyPr wrap="square" lIns="0" tIns="0" rIns="0" bIns="0" rtlCol="0" anchor="ctr"/>
          <a:lstStyle/>
          <a:p>
            <a:pPr indent="0" marL="0">
              <a:buNone/>
            </a:pPr>
            <a:r>
              <a:rPr lang="en-US" sz="1300" dirty="0">
                <a:solidFill>
                  <a:srgbClr val="E8E4DA"/>
                </a:solidFill>
                <a:latin typeface="Arial" pitchFamily="34" charset="0"/>
                <a:ea typeface="Arial" pitchFamily="34" charset="-122"/>
                <a:cs typeface="Arial" pitchFamily="34" charset="-120"/>
              </a:rPr>
              <a:t>Fluency audit and calculator setup in the next session</a:t>
            </a:r>
            <a:endParaRPr lang="en-US" sz="1300" dirty="0"/>
          </a:p>
        </p:txBody>
      </p:sp>
      <p:sp>
        <p:nvSpPr>
          <p:cNvPr id="13" name="Shape 11"/>
          <p:cNvSpPr/>
          <p:nvPr/>
        </p:nvSpPr>
        <p:spPr>
          <a:xfrm>
            <a:off x="685800" y="5248656"/>
            <a:ext cx="347472" cy="347472"/>
          </a:xfrm>
          <a:prstGeom prst="ellipse">
            <a:avLst/>
          </a:prstGeom>
          <a:solidFill>
            <a:srgbClr val="22355A"/>
          </a:solidFill>
          <a:ln/>
        </p:spPr>
      </p:sp>
      <p:sp>
        <p:nvSpPr>
          <p:cNvPr id="14" name="Text 12"/>
          <p:cNvSpPr txBox="1"/>
          <p:nvPr/>
        </p:nvSpPr>
        <p:spPr>
          <a:xfrm>
            <a:off x="685800" y="5248656"/>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15" name="Text 13"/>
          <p:cNvSpPr txBox="1"/>
          <p:nvPr/>
        </p:nvSpPr>
        <p:spPr>
          <a:xfrm>
            <a:off x="1188720" y="5285232"/>
            <a:ext cx="7772400" cy="274320"/>
          </a:xfrm>
          <a:prstGeom prst="rect">
            <a:avLst/>
          </a:prstGeom>
          <a:noFill/>
          <a:ln/>
        </p:spPr>
        <p:txBody>
          <a:bodyPr wrap="square" lIns="0" tIns="0" rIns="0" bIns="0" rtlCol="0" anchor="ctr"/>
          <a:lstStyle/>
          <a:p>
            <a:pPr indent="0" marL="0">
              <a:buNone/>
            </a:pPr>
            <a:r>
              <a:rPr lang="en-US" sz="1300" dirty="0">
                <a:solidFill>
                  <a:srgbClr val="E8E4DA"/>
                </a:solidFill>
                <a:latin typeface="Arial" pitchFamily="34" charset="0"/>
                <a:ea typeface="Arial" pitchFamily="34" charset="-122"/>
                <a:cs typeface="Arial" pitchFamily="34" charset="-120"/>
              </a:rPr>
              <a:t>Baseline paper at home, and the error log set up</a:t>
            </a:r>
            <a:endParaRPr lang="en-US" sz="1300" dirty="0"/>
          </a:p>
        </p:txBody>
      </p:sp>
      <p:sp>
        <p:nvSpPr>
          <p:cNvPr id="16" name="Text 14"/>
          <p:cNvSpPr txBox="1"/>
          <p:nvPr/>
        </p:nvSpPr>
        <p:spPr>
          <a:xfrm>
            <a:off x="685800" y="5760720"/>
            <a:ext cx="7772400" cy="274320"/>
          </a:xfrm>
          <a:prstGeom prst="rect">
            <a:avLst/>
          </a:prstGeom>
          <a:noFill/>
          <a:ln/>
        </p:spPr>
        <p:txBody>
          <a:bodyPr wrap="square" lIns="0" tIns="0" rIns="0" bIns="0" rtlCol="0" anchor="ctr"/>
          <a:lstStyle/>
          <a:p>
            <a:pPr indent="0" marL="0">
              <a:buNone/>
            </a:pPr>
            <a:r>
              <a:rPr lang="en-US" sz="1150" dirty="0">
                <a:solidFill>
                  <a:srgbClr val="A8B2C2"/>
                </a:solidFill>
                <a:latin typeface="Arial" pitchFamily="34" charset="0"/>
                <a:ea typeface="Arial" pitchFamily="34" charset="-122"/>
                <a:cs typeface="Arial" pitchFamily="34" charset="-120"/>
              </a:rPr>
              <a:t>If anything here does not look right, please say and we will change it.</a:t>
            </a:r>
            <a:endParaRPr lang="en-US" sz="1150" dirty="0"/>
          </a:p>
        </p:txBody>
      </p:sp>
      <p:sp>
        <p:nvSpPr>
          <p:cNvPr id="17" name="Text 15"/>
          <p:cNvSpPr txBox="1"/>
          <p:nvPr/>
        </p:nvSpPr>
        <p:spPr>
          <a:xfrm>
            <a:off x="685800" y="6263640"/>
            <a:ext cx="3657600" cy="274320"/>
          </a:xfrm>
          <a:prstGeom prst="rect">
            <a:avLst/>
          </a:prstGeom>
          <a:noFill/>
          <a:ln/>
        </p:spPr>
        <p:txBody>
          <a:bodyPr wrap="square" lIns="0" tIns="0" rIns="0" bIns="0" rtlCol="0" anchor="ctr"/>
          <a:lstStyle/>
          <a:p>
            <a:pPr indent="0" marL="0">
              <a:buNone/>
            </a:pPr>
            <a:r>
              <a:rPr lang="en-US" sz="1400" dirty="0">
                <a:solidFill>
                  <a:srgbClr val="A8B2C2"/>
                </a:solidFill>
                <a:latin typeface="Cambria" pitchFamily="34" charset="0"/>
                <a:ea typeface="Cambria" pitchFamily="34" charset="-122"/>
                <a:cs typeface="Cambria" pitchFamily="34" charset="-120"/>
              </a:rPr>
              <a:t>Ali Tutors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November Maths Plan</dc:title>
  <dc:subject>PptxGenJS Presentation</dc:subject>
  <dc:creator>Ali Tutors</dc:creator>
  <cp:lastModifiedBy>Ali Tutors</cp:lastModifiedBy>
  <cp:revision>1</cp:revision>
  <dcterms:created xsi:type="dcterms:W3CDTF">2026-09-21T12:39:12Z</dcterms:created>
  <dcterms:modified xsi:type="dcterms:W3CDTF">2026-09-21T12:39:12Z</dcterms:modified>
</cp:coreProperties>
</file>