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Marks of 200</c:v>
                </c:pt>
              </c:strCache>
            </c:strRef>
          </c:tx>
          <c:spPr>
            <a:solidFill>
              <a:srgbClr val="9AA6B8"/>
            </a:solidFill>
            <a:effectLst/>
          </c:spPr>
          <c:invertIfNegative val="0"/>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dPt>
            <c:idx val="0"/>
            <c:invertIfNegative val="0"/>
            <c:bubble3D val="0"/>
            <c:spPr>
              <a:solidFill>
                <a:srgbClr val="9AA6B8"/>
              </a:solidFill>
              <a:effectLst/>
            </c:spPr>
          </c:dPt>
          <c:dPt>
            <c:idx val="1"/>
            <c:invertIfNegative val="0"/>
            <c:bubble3D val="0"/>
            <c:spPr>
              <a:solidFill>
                <a:srgbClr val="C3A965"/>
              </a:solidFill>
              <a:effectLst/>
            </c:spPr>
          </c:dPt>
          <c:dPt>
            <c:idx val="2"/>
            <c:invertIfNegative val="0"/>
            <c:bubble3D val="0"/>
            <c:spPr>
              <a:solidFill>
                <a:srgbClr val="162947"/>
              </a:solidFill>
              <a:effectLst/>
            </c:spPr>
          </c:dPt>
          <c:cat>
            <c:multiLvlStrRef>
              <c:f>Sheet1!$A$2:$A$4</c:f>
              <c:multiLvlStrCache>
                <c:ptCount val="3"/>
                <c:lvl>
                  <c:pt idx="0">
                    <c:v>Handling data</c:v>
                  </c:pt>
                  <c:pt idx="1">
                    <c:v>Shape, space and measure</c:v>
                  </c:pt>
                  <c:pt idx="2">
                    <c:v>Number and algebra</c:v>
                  </c:pt>
                </c:lvl>
              </c:multiLvlStrCache>
            </c:multiLvlStrRef>
          </c:cat>
          <c:val>
            <c:numRef>
              <c:f>Sheet1!$B$2:$B$4</c:f>
              <c:numCache>
                <c:formatCode>General</c:formatCode>
                <c:ptCount val="3"/>
                <c:pt idx="0">
                  <c:v>30</c:v>
                </c:pt>
                <c:pt idx="1">
                  <c:v>50</c:v>
                </c:pt>
                <c:pt idx="2">
                  <c:v>120</c:v>
                </c:pt>
              </c:numCache>
            </c:numRef>
          </c:val>
        </c:ser>
        <c:dLbls>
          <c:numFmt formatCode="#,##0" sourceLinked="0"/>
          <c:txPr>
            <a:bodyPr/>
            <a:lstStyle/>
            <a:p>
              <a:pPr>
                <a:defRPr b="1" i="0" strike="noStrike" sz="1200" u="none">
                  <a:solidFill>
                    <a:srgbClr val="16294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62947"/>
                </a:solidFill>
                <a:latin typeface="Arial"/>
              </a:defRPr>
            </a:pPr>
            <a:endParaRPr lang="en-US"/>
          </a:p>
        </c:txPr>
        <c:crossAx val="2094734552"/>
        <c:crosses val="autoZero"/>
        <c:auto val="1"/>
        <c:lblAlgn val="ctr"/>
        <c:noMultiLvlLbl val="1"/>
      </c:catAx>
      <c:valAx>
        <c:axId val="2094734552"/>
        <c:scaling>
          <c:orientation val="minMax"/>
          <c:max val="1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6F4EF"/>
        </a:solidFill>
        <a:ln>
          <a:noFill/>
        </a:ln>
        <a:effectLst/>
      </c:spPr>
    </c:plotArea>
    <c:plotVisOnly val="1"/>
    <c:dispBlanksAs val="span"/>
  </c:chart>
  <c:spPr>
    <a:solidFill>
      <a:srgbClr val="F6F4E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8732520" y="-1554480"/>
            <a:ext cx="4754880" cy="4754880"/>
          </a:xfrm>
          <a:prstGeom prst="ellipse">
            <a:avLst/>
          </a:prstGeom>
          <a:solidFill>
            <a:srgbClr val="1C3255"/>
          </a:solidFill>
          <a:ln/>
        </p:spPr>
      </p:sp>
      <p:sp>
        <p:nvSpPr>
          <p:cNvPr id="3" name="Shape 1"/>
          <p:cNvSpPr/>
          <p:nvPr/>
        </p:nvSpPr>
        <p:spPr>
          <a:xfrm>
            <a:off x="10378440" y="4709160"/>
            <a:ext cx="2834640" cy="2834640"/>
          </a:xfrm>
          <a:prstGeom prst="ellipse">
            <a:avLst/>
          </a:prstGeom>
          <a:solidFill>
            <a:srgbClr val="C3A965"/>
          </a:solidFill>
          <a:ln/>
        </p:spPr>
      </p:sp>
      <p:sp>
        <p:nvSpPr>
          <p:cNvPr id="4" name="Text 2"/>
          <p:cNvSpPr txBox="1"/>
          <p:nvPr/>
        </p:nvSpPr>
        <p:spPr>
          <a:xfrm>
            <a:off x="685800" y="777240"/>
            <a:ext cx="5486400" cy="274320"/>
          </a:xfrm>
          <a:prstGeom prst="rect">
            <a:avLst/>
          </a:prstGeom>
          <a:noFill/>
          <a:ln/>
        </p:spPr>
        <p:txBody>
          <a:bodyPr wrap="square" lIns="0" tIns="0" rIns="0" bIns="0" rtlCol="0" anchor="ctr"/>
          <a:lstStyle/>
          <a:p>
            <a:pPr indent="0" marL="0">
              <a:buNone/>
            </a:pPr>
            <a:r>
              <a:rPr lang="en-US" sz="1100" b="1" spc="300" kern="0" dirty="0">
                <a:solidFill>
                  <a:srgbClr val="C3A965"/>
                </a:solidFill>
                <a:latin typeface="Arial" pitchFamily="34" charset="0"/>
                <a:ea typeface="Arial" pitchFamily="34" charset="-122"/>
                <a:cs typeface="Arial" pitchFamily="34" charset="-120"/>
              </a:rPr>
              <a:t>ALI TUTORS</a:t>
            </a:r>
            <a:endParaRPr lang="en-US" sz="1100" dirty="0"/>
          </a:p>
        </p:txBody>
      </p:sp>
      <p:sp>
        <p:nvSpPr>
          <p:cNvPr id="5" name="Text 3"/>
          <p:cNvSpPr txBox="1"/>
          <p:nvPr/>
        </p:nvSpPr>
        <p:spPr>
          <a:xfrm>
            <a:off x="685800" y="1371600"/>
            <a:ext cx="7315200" cy="2011680"/>
          </a:xfrm>
          <a:prstGeom prst="rect">
            <a:avLst/>
          </a:prstGeom>
          <a:noFill/>
          <a:ln/>
        </p:spPr>
        <p:txBody>
          <a:bodyPr wrap="square" lIns="0" tIns="0" rIns="0" bIns="0" rtlCol="0" anchor="ctr"/>
          <a:lstStyle/>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November</a:t>
            </a:r>
            <a:endParaRPr lang="en-US" sz="5800" dirty="0"/>
          </a:p>
          <a:p>
            <a:pPr indent="0" marL="0">
              <a:lnSpc>
                <a:spcPts val="6200"/>
              </a:lnSpc>
              <a:buNone/>
            </a:pPr>
            <a:r>
              <a:rPr lang="en-US" sz="5800" dirty="0">
                <a:solidFill>
                  <a:srgbClr val="F6F4EF"/>
                </a:solidFill>
                <a:latin typeface="Cambria" pitchFamily="34" charset="0"/>
                <a:ea typeface="Cambria" pitchFamily="34" charset="-122"/>
                <a:cs typeface="Cambria" pitchFamily="34" charset="-120"/>
              </a:rPr>
              <a:t>Maths Plan</a:t>
            </a:r>
            <a:endParaRPr lang="en-US" sz="5800" dirty="0"/>
          </a:p>
        </p:txBody>
      </p:sp>
      <p:sp>
        <p:nvSpPr>
          <p:cNvPr id="6" name="Text 4"/>
          <p:cNvSpPr txBox="1"/>
          <p:nvPr/>
        </p:nvSpPr>
        <p:spPr>
          <a:xfrm>
            <a:off x="685800" y="3611880"/>
            <a:ext cx="7315200" cy="329184"/>
          </a:xfrm>
          <a:prstGeom prst="rect">
            <a:avLst/>
          </a:prstGeom>
          <a:noFill/>
          <a:ln/>
        </p:spPr>
        <p:txBody>
          <a:bodyPr wrap="square" lIns="0" tIns="0" rIns="0" bIns="0" rtlCol="0" anchor="ctr"/>
          <a:lstStyle/>
          <a:p>
            <a:pPr indent="0" marL="0">
              <a:buNone/>
            </a:pPr>
            <a:r>
              <a:rPr lang="en-US" sz="1500" dirty="0">
                <a:solidFill>
                  <a:srgbClr val="E8E4DA"/>
                </a:solidFill>
                <a:latin typeface="Arial" pitchFamily="34" charset="0"/>
                <a:ea typeface="Arial" pitchFamily="34" charset="-122"/>
                <a:cs typeface="Arial" pitchFamily="34" charset="-120"/>
              </a:rPr>
              <a:t>Edexcel IGCSE Mathematics A (4MA1)  ·  Higher Tier</a:t>
            </a:r>
            <a:endParaRPr lang="en-US" sz="1500" dirty="0"/>
          </a:p>
        </p:txBody>
      </p:sp>
      <p:sp>
        <p:nvSpPr>
          <p:cNvPr id="7" name="Shape 5"/>
          <p:cNvSpPr/>
          <p:nvPr/>
        </p:nvSpPr>
        <p:spPr>
          <a:xfrm>
            <a:off x="685800" y="4224528"/>
            <a:ext cx="2670048" cy="512064"/>
          </a:xfrm>
          <a:prstGeom prst="roundRect">
            <a:avLst>
              <a:gd name="adj" fmla="val 50000"/>
            </a:avLst>
          </a:prstGeom>
          <a:ln w="12700">
            <a:solidFill>
              <a:srgbClr val="C3A965"/>
            </a:solidFill>
            <a:prstDash val="solid"/>
          </a:ln>
        </p:spPr>
      </p:sp>
      <p:sp>
        <p:nvSpPr>
          <p:cNvPr id="8" name="Text 6"/>
          <p:cNvSpPr txBox="1"/>
          <p:nvPr/>
        </p:nvSpPr>
        <p:spPr>
          <a:xfrm>
            <a:off x="685800" y="4224528"/>
            <a:ext cx="2670048" cy="512064"/>
          </a:xfrm>
          <a:prstGeom prst="rect">
            <a:avLst/>
          </a:prstGeom>
          <a:noFill/>
          <a:ln/>
        </p:spPr>
        <p:txBody>
          <a:bodyPr wrap="square" lIns="0" tIns="0" rIns="0" bIns="0" rtlCol="0" anchor="ctr"/>
          <a:lstStyle/>
          <a:p>
            <a:pPr algn="ctr" indent="0" marL="0">
              <a:buNone/>
            </a:pPr>
            <a:r>
              <a:rPr lang="en-US" sz="1000" b="1" spc="160" kern="0" dirty="0">
                <a:solidFill>
                  <a:srgbClr val="C3A965"/>
                </a:solidFill>
                <a:latin typeface="Arial" pitchFamily="34" charset="0"/>
                <a:ea typeface="Arial" pitchFamily="34" charset="-122"/>
                <a:cs typeface="Arial" pitchFamily="34" charset="-120"/>
              </a:rPr>
              <a:t>SIX WEEKS TO PAPER 1</a:t>
            </a:r>
            <a:endParaRPr lang="en-US" sz="1000" dirty="0"/>
          </a:p>
        </p:txBody>
      </p:sp>
      <p:sp>
        <p:nvSpPr>
          <p:cNvPr id="9" name="Text 7"/>
          <p:cNvSpPr txBox="1"/>
          <p:nvPr/>
        </p:nvSpPr>
        <p:spPr>
          <a:xfrm>
            <a:off x="685800" y="5806440"/>
            <a:ext cx="6400800" cy="274320"/>
          </a:xfrm>
          <a:prstGeom prst="rect">
            <a:avLst/>
          </a:prstGeom>
          <a:noFill/>
          <a:ln/>
        </p:spPr>
        <p:txBody>
          <a:bodyPr wrap="square" lIns="0" tIns="0" rIns="0" bIns="0" rtlCol="0" anchor="ctr"/>
          <a:lstStyle/>
          <a:p>
            <a:pPr indent="0" marL="0">
              <a:buNone/>
            </a:pPr>
            <a:r>
              <a:rPr lang="en-US" sz="1100" dirty="0">
                <a:solidFill>
                  <a:srgbClr val="A8B2C2"/>
                </a:solidFill>
                <a:latin typeface="Arial" pitchFamily="34" charset="0"/>
                <a:ea typeface="Arial" pitchFamily="34" charset="-122"/>
                <a:cs typeface="Arial" pitchFamily="34" charset="-120"/>
              </a:rPr>
              <a:t>For Charlotte and her parents  ·  21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EXAMS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Two papers, two days apart</a:t>
            </a:r>
            <a:endParaRPr lang="en-US" sz="3300" dirty="0"/>
          </a:p>
        </p:txBody>
      </p:sp>
      <p:sp>
        <p:nvSpPr>
          <p:cNvPr id="4" name="Shape 2"/>
          <p:cNvSpPr/>
          <p:nvPr/>
        </p:nvSpPr>
        <p:spPr>
          <a:xfrm>
            <a:off x="685800" y="1691640"/>
            <a:ext cx="3246120" cy="2834640"/>
          </a:xfrm>
          <a:prstGeom prst="roundRect">
            <a:avLst>
              <a:gd name="adj" fmla="val 1290"/>
            </a:avLst>
          </a:prstGeom>
          <a:solidFill>
            <a:srgbClr val="162947"/>
          </a:solidFill>
          <a:ln/>
        </p:spPr>
      </p:sp>
      <p:sp>
        <p:nvSpPr>
          <p:cNvPr id="5" name="Text 3"/>
          <p:cNvSpPr txBox="1"/>
          <p:nvPr/>
        </p:nvSpPr>
        <p:spPr>
          <a:xfrm>
            <a:off x="685800" y="1874520"/>
            <a:ext cx="3246120" cy="1143000"/>
          </a:xfrm>
          <a:prstGeom prst="rect">
            <a:avLst/>
          </a:prstGeom>
          <a:noFill/>
          <a:ln/>
        </p:spPr>
        <p:txBody>
          <a:bodyPr wrap="square" lIns="0" tIns="0" rIns="0" bIns="0" rtlCol="0" anchor="ctr"/>
          <a:lstStyle/>
          <a:p>
            <a:pPr algn="ctr" indent="0" marL="0">
              <a:buNone/>
            </a:pPr>
            <a:r>
              <a:rPr lang="en-US" sz="7600" dirty="0">
                <a:solidFill>
                  <a:srgbClr val="C3A965"/>
                </a:solidFill>
                <a:latin typeface="Cambria" pitchFamily="34" charset="0"/>
                <a:ea typeface="Cambria" pitchFamily="34" charset="-122"/>
                <a:cs typeface="Cambria" pitchFamily="34" charset="-120"/>
              </a:rPr>
              <a:t>44</a:t>
            </a:r>
            <a:endParaRPr lang="en-US" sz="7600" dirty="0"/>
          </a:p>
        </p:txBody>
      </p:sp>
      <p:sp>
        <p:nvSpPr>
          <p:cNvPr id="6" name="Text 4"/>
          <p:cNvSpPr txBox="1"/>
          <p:nvPr/>
        </p:nvSpPr>
        <p:spPr>
          <a:xfrm>
            <a:off x="685800" y="3017520"/>
            <a:ext cx="3246120" cy="274320"/>
          </a:xfrm>
          <a:prstGeom prst="rect">
            <a:avLst/>
          </a:prstGeom>
          <a:noFill/>
          <a:ln/>
        </p:spPr>
        <p:txBody>
          <a:bodyPr wrap="square" lIns="0" tIns="0" rIns="0" bIns="0" rtlCol="0" anchor="ctr"/>
          <a:lstStyle/>
          <a:p>
            <a:pPr algn="ctr" indent="0" marL="0">
              <a:buNone/>
            </a:pPr>
            <a:r>
              <a:rPr lang="en-US" sz="1300" b="1" dirty="0">
                <a:solidFill>
                  <a:srgbClr val="F6F4EF"/>
                </a:solidFill>
                <a:latin typeface="Arial" pitchFamily="34" charset="0"/>
                <a:ea typeface="Arial" pitchFamily="34" charset="-122"/>
                <a:cs typeface="Arial" pitchFamily="34" charset="-120"/>
              </a:rPr>
              <a:t>days until Paper 1</a:t>
            </a:r>
            <a:endParaRPr lang="en-US" sz="1300" dirty="0"/>
          </a:p>
        </p:txBody>
      </p:sp>
      <p:sp>
        <p:nvSpPr>
          <p:cNvPr id="7" name="Text 5"/>
          <p:cNvSpPr txBox="1"/>
          <p:nvPr/>
        </p:nvSpPr>
        <p:spPr>
          <a:xfrm>
            <a:off x="685800" y="3401568"/>
            <a:ext cx="3246120" cy="640080"/>
          </a:xfrm>
          <a:prstGeom prst="rect">
            <a:avLst/>
          </a:prstGeom>
          <a:noFill/>
          <a:ln/>
        </p:spPr>
        <p:txBody>
          <a:bodyPr wrap="square" lIns="0" tIns="0" rIns="0" bIns="0" rtlCol="0" anchor="ctr"/>
          <a:lstStyle/>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Six teaching weeks</a:t>
            </a:r>
            <a:endParaRPr lang="en-US" sz="1100" dirty="0"/>
          </a:p>
          <a:p>
            <a:pPr algn="ctr" indent="0" marL="0">
              <a:lnSpc>
                <a:spcPts val="1600"/>
              </a:lnSpc>
              <a:buNone/>
            </a:pPr>
            <a:r>
              <a:rPr lang="en-US" sz="1100" dirty="0">
                <a:solidFill>
                  <a:srgbClr val="A8B2C2"/>
                </a:solidFill>
                <a:latin typeface="Arial" pitchFamily="34" charset="0"/>
                <a:ea typeface="Arial" pitchFamily="34" charset="-122"/>
                <a:cs typeface="Arial" pitchFamily="34" charset="-120"/>
              </a:rPr>
              <a:t>and two days</a:t>
            </a:r>
            <a:endParaRPr lang="en-US" sz="1100" dirty="0"/>
          </a:p>
        </p:txBody>
      </p:sp>
      <p:sp>
        <p:nvSpPr>
          <p:cNvPr id="8" name="Shape 6"/>
          <p:cNvSpPr/>
          <p:nvPr/>
        </p:nvSpPr>
        <p:spPr>
          <a:xfrm>
            <a:off x="4343400" y="1691640"/>
            <a:ext cx="7159752" cy="1298448"/>
          </a:xfrm>
          <a:prstGeom prst="roundRect">
            <a:avLst>
              <a:gd name="adj" fmla="val 2817"/>
            </a:avLst>
          </a:prstGeom>
          <a:solidFill>
            <a:srgbClr val="FFFFFF"/>
          </a:solidFill>
          <a:ln w="9525">
            <a:solidFill>
              <a:srgbClr val="E3DFD5"/>
            </a:solidFill>
            <a:prstDash val="solid"/>
          </a:ln>
        </p:spPr>
      </p:sp>
      <p:sp>
        <p:nvSpPr>
          <p:cNvPr id="9" name="Text 7"/>
          <p:cNvSpPr txBox="1"/>
          <p:nvPr/>
        </p:nvSpPr>
        <p:spPr>
          <a:xfrm>
            <a:off x="4663440" y="1911096"/>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Wed 4 Nov</a:t>
            </a:r>
            <a:endParaRPr lang="en-US" sz="2000" dirty="0"/>
          </a:p>
        </p:txBody>
      </p:sp>
      <p:sp>
        <p:nvSpPr>
          <p:cNvPr id="10" name="Text 8"/>
          <p:cNvSpPr txBox="1"/>
          <p:nvPr/>
        </p:nvSpPr>
        <p:spPr>
          <a:xfrm>
            <a:off x="6492240" y="1947672"/>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1H</a:t>
            </a:r>
            <a:endParaRPr lang="en-US" sz="1500" dirty="0"/>
          </a:p>
        </p:txBody>
      </p:sp>
      <p:sp>
        <p:nvSpPr>
          <p:cNvPr id="11" name="Text 9"/>
          <p:cNvSpPr txBox="1"/>
          <p:nvPr/>
        </p:nvSpPr>
        <p:spPr>
          <a:xfrm>
            <a:off x="4663440" y="2404872"/>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2" name="Shape 10"/>
          <p:cNvSpPr/>
          <p:nvPr/>
        </p:nvSpPr>
        <p:spPr>
          <a:xfrm>
            <a:off x="4343400" y="3172968"/>
            <a:ext cx="7159752" cy="1298448"/>
          </a:xfrm>
          <a:prstGeom prst="roundRect">
            <a:avLst>
              <a:gd name="adj" fmla="val 2817"/>
            </a:avLst>
          </a:prstGeom>
          <a:solidFill>
            <a:srgbClr val="FFFFFF"/>
          </a:solidFill>
          <a:ln w="9525">
            <a:solidFill>
              <a:srgbClr val="E3DFD5"/>
            </a:solidFill>
            <a:prstDash val="solid"/>
          </a:ln>
        </p:spPr>
      </p:sp>
      <p:sp>
        <p:nvSpPr>
          <p:cNvPr id="13" name="Text 11"/>
          <p:cNvSpPr txBox="1"/>
          <p:nvPr/>
        </p:nvSpPr>
        <p:spPr>
          <a:xfrm>
            <a:off x="4663440" y="3392424"/>
            <a:ext cx="1920240" cy="329184"/>
          </a:xfrm>
          <a:prstGeom prst="rect">
            <a:avLst/>
          </a:prstGeom>
          <a:noFill/>
          <a:ln/>
        </p:spPr>
        <p:txBody>
          <a:bodyPr wrap="square" lIns="0" tIns="0" rIns="0" bIns="0" rtlCol="0" anchor="ctr"/>
          <a:lstStyle/>
          <a:p>
            <a:pPr indent="0" marL="0">
              <a:buNone/>
            </a:pPr>
            <a:r>
              <a:rPr lang="en-US" sz="2000" dirty="0">
                <a:solidFill>
                  <a:srgbClr val="C3A965"/>
                </a:solidFill>
                <a:latin typeface="Cambria" pitchFamily="34" charset="0"/>
                <a:ea typeface="Cambria" pitchFamily="34" charset="-122"/>
                <a:cs typeface="Cambria" pitchFamily="34" charset="-120"/>
              </a:rPr>
              <a:t>Fri 6 Nov</a:t>
            </a:r>
            <a:endParaRPr lang="en-US" sz="2000" dirty="0"/>
          </a:p>
        </p:txBody>
      </p:sp>
      <p:sp>
        <p:nvSpPr>
          <p:cNvPr id="14" name="Text 12"/>
          <p:cNvSpPr txBox="1"/>
          <p:nvPr/>
        </p:nvSpPr>
        <p:spPr>
          <a:xfrm>
            <a:off x="6492240" y="3429000"/>
            <a:ext cx="2011680" cy="292608"/>
          </a:xfrm>
          <a:prstGeom prst="rect">
            <a:avLst/>
          </a:prstGeom>
          <a:noFill/>
          <a:ln/>
        </p:spPr>
        <p:txBody>
          <a:bodyPr wrap="square" lIns="0" tIns="0" rIns="0" bIns="0" rtlCol="0" anchor="ctr"/>
          <a:lstStyle/>
          <a:p>
            <a:pPr indent="0" marL="0">
              <a:buNone/>
            </a:pPr>
            <a:r>
              <a:rPr lang="en-US" sz="1500" b="1" dirty="0">
                <a:solidFill>
                  <a:srgbClr val="162947"/>
                </a:solidFill>
                <a:latin typeface="Arial" pitchFamily="34" charset="0"/>
                <a:ea typeface="Arial" pitchFamily="34" charset="-122"/>
                <a:cs typeface="Arial" pitchFamily="34" charset="-120"/>
              </a:rPr>
              <a:t>Paper 2H</a:t>
            </a:r>
            <a:endParaRPr lang="en-US" sz="1500" dirty="0"/>
          </a:p>
        </p:txBody>
      </p:sp>
      <p:sp>
        <p:nvSpPr>
          <p:cNvPr id="15" name="Text 13"/>
          <p:cNvSpPr txBox="1"/>
          <p:nvPr/>
        </p:nvSpPr>
        <p:spPr>
          <a:xfrm>
            <a:off x="4663440" y="3886200"/>
            <a:ext cx="6492240"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Morning  ·  2 hours  ·  100 marks  ·  calculator</a:t>
            </a:r>
            <a:endParaRPr lang="en-US" sz="1150" dirty="0"/>
          </a:p>
        </p:txBody>
      </p:sp>
      <p:sp>
        <p:nvSpPr>
          <p:cNvPr id="16" name="Shape 14"/>
          <p:cNvSpPr/>
          <p:nvPr/>
        </p:nvSpPr>
        <p:spPr>
          <a:xfrm>
            <a:off x="685800" y="4800600"/>
            <a:ext cx="10817352" cy="1325880"/>
          </a:xfrm>
          <a:prstGeom prst="roundRect">
            <a:avLst>
              <a:gd name="adj" fmla="val 2759"/>
            </a:avLst>
          </a:prstGeom>
          <a:solidFill>
            <a:srgbClr val="EFEBE1"/>
          </a:solidFill>
          <a:ln/>
        </p:spPr>
      </p:sp>
      <p:sp>
        <p:nvSpPr>
          <p:cNvPr id="17" name="Text 15"/>
          <p:cNvSpPr txBox="1"/>
          <p:nvPr/>
        </p:nvSpPr>
        <p:spPr>
          <a:xfrm>
            <a:off x="960120" y="5029200"/>
            <a:ext cx="10241280" cy="274320"/>
          </a:xfrm>
          <a:prstGeom prst="rect">
            <a:avLst/>
          </a:prstGeom>
          <a:noFill/>
          <a:ln/>
        </p:spPr>
        <p:txBody>
          <a:bodyPr wrap="square" lIns="0" tIns="0" rIns="0" bIns="0" rtlCol="0" anchor="ctr"/>
          <a:lstStyle/>
          <a:p>
            <a:pPr indent="0" marL="0">
              <a:buNone/>
            </a:pPr>
            <a:r>
              <a:rPr lang="en-US" sz="1300" b="1" dirty="0">
                <a:solidFill>
                  <a:srgbClr val="162947"/>
                </a:solidFill>
                <a:latin typeface="Arial" pitchFamily="34" charset="0"/>
                <a:ea typeface="Arial" pitchFamily="34" charset="-122"/>
                <a:cs typeface="Arial" pitchFamily="34" charset="-120"/>
              </a:rPr>
              <a:t>Both papers allow a calculator, and both draw on the whole course.</a:t>
            </a:r>
            <a:endParaRPr lang="en-US" sz="1300" dirty="0"/>
          </a:p>
        </p:txBody>
      </p:sp>
      <p:sp>
        <p:nvSpPr>
          <p:cNvPr id="18" name="Text 16"/>
          <p:cNvSpPr txBox="1"/>
          <p:nvPr/>
        </p:nvSpPr>
        <p:spPr>
          <a:xfrm>
            <a:off x="960120" y="5358384"/>
            <a:ext cx="10241280" cy="548640"/>
          </a:xfrm>
          <a:prstGeom prst="rect">
            <a:avLst/>
          </a:prstGeom>
          <a:noFill/>
          <a:ln/>
        </p:spPr>
        <p:txBody>
          <a:bodyPr wrap="square" lIns="0" tIns="0" rIns="0" bIns="0" rtlCol="0" anchor="t"/>
          <a:lstStyle/>
          <a:p>
            <a:pPr indent="0" marL="0">
              <a:lnSpc>
                <a:spcPts val="1600"/>
              </a:lnSpc>
              <a:buNone/>
            </a:pPr>
            <a:r>
              <a:rPr lang="en-US" sz="1150" dirty="0">
                <a:solidFill>
                  <a:srgbClr val="5D6471"/>
                </a:solidFill>
                <a:latin typeface="Arial" pitchFamily="34" charset="0"/>
                <a:ea typeface="Arial" pitchFamily="34" charset="-122"/>
                <a:cs typeface="Arial" pitchFamily="34" charset="-120"/>
              </a:rPr>
              <a:t>Calculator technique is covered in the next session and checked before every timed piece of work. A topic that appears on Paper 1 is likely to appear again on Paper 2.</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TARGET</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number we are working to</a:t>
            </a:r>
            <a:endParaRPr lang="en-US" sz="3300" dirty="0"/>
          </a:p>
        </p:txBody>
      </p:sp>
      <p:sp>
        <p:nvSpPr>
          <p:cNvPr id="4" name="Shape 2"/>
          <p:cNvSpPr/>
          <p:nvPr/>
        </p:nvSpPr>
        <p:spPr>
          <a:xfrm>
            <a:off x="685800" y="1691640"/>
            <a:ext cx="3566160" cy="3794760"/>
          </a:xfrm>
          <a:prstGeom prst="roundRect">
            <a:avLst>
              <a:gd name="adj" fmla="val 1026"/>
            </a:avLst>
          </a:prstGeom>
          <a:solidFill>
            <a:srgbClr val="162947"/>
          </a:solidFill>
          <a:ln/>
        </p:spPr>
      </p:sp>
      <p:sp>
        <p:nvSpPr>
          <p:cNvPr id="5" name="Text 3"/>
          <p:cNvSpPr txBox="1"/>
          <p:nvPr/>
        </p:nvSpPr>
        <p:spPr>
          <a:xfrm>
            <a:off x="685800" y="1965960"/>
            <a:ext cx="3566160" cy="1280160"/>
          </a:xfrm>
          <a:prstGeom prst="rect">
            <a:avLst/>
          </a:prstGeom>
          <a:noFill/>
          <a:ln/>
        </p:spPr>
        <p:txBody>
          <a:bodyPr wrap="square" lIns="0" tIns="0" rIns="0" bIns="0" rtlCol="0" anchor="ctr"/>
          <a:lstStyle/>
          <a:p>
            <a:pPr algn="ctr" indent="0" marL="0">
              <a:buNone/>
            </a:pPr>
            <a:r>
              <a:rPr lang="en-US" sz="8600" dirty="0">
                <a:solidFill>
                  <a:srgbClr val="C3A965"/>
                </a:solidFill>
                <a:latin typeface="Cambria" pitchFamily="34" charset="0"/>
                <a:ea typeface="Cambria" pitchFamily="34" charset="-122"/>
                <a:cs typeface="Cambria" pitchFamily="34" charset="-120"/>
              </a:rPr>
              <a:t>65</a:t>
            </a:r>
            <a:endParaRPr lang="en-US" sz="8600" dirty="0"/>
          </a:p>
        </p:txBody>
      </p:sp>
      <p:sp>
        <p:nvSpPr>
          <p:cNvPr id="6" name="Text 4"/>
          <p:cNvSpPr txBox="1"/>
          <p:nvPr/>
        </p:nvSpPr>
        <p:spPr>
          <a:xfrm>
            <a:off x="685800" y="3291840"/>
            <a:ext cx="3566160" cy="274320"/>
          </a:xfrm>
          <a:prstGeom prst="rect">
            <a:avLst/>
          </a:prstGeom>
          <a:noFill/>
          <a:ln/>
        </p:spPr>
        <p:txBody>
          <a:bodyPr wrap="square" lIns="0" tIns="0" rIns="0" bIns="0" rtlCol="0" anchor="ctr"/>
          <a:lstStyle/>
          <a:p>
            <a:pPr algn="ctr" indent="0" marL="0">
              <a:buNone/>
            </a:pPr>
            <a:r>
              <a:rPr lang="en-US" sz="1400" b="1" dirty="0">
                <a:solidFill>
                  <a:srgbClr val="F6F4EF"/>
                </a:solidFill>
                <a:latin typeface="Arial" pitchFamily="34" charset="0"/>
                <a:ea typeface="Arial" pitchFamily="34" charset="-122"/>
                <a:cs typeface="Arial" pitchFamily="34" charset="-120"/>
              </a:rPr>
              <a:t>marks out of 200</a:t>
            </a:r>
            <a:endParaRPr lang="en-US" sz="1400" dirty="0"/>
          </a:p>
        </p:txBody>
      </p:sp>
      <p:sp>
        <p:nvSpPr>
          <p:cNvPr id="7" name="Text 5"/>
          <p:cNvSpPr txBox="1"/>
          <p:nvPr/>
        </p:nvSpPr>
        <p:spPr>
          <a:xfrm>
            <a:off x="1005840" y="3794760"/>
            <a:ext cx="2926080" cy="1371600"/>
          </a:xfrm>
          <a:prstGeom prst="rect">
            <a:avLst/>
          </a:prstGeom>
          <a:noFill/>
          <a:ln/>
        </p:spPr>
        <p:txBody>
          <a:bodyPr wrap="square" lIns="0" tIns="0" rIns="0" bIns="0" rtlCol="0" anchor="t"/>
          <a:lstStyle/>
          <a:p>
            <a:pPr indent="0" marL="0">
              <a:lnSpc>
                <a:spcPts val="1650"/>
              </a:lnSpc>
              <a:buNone/>
            </a:pPr>
            <a:r>
              <a:rPr lang="en-US" sz="1150" dirty="0">
                <a:solidFill>
                  <a:srgbClr val="A8B2C2"/>
                </a:solidFill>
                <a:latin typeface="Arial" pitchFamily="34" charset="0"/>
                <a:ea typeface="Arial" pitchFamily="34" charset="-122"/>
                <a:cs typeface="Arial" pitchFamily="34" charset="-120"/>
              </a:rPr>
              <a:t>The grade 5 boundary on Higher tier in November 2025, just under a third of the paper. Boundaries shift each series, so we treat this as a guide.</a:t>
            </a:r>
            <a:endParaRPr lang="en-US" sz="1150" dirty="0"/>
          </a:p>
        </p:txBody>
      </p:sp>
      <p:sp>
        <p:nvSpPr>
          <p:cNvPr id="8" name="Shape 6"/>
          <p:cNvSpPr/>
          <p:nvPr/>
        </p:nvSpPr>
        <p:spPr>
          <a:xfrm>
            <a:off x="4617720" y="1691640"/>
            <a:ext cx="6885432" cy="420624"/>
          </a:xfrm>
          <a:prstGeom prst="rect">
            <a:avLst/>
          </a:prstGeom>
          <a:solidFill>
            <a:srgbClr val="162947"/>
          </a:solidFill>
          <a:ln/>
        </p:spPr>
      </p:sp>
      <p:sp>
        <p:nvSpPr>
          <p:cNvPr id="9" name="Text 7"/>
          <p:cNvSpPr txBox="1"/>
          <p:nvPr/>
        </p:nvSpPr>
        <p:spPr>
          <a:xfrm>
            <a:off x="4818888" y="1691640"/>
            <a:ext cx="2459736" cy="420624"/>
          </a:xfrm>
          <a:prstGeom prst="rect">
            <a:avLst/>
          </a:prstGeom>
          <a:noFill/>
          <a:ln/>
        </p:spPr>
        <p:txBody>
          <a:bodyPr wrap="square" lIns="0" tIns="0" rIns="0" bIns="0" rtlCol="0" anchor="ctr"/>
          <a:lstStyle/>
          <a:p>
            <a:pPr algn="l" indent="0" marL="0">
              <a:buNone/>
            </a:pPr>
            <a:r>
              <a:rPr lang="en-US" sz="1150" b="1" spc="60" kern="0" dirty="0">
                <a:solidFill>
                  <a:srgbClr val="F6F4EF"/>
                </a:solidFill>
                <a:latin typeface="Arial" pitchFamily="34" charset="0"/>
                <a:ea typeface="Arial" pitchFamily="34" charset="-122"/>
                <a:cs typeface="Arial" pitchFamily="34" charset="-120"/>
              </a:rPr>
              <a:t>Grade</a:t>
            </a:r>
            <a:endParaRPr lang="en-US" sz="1150" dirty="0"/>
          </a:p>
        </p:txBody>
      </p:sp>
      <p:sp>
        <p:nvSpPr>
          <p:cNvPr id="10" name="Text 8"/>
          <p:cNvSpPr txBox="1"/>
          <p:nvPr/>
        </p:nvSpPr>
        <p:spPr>
          <a:xfrm>
            <a:off x="768096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Marks needed</a:t>
            </a:r>
            <a:endParaRPr lang="en-US" sz="1150" dirty="0"/>
          </a:p>
        </p:txBody>
      </p:sp>
      <p:sp>
        <p:nvSpPr>
          <p:cNvPr id="11" name="Text 9"/>
          <p:cNvSpPr txBox="1"/>
          <p:nvPr/>
        </p:nvSpPr>
        <p:spPr>
          <a:xfrm>
            <a:off x="9692640" y="1691640"/>
            <a:ext cx="1609344" cy="420624"/>
          </a:xfrm>
          <a:prstGeom prst="rect">
            <a:avLst/>
          </a:prstGeom>
          <a:noFill/>
          <a:ln/>
        </p:spPr>
        <p:txBody>
          <a:bodyPr wrap="square" lIns="0" tIns="0" rIns="0" bIns="0" rtlCol="0" anchor="ctr"/>
          <a:lstStyle/>
          <a:p>
            <a:pPr algn="ctr" indent="0" marL="0">
              <a:buNone/>
            </a:pPr>
            <a:r>
              <a:rPr lang="en-US" sz="1150" b="1" spc="60" kern="0" dirty="0">
                <a:solidFill>
                  <a:srgbClr val="F6F4EF"/>
                </a:solidFill>
                <a:latin typeface="Arial" pitchFamily="34" charset="0"/>
                <a:ea typeface="Arial" pitchFamily="34" charset="-122"/>
                <a:cs typeface="Arial" pitchFamily="34" charset="-120"/>
              </a:rPr>
              <a:t>Share of total</a:t>
            </a:r>
            <a:endParaRPr lang="en-US" sz="1150" dirty="0"/>
          </a:p>
        </p:txBody>
      </p:sp>
      <p:sp>
        <p:nvSpPr>
          <p:cNvPr id="12" name="Shape 10"/>
          <p:cNvSpPr/>
          <p:nvPr/>
        </p:nvSpPr>
        <p:spPr>
          <a:xfrm>
            <a:off x="4617720" y="2112264"/>
            <a:ext cx="6885432" cy="420624"/>
          </a:xfrm>
          <a:prstGeom prst="rect">
            <a:avLst/>
          </a:prstGeom>
          <a:solidFill>
            <a:srgbClr val="FFFFFF"/>
          </a:solidFill>
          <a:ln w="7620">
            <a:solidFill>
              <a:srgbClr val="E3DFD5"/>
            </a:solidFill>
            <a:prstDash val="solid"/>
          </a:ln>
        </p:spPr>
      </p:sp>
      <p:sp>
        <p:nvSpPr>
          <p:cNvPr id="13" name="Text 11"/>
          <p:cNvSpPr txBox="1"/>
          <p:nvPr/>
        </p:nvSpPr>
        <p:spPr>
          <a:xfrm>
            <a:off x="4818888" y="2112264"/>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6</a:t>
            </a:r>
            <a:endParaRPr lang="en-US" sz="1250" dirty="0"/>
          </a:p>
        </p:txBody>
      </p:sp>
      <p:sp>
        <p:nvSpPr>
          <p:cNvPr id="14" name="Text 12"/>
          <p:cNvSpPr txBox="1"/>
          <p:nvPr/>
        </p:nvSpPr>
        <p:spPr>
          <a:xfrm>
            <a:off x="768096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86 / 200</a:t>
            </a:r>
            <a:endParaRPr lang="en-US" sz="1250" dirty="0"/>
          </a:p>
        </p:txBody>
      </p:sp>
      <p:sp>
        <p:nvSpPr>
          <p:cNvPr id="15" name="Text 13"/>
          <p:cNvSpPr txBox="1"/>
          <p:nvPr/>
        </p:nvSpPr>
        <p:spPr>
          <a:xfrm>
            <a:off x="9692640" y="2112264"/>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43%</a:t>
            </a:r>
            <a:endParaRPr lang="en-US" sz="1250" dirty="0"/>
          </a:p>
        </p:txBody>
      </p:sp>
      <p:sp>
        <p:nvSpPr>
          <p:cNvPr id="16" name="Shape 14"/>
          <p:cNvSpPr/>
          <p:nvPr/>
        </p:nvSpPr>
        <p:spPr>
          <a:xfrm>
            <a:off x="4617720" y="2532888"/>
            <a:ext cx="6885432" cy="420624"/>
          </a:xfrm>
          <a:prstGeom prst="rect">
            <a:avLst/>
          </a:prstGeom>
          <a:solidFill>
            <a:srgbClr val="EFEBE1"/>
          </a:solidFill>
          <a:ln w="7620">
            <a:solidFill>
              <a:srgbClr val="E3DFD5"/>
            </a:solidFill>
            <a:prstDash val="solid"/>
          </a:ln>
        </p:spPr>
      </p:sp>
      <p:sp>
        <p:nvSpPr>
          <p:cNvPr id="17" name="Text 15"/>
          <p:cNvSpPr txBox="1"/>
          <p:nvPr/>
        </p:nvSpPr>
        <p:spPr>
          <a:xfrm>
            <a:off x="4818888" y="2532888"/>
            <a:ext cx="2459736" cy="420624"/>
          </a:xfrm>
          <a:prstGeom prst="rect">
            <a:avLst/>
          </a:prstGeom>
          <a:noFill/>
          <a:ln/>
        </p:spPr>
        <p:txBody>
          <a:bodyPr wrap="square" lIns="0" tIns="0" rIns="0" bIns="0" rtlCol="0" anchor="ctr"/>
          <a:lstStyle/>
          <a:p>
            <a:pPr algn="l" indent="0" marL="0">
              <a:buNone/>
            </a:pPr>
            <a:r>
              <a:rPr lang="en-US" sz="1250" b="1" dirty="0">
                <a:solidFill>
                  <a:srgbClr val="162947"/>
                </a:solidFill>
                <a:latin typeface="Arial" pitchFamily="34" charset="0"/>
                <a:ea typeface="Arial" pitchFamily="34" charset="-122"/>
                <a:cs typeface="Arial" pitchFamily="34" charset="-120"/>
              </a:rPr>
              <a:t>Grade 5</a:t>
            </a:r>
            <a:endParaRPr lang="en-US" sz="1250" dirty="0"/>
          </a:p>
        </p:txBody>
      </p:sp>
      <p:sp>
        <p:nvSpPr>
          <p:cNvPr id="18" name="Text 16"/>
          <p:cNvSpPr txBox="1"/>
          <p:nvPr/>
        </p:nvSpPr>
        <p:spPr>
          <a:xfrm>
            <a:off x="768096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65 / 200</a:t>
            </a:r>
            <a:endParaRPr lang="en-US" sz="1250" dirty="0"/>
          </a:p>
        </p:txBody>
      </p:sp>
      <p:sp>
        <p:nvSpPr>
          <p:cNvPr id="19" name="Text 17"/>
          <p:cNvSpPr txBox="1"/>
          <p:nvPr/>
        </p:nvSpPr>
        <p:spPr>
          <a:xfrm>
            <a:off x="9692640" y="2532888"/>
            <a:ext cx="1609344" cy="420624"/>
          </a:xfrm>
          <a:prstGeom prst="rect">
            <a:avLst/>
          </a:prstGeom>
          <a:noFill/>
          <a:ln/>
        </p:spPr>
        <p:txBody>
          <a:bodyPr wrap="square" lIns="0" tIns="0" rIns="0" bIns="0" rtlCol="0" anchor="ctr"/>
          <a:lstStyle/>
          <a:p>
            <a:pPr algn="ctr" indent="0" marL="0">
              <a:buNone/>
            </a:pPr>
            <a:r>
              <a:rPr lang="en-US" sz="1250" b="1" dirty="0">
                <a:solidFill>
                  <a:srgbClr val="162947"/>
                </a:solidFill>
                <a:latin typeface="Arial" pitchFamily="34" charset="0"/>
                <a:ea typeface="Arial" pitchFamily="34" charset="-122"/>
                <a:cs typeface="Arial" pitchFamily="34" charset="-120"/>
              </a:rPr>
              <a:t>33%</a:t>
            </a:r>
            <a:endParaRPr lang="en-US" sz="1250" dirty="0"/>
          </a:p>
        </p:txBody>
      </p:sp>
      <p:sp>
        <p:nvSpPr>
          <p:cNvPr id="20" name="Shape 18"/>
          <p:cNvSpPr/>
          <p:nvPr/>
        </p:nvSpPr>
        <p:spPr>
          <a:xfrm>
            <a:off x="4617720" y="2953512"/>
            <a:ext cx="6885432" cy="420624"/>
          </a:xfrm>
          <a:prstGeom prst="rect">
            <a:avLst/>
          </a:prstGeom>
          <a:solidFill>
            <a:srgbClr val="FFFFFF"/>
          </a:solidFill>
          <a:ln w="7620">
            <a:solidFill>
              <a:srgbClr val="E3DFD5"/>
            </a:solidFill>
            <a:prstDash val="solid"/>
          </a:ln>
        </p:spPr>
      </p:sp>
      <p:sp>
        <p:nvSpPr>
          <p:cNvPr id="21" name="Text 19"/>
          <p:cNvSpPr txBox="1"/>
          <p:nvPr/>
        </p:nvSpPr>
        <p:spPr>
          <a:xfrm>
            <a:off x="4818888" y="2953512"/>
            <a:ext cx="2459736" cy="420624"/>
          </a:xfrm>
          <a:prstGeom prst="rect">
            <a:avLst/>
          </a:prstGeom>
          <a:noFill/>
          <a:ln/>
        </p:spPr>
        <p:txBody>
          <a:bodyPr wrap="square" lIns="0" tIns="0" rIns="0" bIns="0" rtlCol="0" anchor="ctr"/>
          <a:lstStyle/>
          <a:p>
            <a:pPr algn="l" indent="0" marL="0">
              <a:buNone/>
            </a:pPr>
            <a:r>
              <a:rPr lang="en-US" sz="1250" dirty="0">
                <a:solidFill>
                  <a:srgbClr val="5D6471"/>
                </a:solidFill>
                <a:latin typeface="Arial" pitchFamily="34" charset="0"/>
                <a:ea typeface="Arial" pitchFamily="34" charset="-122"/>
                <a:cs typeface="Arial" pitchFamily="34" charset="-120"/>
              </a:rPr>
              <a:t>Grade 4</a:t>
            </a:r>
            <a:endParaRPr lang="en-US" sz="1250" dirty="0"/>
          </a:p>
        </p:txBody>
      </p:sp>
      <p:sp>
        <p:nvSpPr>
          <p:cNvPr id="22" name="Text 20"/>
          <p:cNvSpPr txBox="1"/>
          <p:nvPr/>
        </p:nvSpPr>
        <p:spPr>
          <a:xfrm>
            <a:off x="768096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45 / 200</a:t>
            </a:r>
            <a:endParaRPr lang="en-US" sz="1250" dirty="0"/>
          </a:p>
        </p:txBody>
      </p:sp>
      <p:sp>
        <p:nvSpPr>
          <p:cNvPr id="23" name="Text 21"/>
          <p:cNvSpPr txBox="1"/>
          <p:nvPr/>
        </p:nvSpPr>
        <p:spPr>
          <a:xfrm>
            <a:off x="9692640" y="2953512"/>
            <a:ext cx="1609344" cy="420624"/>
          </a:xfrm>
          <a:prstGeom prst="rect">
            <a:avLst/>
          </a:prstGeom>
          <a:noFill/>
          <a:ln/>
        </p:spPr>
        <p:txBody>
          <a:bodyPr wrap="square" lIns="0" tIns="0" rIns="0" bIns="0" rtlCol="0" anchor="ctr"/>
          <a:lstStyle/>
          <a:p>
            <a:pPr algn="ctr" indent="0" marL="0">
              <a:buNone/>
            </a:pPr>
            <a:r>
              <a:rPr lang="en-US" sz="1250" dirty="0">
                <a:solidFill>
                  <a:srgbClr val="5D6471"/>
                </a:solidFill>
                <a:latin typeface="Arial" pitchFamily="34" charset="0"/>
                <a:ea typeface="Arial" pitchFamily="34" charset="-122"/>
                <a:cs typeface="Arial" pitchFamily="34" charset="-120"/>
              </a:rPr>
              <a:t>23%</a:t>
            </a:r>
            <a:endParaRPr lang="en-US" sz="1250" dirty="0"/>
          </a:p>
        </p:txBody>
      </p:sp>
      <p:sp>
        <p:nvSpPr>
          <p:cNvPr id="24" name="Shape 22"/>
          <p:cNvSpPr/>
          <p:nvPr/>
        </p:nvSpPr>
        <p:spPr>
          <a:xfrm>
            <a:off x="4617720" y="3675888"/>
            <a:ext cx="6885432" cy="1810512"/>
          </a:xfrm>
          <a:prstGeom prst="roundRect">
            <a:avLst>
              <a:gd name="adj" fmla="val 2020"/>
            </a:avLst>
          </a:prstGeom>
          <a:solidFill>
            <a:srgbClr val="FFFFFF"/>
          </a:solidFill>
          <a:ln w="9525">
            <a:solidFill>
              <a:srgbClr val="E3DFD5"/>
            </a:solidFill>
            <a:prstDash val="solid"/>
          </a:ln>
        </p:spPr>
      </p:sp>
      <p:sp>
        <p:nvSpPr>
          <p:cNvPr id="25" name="Text 23"/>
          <p:cNvSpPr txBox="1"/>
          <p:nvPr/>
        </p:nvSpPr>
        <p:spPr>
          <a:xfrm>
            <a:off x="4937760" y="3877056"/>
            <a:ext cx="6309360" cy="310896"/>
          </a:xfrm>
          <a:prstGeom prst="rect">
            <a:avLst/>
          </a:prstGeom>
          <a:noFill/>
          <a:ln/>
        </p:spPr>
        <p:txBody>
          <a:bodyPr wrap="square" lIns="0" tIns="0" rIns="0" bIns="0" rtlCol="0" anchor="t"/>
          <a:lstStyle/>
          <a:p>
            <a:pPr indent="0" marL="0">
              <a:buNone/>
            </a:pPr>
            <a:r>
              <a:rPr lang="en-US" sz="1900" dirty="0">
                <a:solidFill>
                  <a:srgbClr val="162947"/>
                </a:solidFill>
                <a:latin typeface="Cambria" pitchFamily="34" charset="0"/>
                <a:ea typeface="Cambria" pitchFamily="34" charset="-122"/>
                <a:cs typeface="Cambria" pitchFamily="34" charset="-120"/>
              </a:rPr>
              <a:t>Why we work towards 80</a:t>
            </a:r>
            <a:endParaRPr lang="en-US" sz="1900" dirty="0"/>
          </a:p>
        </p:txBody>
      </p:sp>
      <p:sp>
        <p:nvSpPr>
          <p:cNvPr id="26" name="Text 24"/>
          <p:cNvSpPr txBox="1"/>
          <p:nvPr/>
        </p:nvSpPr>
        <p:spPr>
          <a:xfrm>
            <a:off x="4937760" y="4279392"/>
            <a:ext cx="6309360" cy="1051560"/>
          </a:xfrm>
          <a:prstGeom prst="rect">
            <a:avLst/>
          </a:prstGeom>
          <a:noFill/>
          <a:ln/>
        </p:spPr>
        <p:txBody>
          <a:bodyPr wrap="square" lIns="0" tIns="0" rIns="0" bIns="0" rtlCol="0" anchor="t"/>
          <a:lstStyle/>
          <a:p>
            <a:pPr indent="0" marL="0">
              <a:lnSpc>
                <a:spcPts val="1700"/>
              </a:lnSpc>
              <a:buNone/>
            </a:pPr>
            <a:r>
              <a:rPr lang="en-US" sz="1200" dirty="0">
                <a:solidFill>
                  <a:srgbClr val="5D6471"/>
                </a:solidFill>
                <a:latin typeface="Arial" pitchFamily="34" charset="0"/>
                <a:ea typeface="Arial" pitchFamily="34" charset="-122"/>
                <a:cs typeface="Arial" pitchFamily="34" charset="-120"/>
              </a:rPr>
              <a:t>Boundaries shift, so aiming at last year's number exactly leaves no room. The larger factor is how many marks Charlotte is taught to attempt in the first place, which the next slide sets out.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WHERE THE MARKS ARE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Number and algebra is about 60% of the marks</a:t>
            </a:r>
            <a:endParaRPr lang="en-US" sz="3300" dirty="0"/>
          </a:p>
        </p:txBody>
      </p:sp>
      <p:graphicFrame>
        <p:nvGraphicFramePr>
          <p:cNvPr id="4" name="Chart 0" descr=""/>
          <p:cNvGraphicFramePr/>
          <p:nvPr/>
        </p:nvGraphicFramePr>
        <p:xfrm>
          <a:off x="502920" y="1600200"/>
          <a:ext cx="5760720" cy="26517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92240" y="1645920"/>
            <a:ext cx="5010912" cy="1207008"/>
          </a:xfrm>
          <a:prstGeom prst="roundRect">
            <a:avLst>
              <a:gd name="adj" fmla="val 3030"/>
            </a:avLst>
          </a:prstGeom>
          <a:solidFill>
            <a:srgbClr val="FFFFFF"/>
          </a:solidFill>
          <a:ln w="9525">
            <a:solidFill>
              <a:srgbClr val="E3DFD5"/>
            </a:solidFill>
            <a:prstDash val="solid"/>
          </a:ln>
        </p:spPr>
      </p:sp>
      <p:sp>
        <p:nvSpPr>
          <p:cNvPr id="6" name="Text 3"/>
          <p:cNvSpPr txBox="1"/>
          <p:nvPr/>
        </p:nvSpPr>
        <p:spPr>
          <a:xfrm>
            <a:off x="6784848" y="18105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The largest section is also the weakest</a:t>
            </a:r>
            <a:endParaRPr lang="en-US" sz="1250" dirty="0"/>
          </a:p>
        </p:txBody>
      </p:sp>
      <p:sp>
        <p:nvSpPr>
          <p:cNvPr id="7" name="Text 4"/>
          <p:cNvSpPr txBox="1"/>
          <p:nvPr/>
        </p:nvSpPr>
        <p:spPr>
          <a:xfrm>
            <a:off x="6784848" y="2103120"/>
            <a:ext cx="4434840" cy="64008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Charlotte's gaps are concentrated in number and algebra. Work there pays back across about 120 marks, so the first three weeks stay on it.</a:t>
            </a:r>
            <a:endParaRPr lang="en-US" sz="1100" dirty="0"/>
          </a:p>
        </p:txBody>
      </p:sp>
      <p:sp>
        <p:nvSpPr>
          <p:cNvPr id="8" name="Shape 5"/>
          <p:cNvSpPr/>
          <p:nvPr/>
        </p:nvSpPr>
        <p:spPr>
          <a:xfrm>
            <a:off x="6492240" y="3017520"/>
            <a:ext cx="5010912" cy="1207008"/>
          </a:xfrm>
          <a:prstGeom prst="roundRect">
            <a:avLst>
              <a:gd name="adj" fmla="val 3030"/>
            </a:avLst>
          </a:prstGeom>
          <a:solidFill>
            <a:srgbClr val="FFFFFF"/>
          </a:solidFill>
          <a:ln w="9525">
            <a:solidFill>
              <a:srgbClr val="E3DFD5"/>
            </a:solidFill>
            <a:prstDash val="solid"/>
          </a:ln>
        </p:spPr>
      </p:sp>
      <p:sp>
        <p:nvSpPr>
          <p:cNvPr id="9" name="Text 6"/>
          <p:cNvSpPr txBox="1"/>
          <p:nvPr/>
        </p:nvSpPr>
        <p:spPr>
          <a:xfrm>
            <a:off x="6784848" y="3182112"/>
            <a:ext cx="4434840" cy="256032"/>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Handling data does not depend on algebra</a:t>
            </a:r>
            <a:endParaRPr lang="en-US" sz="1250" dirty="0"/>
          </a:p>
        </p:txBody>
      </p:sp>
      <p:sp>
        <p:nvSpPr>
          <p:cNvPr id="10" name="Text 7"/>
          <p:cNvSpPr txBox="1"/>
          <p:nvPr/>
        </p:nvSpPr>
        <p:spPr>
          <a:xfrm>
            <a:off x="6784848" y="3474720"/>
            <a:ext cx="4434840" cy="64008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Averages, tables, probability and Venn diagrams are about 30 marks that the algebra gaps do not block. They come in week 4.</a:t>
            </a:r>
            <a:endParaRPr lang="en-US" sz="1100" dirty="0"/>
          </a:p>
        </p:txBody>
      </p:sp>
      <p:sp>
        <p:nvSpPr>
          <p:cNvPr id="11" name="Shape 8"/>
          <p:cNvSpPr/>
          <p:nvPr/>
        </p:nvSpPr>
        <p:spPr>
          <a:xfrm>
            <a:off x="685800" y="4526280"/>
            <a:ext cx="10817352" cy="1600200"/>
          </a:xfrm>
          <a:prstGeom prst="roundRect">
            <a:avLst>
              <a:gd name="adj" fmla="val 2286"/>
            </a:avLst>
          </a:prstGeom>
          <a:solidFill>
            <a:srgbClr val="162947"/>
          </a:solidFill>
          <a:ln/>
        </p:spPr>
      </p:sp>
      <p:sp>
        <p:nvSpPr>
          <p:cNvPr id="12" name="Text 9"/>
          <p:cNvSpPr txBox="1"/>
          <p:nvPr/>
        </p:nvSpPr>
        <p:spPr>
          <a:xfrm>
            <a:off x="1005840" y="4709160"/>
            <a:ext cx="10149840" cy="292608"/>
          </a:xfrm>
          <a:prstGeom prst="rect">
            <a:avLst/>
          </a:prstGeom>
          <a:noFill/>
          <a:ln/>
        </p:spPr>
        <p:txBody>
          <a:bodyPr wrap="square" lIns="0" tIns="0" rIns="0" bIns="0" rtlCol="0" anchor="ctr"/>
          <a:lstStyle/>
          <a:p>
            <a:pPr indent="0" marL="0">
              <a:buNone/>
            </a:pPr>
            <a:r>
              <a:rPr lang="en-US" sz="1900" dirty="0">
                <a:solidFill>
                  <a:srgbClr val="C3A965"/>
                </a:solidFill>
                <a:latin typeface="Cambria" pitchFamily="34" charset="0"/>
                <a:ea typeface="Cambria" pitchFamily="34" charset="-122"/>
                <a:cs typeface="Cambria" pitchFamily="34" charset="-120"/>
              </a:rPr>
              <a:t>How many marks we cover</a:t>
            </a:r>
            <a:endParaRPr lang="en-US" sz="1900" dirty="0"/>
          </a:p>
        </p:txBody>
      </p:sp>
      <p:sp>
        <p:nvSpPr>
          <p:cNvPr id="13" name="Text 10"/>
          <p:cNvSpPr txBox="1"/>
          <p:nvPr/>
        </p:nvSpPr>
        <p:spPr>
          <a:xfrm>
            <a:off x="100584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80</a:t>
            </a:r>
            <a:endParaRPr lang="en-US" sz="2300" dirty="0"/>
          </a:p>
        </p:txBody>
      </p:sp>
      <p:sp>
        <p:nvSpPr>
          <p:cNvPr id="14" name="Text 11"/>
          <p:cNvSpPr txBox="1"/>
          <p:nvPr/>
        </p:nvSpPr>
        <p:spPr>
          <a:xfrm>
            <a:off x="267004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are pitched at grades 4 and 5</a:t>
            </a:r>
            <a:endParaRPr lang="en-US" sz="1100" dirty="0"/>
          </a:p>
        </p:txBody>
      </p:sp>
      <p:sp>
        <p:nvSpPr>
          <p:cNvPr id="15" name="Text 12"/>
          <p:cNvSpPr txBox="1"/>
          <p:nvPr/>
        </p:nvSpPr>
        <p:spPr>
          <a:xfrm>
            <a:off x="100584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The specification puts about 40% of each paper at grades 4 and 5. Covering only that band means converting 65 of 80, leaving room to drop 15 marks.</a:t>
            </a:r>
            <a:endParaRPr lang="en-US" sz="1050" dirty="0"/>
          </a:p>
        </p:txBody>
      </p:sp>
      <p:sp>
        <p:nvSpPr>
          <p:cNvPr id="16" name="Text 13"/>
          <p:cNvSpPr txBox="1"/>
          <p:nvPr/>
        </p:nvSpPr>
        <p:spPr>
          <a:xfrm>
            <a:off x="6126480" y="5056632"/>
            <a:ext cx="1600200" cy="365760"/>
          </a:xfrm>
          <a:prstGeom prst="rect">
            <a:avLst/>
          </a:prstGeom>
          <a:noFill/>
          <a:ln/>
        </p:spPr>
        <p:txBody>
          <a:bodyPr wrap="square" lIns="0" tIns="0" rIns="0" bIns="0" rtlCol="0" anchor="t"/>
          <a:lstStyle/>
          <a:p>
            <a:pPr indent="0" marL="0">
              <a:buNone/>
            </a:pPr>
            <a:r>
              <a:rPr lang="en-US" sz="2300" dirty="0">
                <a:solidFill>
                  <a:srgbClr val="F6F4EF"/>
                </a:solidFill>
                <a:latin typeface="Cambria" pitchFamily="34" charset="0"/>
                <a:ea typeface="Cambria" pitchFamily="34" charset="-122"/>
                <a:cs typeface="Cambria" pitchFamily="34" charset="-120"/>
              </a:rPr>
              <a:t>about 105</a:t>
            </a:r>
            <a:endParaRPr lang="en-US" sz="2300" dirty="0"/>
          </a:p>
        </p:txBody>
      </p:sp>
      <p:sp>
        <p:nvSpPr>
          <p:cNvPr id="17" name="Text 14"/>
          <p:cNvSpPr txBox="1"/>
          <p:nvPr/>
        </p:nvSpPr>
        <p:spPr>
          <a:xfrm>
            <a:off x="7790688" y="5120640"/>
            <a:ext cx="3154680" cy="310896"/>
          </a:xfrm>
          <a:prstGeom prst="rect">
            <a:avLst/>
          </a:prstGeom>
          <a:noFill/>
          <a:ln/>
        </p:spPr>
        <p:txBody>
          <a:bodyPr wrap="square" lIns="0" tIns="0" rIns="0" bIns="0" rtlCol="0" anchor="t"/>
          <a:lstStyle/>
          <a:p>
            <a:pPr indent="0" marL="0">
              <a:lnSpc>
                <a:spcPts val="1400"/>
              </a:lnSpc>
              <a:buNone/>
            </a:pPr>
            <a:r>
              <a:rPr lang="en-US" sz="1100" b="1" dirty="0">
                <a:solidFill>
                  <a:srgbClr val="E8E4DA"/>
                </a:solidFill>
                <a:latin typeface="Arial" pitchFamily="34" charset="0"/>
                <a:ea typeface="Arial" pitchFamily="34" charset="-122"/>
                <a:cs typeface="Arial" pitchFamily="34" charset="-120"/>
              </a:rPr>
              <a:t>marks once single-step grade 6 topics are added</a:t>
            </a:r>
            <a:endParaRPr lang="en-US" sz="1100" dirty="0"/>
          </a:p>
        </p:txBody>
      </p:sp>
      <p:sp>
        <p:nvSpPr>
          <p:cNvPr id="18" name="Text 15"/>
          <p:cNvSpPr txBox="1"/>
          <p:nvPr/>
        </p:nvSpPr>
        <p:spPr>
          <a:xfrm>
            <a:off x="6126480" y="5486400"/>
            <a:ext cx="4846320" cy="5486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The target to pass stays at 65, with room to drop 40 marks.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ROUTE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six weeks</a:t>
            </a:r>
            <a:endParaRPr lang="en-US" sz="3300" dirty="0"/>
          </a:p>
        </p:txBody>
      </p:sp>
      <p:sp>
        <p:nvSpPr>
          <p:cNvPr id="4" name="Shape 2"/>
          <p:cNvSpPr/>
          <p:nvPr/>
        </p:nvSpPr>
        <p:spPr>
          <a:xfrm>
            <a:off x="1115568" y="2048256"/>
            <a:ext cx="10469880" cy="0"/>
          </a:xfrm>
          <a:prstGeom prst="line">
            <a:avLst/>
          </a:prstGeom>
          <a:noFill/>
          <a:ln w="15875">
            <a:solidFill>
              <a:srgbClr val="C9CEDB"/>
            </a:solidFill>
            <a:prstDash val="solid"/>
          </a:ln>
        </p:spPr>
      </p:sp>
      <p:sp>
        <p:nvSpPr>
          <p:cNvPr id="5" name="Shape 3"/>
          <p:cNvSpPr/>
          <p:nvPr/>
        </p:nvSpPr>
        <p:spPr>
          <a:xfrm>
            <a:off x="868680" y="1847088"/>
            <a:ext cx="402336" cy="402336"/>
          </a:xfrm>
          <a:prstGeom prst="ellipse">
            <a:avLst/>
          </a:prstGeom>
          <a:solidFill>
            <a:srgbClr val="162947"/>
          </a:solidFill>
          <a:ln/>
        </p:spPr>
      </p:sp>
      <p:sp>
        <p:nvSpPr>
          <p:cNvPr id="6" name="Text 4"/>
          <p:cNvSpPr txBox="1"/>
          <p:nvPr/>
        </p:nvSpPr>
        <p:spPr>
          <a:xfrm>
            <a:off x="8686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3017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21 to 27 Sep</a:t>
            </a:r>
            <a:endParaRPr lang="en-US" sz="950" dirty="0"/>
          </a:p>
        </p:txBody>
      </p:sp>
      <p:sp>
        <p:nvSpPr>
          <p:cNvPr id="8" name="Text 6"/>
          <p:cNvSpPr txBox="1"/>
          <p:nvPr/>
        </p:nvSpPr>
        <p:spPr>
          <a:xfrm>
            <a:off x="3017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Baseline</a:t>
            </a:r>
            <a:endParaRPr lang="en-US" sz="1200" dirty="0"/>
          </a:p>
        </p:txBody>
      </p:sp>
      <p:sp>
        <p:nvSpPr>
          <p:cNvPr id="9" name="Shape 7"/>
          <p:cNvSpPr/>
          <p:nvPr/>
        </p:nvSpPr>
        <p:spPr>
          <a:xfrm>
            <a:off x="2613660" y="1847088"/>
            <a:ext cx="402336" cy="402336"/>
          </a:xfrm>
          <a:prstGeom prst="ellipse">
            <a:avLst/>
          </a:prstGeom>
          <a:solidFill>
            <a:srgbClr val="162947"/>
          </a:solidFill>
          <a:ln/>
        </p:spPr>
      </p:sp>
      <p:sp>
        <p:nvSpPr>
          <p:cNvPr id="10" name="Text 8"/>
          <p:cNvSpPr txBox="1"/>
          <p:nvPr/>
        </p:nvSpPr>
        <p:spPr>
          <a:xfrm>
            <a:off x="261366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204673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28 Sep to 4 Oct</a:t>
            </a:r>
            <a:endParaRPr lang="en-US" sz="950" dirty="0"/>
          </a:p>
        </p:txBody>
      </p:sp>
      <p:sp>
        <p:nvSpPr>
          <p:cNvPr id="12" name="Text 10"/>
          <p:cNvSpPr txBox="1"/>
          <p:nvPr/>
        </p:nvSpPr>
        <p:spPr>
          <a:xfrm>
            <a:off x="20467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Number</a:t>
            </a:r>
            <a:endParaRPr lang="en-US" sz="1200" dirty="0"/>
          </a:p>
        </p:txBody>
      </p:sp>
      <p:sp>
        <p:nvSpPr>
          <p:cNvPr id="13" name="Shape 11"/>
          <p:cNvSpPr/>
          <p:nvPr/>
        </p:nvSpPr>
        <p:spPr>
          <a:xfrm>
            <a:off x="4358640" y="1847088"/>
            <a:ext cx="402336" cy="402336"/>
          </a:xfrm>
          <a:prstGeom prst="ellipse">
            <a:avLst/>
          </a:prstGeom>
          <a:solidFill>
            <a:srgbClr val="162947"/>
          </a:solidFill>
          <a:ln/>
        </p:spPr>
      </p:sp>
      <p:sp>
        <p:nvSpPr>
          <p:cNvPr id="14" name="Text 12"/>
          <p:cNvSpPr txBox="1"/>
          <p:nvPr/>
        </p:nvSpPr>
        <p:spPr>
          <a:xfrm>
            <a:off x="435864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379171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5 to 11 Oct</a:t>
            </a:r>
            <a:endParaRPr lang="en-US" sz="950" dirty="0"/>
          </a:p>
        </p:txBody>
      </p:sp>
      <p:sp>
        <p:nvSpPr>
          <p:cNvPr id="16" name="Text 14"/>
          <p:cNvSpPr txBox="1"/>
          <p:nvPr/>
        </p:nvSpPr>
        <p:spPr>
          <a:xfrm>
            <a:off x="379171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Algebra</a:t>
            </a:r>
            <a:endParaRPr lang="en-US" sz="1200" dirty="0"/>
          </a:p>
        </p:txBody>
      </p:sp>
      <p:sp>
        <p:nvSpPr>
          <p:cNvPr id="17" name="Shape 15"/>
          <p:cNvSpPr/>
          <p:nvPr/>
        </p:nvSpPr>
        <p:spPr>
          <a:xfrm>
            <a:off x="6103620" y="1847088"/>
            <a:ext cx="402336" cy="402336"/>
          </a:xfrm>
          <a:prstGeom prst="ellipse">
            <a:avLst/>
          </a:prstGeom>
          <a:solidFill>
            <a:srgbClr val="162947"/>
          </a:solidFill>
          <a:ln/>
        </p:spPr>
      </p:sp>
      <p:sp>
        <p:nvSpPr>
          <p:cNvPr id="18" name="Text 16"/>
          <p:cNvSpPr txBox="1"/>
          <p:nvPr/>
        </p:nvSpPr>
        <p:spPr>
          <a:xfrm>
            <a:off x="610362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9" name="Text 17"/>
          <p:cNvSpPr txBox="1"/>
          <p:nvPr/>
        </p:nvSpPr>
        <p:spPr>
          <a:xfrm>
            <a:off x="553669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12 to 18 Oct</a:t>
            </a:r>
            <a:endParaRPr lang="en-US" sz="950" dirty="0"/>
          </a:p>
        </p:txBody>
      </p:sp>
      <p:sp>
        <p:nvSpPr>
          <p:cNvPr id="20" name="Text 18"/>
          <p:cNvSpPr txBox="1"/>
          <p:nvPr/>
        </p:nvSpPr>
        <p:spPr>
          <a:xfrm>
            <a:off x="553669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Ratio and data</a:t>
            </a:r>
            <a:endParaRPr lang="en-US" sz="1200" dirty="0"/>
          </a:p>
        </p:txBody>
      </p:sp>
      <p:sp>
        <p:nvSpPr>
          <p:cNvPr id="21" name="Shape 19"/>
          <p:cNvSpPr/>
          <p:nvPr/>
        </p:nvSpPr>
        <p:spPr>
          <a:xfrm>
            <a:off x="7848600" y="1847088"/>
            <a:ext cx="402336" cy="402336"/>
          </a:xfrm>
          <a:prstGeom prst="ellipse">
            <a:avLst/>
          </a:prstGeom>
          <a:solidFill>
            <a:srgbClr val="162947"/>
          </a:solidFill>
          <a:ln/>
        </p:spPr>
      </p:sp>
      <p:sp>
        <p:nvSpPr>
          <p:cNvPr id="22" name="Text 20"/>
          <p:cNvSpPr txBox="1"/>
          <p:nvPr/>
        </p:nvSpPr>
        <p:spPr>
          <a:xfrm>
            <a:off x="784860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23" name="Text 21"/>
          <p:cNvSpPr txBox="1"/>
          <p:nvPr/>
        </p:nvSpPr>
        <p:spPr>
          <a:xfrm>
            <a:off x="728167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19 to 25 Oct</a:t>
            </a:r>
            <a:endParaRPr lang="en-US" sz="950" dirty="0"/>
          </a:p>
        </p:txBody>
      </p:sp>
      <p:sp>
        <p:nvSpPr>
          <p:cNvPr id="24" name="Text 22"/>
          <p:cNvSpPr txBox="1"/>
          <p:nvPr/>
        </p:nvSpPr>
        <p:spPr>
          <a:xfrm>
            <a:off x="728167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Shape</a:t>
            </a:r>
            <a:endParaRPr lang="en-US" sz="1200" dirty="0"/>
          </a:p>
        </p:txBody>
      </p:sp>
      <p:sp>
        <p:nvSpPr>
          <p:cNvPr id="25" name="Shape 23"/>
          <p:cNvSpPr/>
          <p:nvPr/>
        </p:nvSpPr>
        <p:spPr>
          <a:xfrm>
            <a:off x="9593580" y="1847088"/>
            <a:ext cx="402336" cy="402336"/>
          </a:xfrm>
          <a:prstGeom prst="ellipse">
            <a:avLst/>
          </a:prstGeom>
          <a:solidFill>
            <a:srgbClr val="162947"/>
          </a:solidFill>
          <a:ln/>
        </p:spPr>
      </p:sp>
      <p:sp>
        <p:nvSpPr>
          <p:cNvPr id="26" name="Text 24"/>
          <p:cNvSpPr txBox="1"/>
          <p:nvPr/>
        </p:nvSpPr>
        <p:spPr>
          <a:xfrm>
            <a:off x="9593580" y="1847088"/>
            <a:ext cx="402336" cy="402336"/>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27" name="Text 25"/>
          <p:cNvSpPr txBox="1"/>
          <p:nvPr/>
        </p:nvSpPr>
        <p:spPr>
          <a:xfrm>
            <a:off x="9026652" y="2395728"/>
            <a:ext cx="1554480" cy="219456"/>
          </a:xfrm>
          <a:prstGeom prst="rect">
            <a:avLst/>
          </a:prstGeom>
          <a:noFill/>
          <a:ln/>
        </p:spPr>
        <p:txBody>
          <a:bodyPr wrap="square" lIns="0" tIns="0" rIns="0" bIns="0" rtlCol="0" anchor="ctr"/>
          <a:lstStyle/>
          <a:p>
            <a:pPr algn="ctr" indent="0" marL="0">
              <a:buNone/>
            </a:pPr>
            <a:r>
              <a:rPr lang="en-US" sz="950" dirty="0">
                <a:solidFill>
                  <a:srgbClr val="5D6471"/>
                </a:solidFill>
                <a:latin typeface="Arial" pitchFamily="34" charset="0"/>
                <a:ea typeface="Arial" pitchFamily="34" charset="-122"/>
                <a:cs typeface="Arial" pitchFamily="34" charset="-120"/>
              </a:rPr>
              <a:t>26 Oct to 1 Nov</a:t>
            </a:r>
            <a:endParaRPr lang="en-US" sz="950" dirty="0"/>
          </a:p>
        </p:txBody>
      </p:sp>
      <p:sp>
        <p:nvSpPr>
          <p:cNvPr id="28" name="Text 26"/>
          <p:cNvSpPr txBox="1"/>
          <p:nvPr/>
        </p:nvSpPr>
        <p:spPr>
          <a:xfrm>
            <a:off x="902665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Papers</a:t>
            </a:r>
            <a:endParaRPr lang="en-US" sz="1200" dirty="0"/>
          </a:p>
        </p:txBody>
      </p:sp>
      <p:sp>
        <p:nvSpPr>
          <p:cNvPr id="29" name="Shape 27"/>
          <p:cNvSpPr/>
          <p:nvPr/>
        </p:nvSpPr>
        <p:spPr>
          <a:xfrm>
            <a:off x="11338560" y="1847088"/>
            <a:ext cx="402336" cy="402336"/>
          </a:xfrm>
          <a:prstGeom prst="ellipse">
            <a:avLst/>
          </a:prstGeom>
          <a:solidFill>
            <a:srgbClr val="C3A965"/>
          </a:solidFill>
          <a:ln/>
        </p:spPr>
      </p:sp>
      <p:sp>
        <p:nvSpPr>
          <p:cNvPr id="30" name="Text 28"/>
          <p:cNvSpPr txBox="1"/>
          <p:nvPr/>
        </p:nvSpPr>
        <p:spPr>
          <a:xfrm>
            <a:off x="11338560" y="1847088"/>
            <a:ext cx="402336" cy="402336"/>
          </a:xfrm>
          <a:prstGeom prst="rect">
            <a:avLst/>
          </a:prstGeom>
          <a:noFill/>
          <a:ln/>
        </p:spPr>
        <p:txBody>
          <a:bodyPr wrap="square" lIns="0" tIns="0" rIns="0" bIns="0" rtlCol="0" anchor="ctr"/>
          <a:lstStyle/>
          <a:p>
            <a:pPr algn="ctr" indent="0" marL="0">
              <a:buNone/>
            </a:pPr>
            <a:r>
              <a:rPr lang="en-US" sz="1500" b="1" dirty="0">
                <a:solidFill>
                  <a:srgbClr val="162947"/>
                </a:solidFill>
                <a:latin typeface="Cambria" pitchFamily="34" charset="0"/>
                <a:ea typeface="Cambria" pitchFamily="34" charset="-122"/>
                <a:cs typeface="Cambria" pitchFamily="34" charset="-120"/>
              </a:rPr>
              <a:t>★</a:t>
            </a:r>
            <a:endParaRPr lang="en-US" sz="1500" dirty="0"/>
          </a:p>
        </p:txBody>
      </p:sp>
      <p:sp>
        <p:nvSpPr>
          <p:cNvPr id="31" name="Text 29"/>
          <p:cNvSpPr txBox="1"/>
          <p:nvPr/>
        </p:nvSpPr>
        <p:spPr>
          <a:xfrm>
            <a:off x="10771632" y="2395728"/>
            <a:ext cx="1554480" cy="219456"/>
          </a:xfrm>
          <a:prstGeom prst="rect">
            <a:avLst/>
          </a:prstGeom>
          <a:noFill/>
          <a:ln/>
        </p:spPr>
        <p:txBody>
          <a:bodyPr wrap="square" lIns="0" tIns="0" rIns="0" bIns="0" rtlCol="0" anchor="ctr"/>
          <a:lstStyle/>
          <a:p>
            <a:pPr algn="ctr" indent="0" marL="0">
              <a:buNone/>
            </a:pPr>
            <a:r>
              <a:rPr lang="en-US" sz="950" dirty="0">
                <a:solidFill>
                  <a:srgbClr val="C3A965"/>
                </a:solidFill>
                <a:latin typeface="Arial" pitchFamily="34" charset="0"/>
                <a:ea typeface="Arial" pitchFamily="34" charset="-122"/>
                <a:cs typeface="Arial" pitchFamily="34" charset="-120"/>
              </a:rPr>
              <a:t>4 and 6 Nov</a:t>
            </a:r>
            <a:endParaRPr lang="en-US" sz="950" dirty="0"/>
          </a:p>
        </p:txBody>
      </p:sp>
      <p:sp>
        <p:nvSpPr>
          <p:cNvPr id="32" name="Text 30"/>
          <p:cNvSpPr txBox="1"/>
          <p:nvPr/>
        </p:nvSpPr>
        <p:spPr>
          <a:xfrm>
            <a:off x="10771632" y="2633472"/>
            <a:ext cx="1554480" cy="457200"/>
          </a:xfrm>
          <a:prstGeom prst="rect">
            <a:avLst/>
          </a:prstGeom>
          <a:noFill/>
          <a:ln/>
        </p:spPr>
        <p:txBody>
          <a:bodyPr wrap="square" lIns="0" tIns="0" rIns="0" bIns="0" rtlCol="0" anchor="ctr"/>
          <a:lstStyle/>
          <a:p>
            <a:pPr algn="ctr" indent="0" marL="0">
              <a:lnSpc>
                <a:spcPts val="1400"/>
              </a:lnSpc>
              <a:buNone/>
            </a:pPr>
            <a:r>
              <a:rPr lang="en-US" sz="1200" b="1" dirty="0">
                <a:solidFill>
                  <a:srgbClr val="162947"/>
                </a:solidFill>
                <a:latin typeface="Arial" pitchFamily="34" charset="0"/>
                <a:ea typeface="Arial" pitchFamily="34" charset="-122"/>
                <a:cs typeface="Arial" pitchFamily="34" charset="-120"/>
              </a:rPr>
              <a:t>Exams</a:t>
            </a:r>
            <a:endParaRPr lang="en-US" sz="1200" dirty="0"/>
          </a:p>
        </p:txBody>
      </p:sp>
      <p:sp>
        <p:nvSpPr>
          <p:cNvPr id="33" name="Text 31"/>
          <p:cNvSpPr txBox="1"/>
          <p:nvPr/>
        </p:nvSpPr>
        <p:spPr>
          <a:xfrm>
            <a:off x="685800" y="3383280"/>
            <a:ext cx="5486400" cy="274320"/>
          </a:xfrm>
          <a:prstGeom prst="rect">
            <a:avLst/>
          </a:prstGeom>
          <a:noFill/>
          <a:ln/>
        </p:spPr>
        <p:txBody>
          <a:bodyPr wrap="square" lIns="0" tIns="0" rIns="0" bIns="0" rtlCol="0" anchor="ctr"/>
          <a:lstStyle/>
          <a:p>
            <a:pPr indent="0" marL="0">
              <a:buNone/>
            </a:pPr>
            <a:r>
              <a:rPr lang="en-US" sz="1800" dirty="0">
                <a:solidFill>
                  <a:srgbClr val="162947"/>
                </a:solidFill>
                <a:latin typeface="Cambria" pitchFamily="34" charset="0"/>
                <a:ea typeface="Cambria" pitchFamily="34" charset="-122"/>
                <a:cs typeface="Cambria" pitchFamily="34" charset="-120"/>
              </a:rPr>
              <a:t>How the balance shifts</a:t>
            </a:r>
            <a:endParaRPr lang="en-US" sz="1800" dirty="0"/>
          </a:p>
        </p:txBody>
      </p:sp>
      <p:sp>
        <p:nvSpPr>
          <p:cNvPr id="34" name="Shape 32"/>
          <p:cNvSpPr/>
          <p:nvPr/>
        </p:nvSpPr>
        <p:spPr>
          <a:xfrm>
            <a:off x="685800" y="3749040"/>
            <a:ext cx="3502152" cy="1170432"/>
          </a:xfrm>
          <a:prstGeom prst="roundRect">
            <a:avLst>
              <a:gd name="adj" fmla="val 3125"/>
            </a:avLst>
          </a:prstGeom>
          <a:solidFill>
            <a:srgbClr val="FFFFFF"/>
          </a:solidFill>
          <a:ln w="9525">
            <a:solidFill>
              <a:srgbClr val="E3DFD5"/>
            </a:solidFill>
            <a:prstDash val="solid"/>
          </a:ln>
        </p:spPr>
      </p:sp>
      <p:sp>
        <p:nvSpPr>
          <p:cNvPr id="35" name="Text 33"/>
          <p:cNvSpPr txBox="1"/>
          <p:nvPr/>
        </p:nvSpPr>
        <p:spPr>
          <a:xfrm>
            <a:off x="9418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1 and 2</a:t>
            </a:r>
            <a:endParaRPr lang="en-US" sz="1100" dirty="0"/>
          </a:p>
        </p:txBody>
      </p:sp>
      <p:sp>
        <p:nvSpPr>
          <p:cNvPr id="36" name="Text 34"/>
          <p:cNvSpPr txBox="1"/>
          <p:nvPr/>
        </p:nvSpPr>
        <p:spPr>
          <a:xfrm>
            <a:off x="9418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Teaching led by the baseline paper</a:t>
            </a:r>
            <a:endParaRPr lang="en-US" sz="1150" dirty="0"/>
          </a:p>
        </p:txBody>
      </p:sp>
      <p:sp>
        <p:nvSpPr>
          <p:cNvPr id="37" name="Text 35"/>
          <p:cNvSpPr txBox="1"/>
          <p:nvPr/>
        </p:nvSpPr>
        <p:spPr>
          <a:xfrm>
            <a:off x="9418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Timed work is the opening hour.</a:t>
            </a:r>
            <a:endParaRPr lang="en-US" sz="1000" dirty="0"/>
          </a:p>
        </p:txBody>
      </p:sp>
      <p:sp>
        <p:nvSpPr>
          <p:cNvPr id="38" name="Shape 36"/>
          <p:cNvSpPr/>
          <p:nvPr/>
        </p:nvSpPr>
        <p:spPr>
          <a:xfrm>
            <a:off x="4343400" y="3749040"/>
            <a:ext cx="3502152" cy="1170432"/>
          </a:xfrm>
          <a:prstGeom prst="roundRect">
            <a:avLst>
              <a:gd name="adj" fmla="val 3125"/>
            </a:avLst>
          </a:prstGeom>
          <a:solidFill>
            <a:srgbClr val="FFFFFF"/>
          </a:solidFill>
          <a:ln w="9525">
            <a:solidFill>
              <a:srgbClr val="E3DFD5"/>
            </a:solidFill>
            <a:prstDash val="solid"/>
          </a:ln>
        </p:spPr>
      </p:sp>
      <p:sp>
        <p:nvSpPr>
          <p:cNvPr id="39" name="Text 37"/>
          <p:cNvSpPr txBox="1"/>
          <p:nvPr/>
        </p:nvSpPr>
        <p:spPr>
          <a:xfrm>
            <a:off x="45994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Weeks 3 to 5</a:t>
            </a:r>
            <a:endParaRPr lang="en-US" sz="1100" dirty="0"/>
          </a:p>
        </p:txBody>
      </p:sp>
      <p:sp>
        <p:nvSpPr>
          <p:cNvPr id="40" name="Text 38"/>
          <p:cNvSpPr txBox="1"/>
          <p:nvPr/>
        </p:nvSpPr>
        <p:spPr>
          <a:xfrm>
            <a:off x="45994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Each session built from that week's paper</a:t>
            </a:r>
            <a:endParaRPr lang="en-US" sz="1150" dirty="0"/>
          </a:p>
        </p:txBody>
      </p:sp>
      <p:sp>
        <p:nvSpPr>
          <p:cNvPr id="41" name="Text 39"/>
          <p:cNvSpPr txBox="1"/>
          <p:nvPr/>
        </p:nvSpPr>
        <p:spPr>
          <a:xfrm>
            <a:off x="45994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Timed work grows to the full two hours.</a:t>
            </a:r>
            <a:endParaRPr lang="en-US" sz="1000" dirty="0"/>
          </a:p>
        </p:txBody>
      </p:sp>
      <p:sp>
        <p:nvSpPr>
          <p:cNvPr id="42" name="Shape 40"/>
          <p:cNvSpPr/>
          <p:nvPr/>
        </p:nvSpPr>
        <p:spPr>
          <a:xfrm>
            <a:off x="8001000" y="3749040"/>
            <a:ext cx="3502152" cy="1170432"/>
          </a:xfrm>
          <a:prstGeom prst="roundRect">
            <a:avLst>
              <a:gd name="adj" fmla="val 3125"/>
            </a:avLst>
          </a:prstGeom>
          <a:solidFill>
            <a:srgbClr val="FFFFFF"/>
          </a:solidFill>
          <a:ln w="9525">
            <a:solidFill>
              <a:srgbClr val="E3DFD5"/>
            </a:solidFill>
            <a:prstDash val="solid"/>
          </a:ln>
        </p:spPr>
      </p:sp>
      <p:sp>
        <p:nvSpPr>
          <p:cNvPr id="43" name="Text 41"/>
          <p:cNvSpPr txBox="1"/>
          <p:nvPr/>
        </p:nvSpPr>
        <p:spPr>
          <a:xfrm>
            <a:off x="8257032" y="3913632"/>
            <a:ext cx="3017520" cy="237744"/>
          </a:xfrm>
          <a:prstGeom prst="rect">
            <a:avLst/>
          </a:prstGeom>
          <a:noFill/>
          <a:ln/>
        </p:spPr>
        <p:txBody>
          <a:bodyPr wrap="square" lIns="0" tIns="0" rIns="0" bIns="0" rtlCol="0" anchor="ctr"/>
          <a:lstStyle/>
          <a:p>
            <a:pPr indent="0" marL="0">
              <a:buNone/>
            </a:pPr>
            <a:r>
              <a:rPr lang="en-US" sz="1100" b="1" spc="120" kern="0" dirty="0">
                <a:solidFill>
                  <a:srgbClr val="C3A965"/>
                </a:solidFill>
                <a:latin typeface="Arial" pitchFamily="34" charset="0"/>
                <a:ea typeface="Arial" pitchFamily="34" charset="-122"/>
                <a:cs typeface="Arial" pitchFamily="34" charset="-120"/>
              </a:rPr>
              <a:t>Week 6</a:t>
            </a:r>
            <a:endParaRPr lang="en-US" sz="1100" dirty="0"/>
          </a:p>
        </p:txBody>
      </p:sp>
      <p:sp>
        <p:nvSpPr>
          <p:cNvPr id="44" name="Text 42"/>
          <p:cNvSpPr txBox="1"/>
          <p:nvPr/>
        </p:nvSpPr>
        <p:spPr>
          <a:xfrm>
            <a:off x="8257032" y="4169664"/>
            <a:ext cx="3017520" cy="402336"/>
          </a:xfrm>
          <a:prstGeom prst="rect">
            <a:avLst/>
          </a:prstGeom>
          <a:noFill/>
          <a:ln/>
        </p:spPr>
        <p:txBody>
          <a:bodyPr wrap="square" lIns="0" tIns="0" rIns="0" bIns="0" rtlCol="0" anchor="t"/>
          <a:lstStyle/>
          <a:p>
            <a:pPr indent="0" marL="0">
              <a:lnSpc>
                <a:spcPts val="1500"/>
              </a:lnSpc>
              <a:buNone/>
            </a:pPr>
            <a:r>
              <a:rPr lang="en-US" sz="1150" b="1" dirty="0">
                <a:solidFill>
                  <a:srgbClr val="162947"/>
                </a:solidFill>
                <a:latin typeface="Arial" pitchFamily="34" charset="0"/>
                <a:ea typeface="Arial" pitchFamily="34" charset="-122"/>
                <a:cs typeface="Arial" pitchFamily="34" charset="-120"/>
              </a:rPr>
              <a:t>Two full papers, no new content</a:t>
            </a:r>
            <a:endParaRPr lang="en-US" sz="1150" dirty="0"/>
          </a:p>
        </p:txBody>
      </p:sp>
      <p:sp>
        <p:nvSpPr>
          <p:cNvPr id="45" name="Text 43"/>
          <p:cNvSpPr txBox="1"/>
          <p:nvPr/>
        </p:nvSpPr>
        <p:spPr>
          <a:xfrm>
            <a:off x="8257032" y="4572000"/>
            <a:ext cx="3017520" cy="256032"/>
          </a:xfrm>
          <a:prstGeom prst="rect">
            <a:avLst/>
          </a:prstGeom>
          <a:noFill/>
          <a:ln/>
        </p:spPr>
        <p:txBody>
          <a:bodyPr wrap="square" lIns="0" tIns="0" rIns="0" bIns="0" rtlCol="0" anchor="ctr"/>
          <a:lstStyle/>
          <a:p>
            <a:pPr indent="0" marL="0">
              <a:buNone/>
            </a:pPr>
            <a:r>
              <a:rPr lang="en-US" sz="1000" dirty="0">
                <a:solidFill>
                  <a:srgbClr val="5D6471"/>
                </a:solidFill>
                <a:latin typeface="Arial" pitchFamily="34" charset="0"/>
                <a:ea typeface="Arial" pitchFamily="34" charset="-122"/>
                <a:cs typeface="Arial" pitchFamily="34" charset="-120"/>
              </a:rPr>
              <a:t>Both marked and reviewed in session.</a:t>
            </a:r>
            <a:endParaRPr lang="en-US" sz="1000" dirty="0"/>
          </a:p>
        </p:txBody>
      </p:sp>
      <p:sp>
        <p:nvSpPr>
          <p:cNvPr id="46" name="Shape 44"/>
          <p:cNvSpPr/>
          <p:nvPr/>
        </p:nvSpPr>
        <p:spPr>
          <a:xfrm>
            <a:off x="685800" y="5138928"/>
            <a:ext cx="10817352" cy="987552"/>
          </a:xfrm>
          <a:prstGeom prst="roundRect">
            <a:avLst>
              <a:gd name="adj" fmla="val 3704"/>
            </a:avLst>
          </a:prstGeom>
          <a:solidFill>
            <a:srgbClr val="EFEBE1"/>
          </a:solidFill>
          <a:ln/>
        </p:spPr>
      </p:sp>
      <p:sp>
        <p:nvSpPr>
          <p:cNvPr id="47" name="Text 45"/>
          <p:cNvSpPr txBox="1"/>
          <p:nvPr/>
        </p:nvSpPr>
        <p:spPr>
          <a:xfrm>
            <a:off x="1005840" y="5321808"/>
            <a:ext cx="10149840" cy="256032"/>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A timed paper every week from week 1, and two in week 6.</a:t>
            </a:r>
            <a:endParaRPr lang="en-US" sz="1200" dirty="0"/>
          </a:p>
        </p:txBody>
      </p:sp>
      <p:sp>
        <p:nvSpPr>
          <p:cNvPr id="48" name="Text 46"/>
          <p:cNvSpPr txBox="1"/>
          <p:nvPr/>
        </p:nvSpPr>
        <p:spPr>
          <a:xfrm>
            <a:off x="1005840" y="5614416"/>
            <a:ext cx="10149840" cy="274320"/>
          </a:xfrm>
          <a:prstGeom prst="rect">
            <a:avLst/>
          </a:prstGeom>
          <a:noFill/>
          <a:ln/>
        </p:spPr>
        <p:txBody>
          <a:bodyPr wrap="square" lIns="0" tIns="0" rIns="0" bIns="0" rtlCol="0" anchor="ctr"/>
          <a:lstStyle/>
          <a:p>
            <a:pPr indent="0" marL="0">
              <a:buNone/>
            </a:pPr>
            <a:r>
              <a:rPr lang="en-US" sz="1100" dirty="0">
                <a:solidFill>
                  <a:srgbClr val="5D6471"/>
                </a:solidFill>
                <a:latin typeface="Arial" pitchFamily="34" charset="0"/>
                <a:ea typeface="Arial" pitchFamily="34" charset="-122"/>
                <a:cs typeface="Arial" pitchFamily="34" charset="-120"/>
              </a:rPr>
              <a:t>Seven timed pieces in six weeks. Each one is marked and turned into the next session, so the teaching follows the marks she is actually losing.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PAST PAPERS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A timed paper every week</a:t>
            </a:r>
            <a:endParaRPr lang="en-US" sz="3300" dirty="0"/>
          </a:p>
        </p:txBody>
      </p:sp>
      <p:sp>
        <p:nvSpPr>
          <p:cNvPr id="4" name="Text 2"/>
          <p:cNvSpPr txBox="1"/>
          <p:nvPr/>
        </p:nvSpPr>
        <p:spPr>
          <a:xfrm>
            <a:off x="685800" y="1463040"/>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Charlotte has been taught this course once already, so the papers are the main teaching tool here, not only the measurement.</a:t>
            </a:r>
            <a:endParaRPr lang="en-US" sz="1250" dirty="0"/>
          </a:p>
        </p:txBody>
      </p:sp>
      <p:sp>
        <p:nvSpPr>
          <p:cNvPr id="5" name="Shape 3"/>
          <p:cNvSpPr/>
          <p:nvPr/>
        </p:nvSpPr>
        <p:spPr>
          <a:xfrm>
            <a:off x="685800" y="1847088"/>
            <a:ext cx="5212080" cy="2724912"/>
          </a:xfrm>
          <a:prstGeom prst="roundRect">
            <a:avLst>
              <a:gd name="adj" fmla="val 1342"/>
            </a:avLst>
          </a:prstGeom>
          <a:solidFill>
            <a:srgbClr val="FFFFFF"/>
          </a:solidFill>
          <a:ln w="9525">
            <a:solidFill>
              <a:srgbClr val="C3A965"/>
            </a:solidFill>
            <a:prstDash val="solid"/>
          </a:ln>
        </p:spPr>
      </p:sp>
      <p:sp>
        <p:nvSpPr>
          <p:cNvPr id="6" name="Text 4"/>
          <p:cNvSpPr txBox="1"/>
          <p:nvPr/>
        </p:nvSpPr>
        <p:spPr>
          <a:xfrm>
            <a:off x="1005840" y="2011680"/>
            <a:ext cx="4572000" cy="310896"/>
          </a:xfrm>
          <a:prstGeom prst="rect">
            <a:avLst/>
          </a:prstGeom>
          <a:noFill/>
          <a:ln/>
        </p:spPr>
        <p:txBody>
          <a:bodyPr wrap="square" lIns="0" tIns="0" rIns="0" bIns="0" rtlCol="0" anchor="t"/>
          <a:lstStyle/>
          <a:p>
            <a:pPr indent="0" marL="0">
              <a:buNone/>
            </a:pPr>
            <a:r>
              <a:rPr lang="en-US" sz="2000" dirty="0">
                <a:solidFill>
                  <a:srgbClr val="162947"/>
                </a:solidFill>
                <a:latin typeface="Cambria" pitchFamily="34" charset="0"/>
                <a:ea typeface="Cambria" pitchFamily="34" charset="-122"/>
                <a:cs typeface="Cambria" pitchFamily="34" charset="-120"/>
              </a:rPr>
              <a:t>The schedule</a:t>
            </a:r>
            <a:endParaRPr lang="en-US" sz="2000" dirty="0"/>
          </a:p>
        </p:txBody>
      </p:sp>
      <p:sp>
        <p:nvSpPr>
          <p:cNvPr id="7" name="Text 5"/>
          <p:cNvSpPr txBox="1"/>
          <p:nvPr/>
        </p:nvSpPr>
        <p:spPr>
          <a:xfrm>
            <a:off x="1005840" y="2414016"/>
            <a:ext cx="914400" cy="219456"/>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1</a:t>
            </a:r>
            <a:endParaRPr lang="en-US" sz="950" dirty="0"/>
          </a:p>
        </p:txBody>
      </p:sp>
      <p:sp>
        <p:nvSpPr>
          <p:cNvPr id="8" name="Text 6"/>
          <p:cNvSpPr txBox="1"/>
          <p:nvPr/>
        </p:nvSpPr>
        <p:spPr>
          <a:xfrm>
            <a:off x="1965960" y="2395728"/>
            <a:ext cx="3611880" cy="256032"/>
          </a:xfrm>
          <a:prstGeom prst="rect">
            <a:avLst/>
          </a:prstGeom>
          <a:noFill/>
          <a:ln/>
        </p:spPr>
        <p:txBody>
          <a:bodyPr wrap="square" lIns="0" tIns="0" rIns="0" bIns="0" rtlCol="0" anchor="t"/>
          <a:lstStyle/>
          <a:p>
            <a:pPr indent="0" marL="0">
              <a:buNone/>
            </a:pPr>
            <a:r>
              <a:rPr lang="en-US" sz="1150" dirty="0">
                <a:solidFill>
                  <a:srgbClr val="162947"/>
                </a:solidFill>
                <a:latin typeface="Arial" pitchFamily="34" charset="0"/>
                <a:ea typeface="Arial" pitchFamily="34" charset="-122"/>
                <a:cs typeface="Arial" pitchFamily="34" charset="-120"/>
              </a:rPr>
              <a:t>Full paper, timed, as the baseline</a:t>
            </a:r>
            <a:endParaRPr lang="en-US" sz="1150" dirty="0"/>
          </a:p>
        </p:txBody>
      </p:sp>
      <p:sp>
        <p:nvSpPr>
          <p:cNvPr id="9" name="Text 7"/>
          <p:cNvSpPr txBox="1"/>
          <p:nvPr/>
        </p:nvSpPr>
        <p:spPr>
          <a:xfrm>
            <a:off x="1005840" y="2715768"/>
            <a:ext cx="914400" cy="219456"/>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2</a:t>
            </a:r>
            <a:endParaRPr lang="en-US" sz="950" dirty="0"/>
          </a:p>
        </p:txBody>
      </p:sp>
      <p:sp>
        <p:nvSpPr>
          <p:cNvPr id="10" name="Text 8"/>
          <p:cNvSpPr txBox="1"/>
          <p:nvPr/>
        </p:nvSpPr>
        <p:spPr>
          <a:xfrm>
            <a:off x="1965960" y="2697480"/>
            <a:ext cx="3611880" cy="256032"/>
          </a:xfrm>
          <a:prstGeom prst="rect">
            <a:avLst/>
          </a:prstGeom>
          <a:noFill/>
          <a:ln/>
        </p:spPr>
        <p:txBody>
          <a:bodyPr wrap="square" lIns="0" tIns="0" rIns="0" bIns="0" rtlCol="0" anchor="t"/>
          <a:lstStyle/>
          <a:p>
            <a:pPr indent="0" marL="0">
              <a:buNone/>
            </a:pPr>
            <a:r>
              <a:rPr lang="en-US" sz="1150" dirty="0">
                <a:solidFill>
                  <a:srgbClr val="162947"/>
                </a:solidFill>
                <a:latin typeface="Arial" pitchFamily="34" charset="0"/>
                <a:ea typeface="Arial" pitchFamily="34" charset="-122"/>
                <a:cs typeface="Arial" pitchFamily="34" charset="-120"/>
              </a:rPr>
              <a:t>First hour of a paper, timed</a:t>
            </a:r>
            <a:endParaRPr lang="en-US" sz="1150" dirty="0"/>
          </a:p>
        </p:txBody>
      </p:sp>
      <p:sp>
        <p:nvSpPr>
          <p:cNvPr id="11" name="Text 9"/>
          <p:cNvSpPr txBox="1"/>
          <p:nvPr/>
        </p:nvSpPr>
        <p:spPr>
          <a:xfrm>
            <a:off x="1005840" y="3017520"/>
            <a:ext cx="914400" cy="219456"/>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3</a:t>
            </a:r>
            <a:endParaRPr lang="en-US" sz="950" dirty="0"/>
          </a:p>
        </p:txBody>
      </p:sp>
      <p:sp>
        <p:nvSpPr>
          <p:cNvPr id="12" name="Text 10"/>
          <p:cNvSpPr txBox="1"/>
          <p:nvPr/>
        </p:nvSpPr>
        <p:spPr>
          <a:xfrm>
            <a:off x="1965960" y="2999232"/>
            <a:ext cx="3611880" cy="256032"/>
          </a:xfrm>
          <a:prstGeom prst="rect">
            <a:avLst/>
          </a:prstGeom>
          <a:noFill/>
          <a:ln/>
        </p:spPr>
        <p:txBody>
          <a:bodyPr wrap="square" lIns="0" tIns="0" rIns="0" bIns="0" rtlCol="0" anchor="t"/>
          <a:lstStyle/>
          <a:p>
            <a:pPr indent="0" marL="0">
              <a:buNone/>
            </a:pPr>
            <a:r>
              <a:rPr lang="en-US" sz="1150" dirty="0">
                <a:solidFill>
                  <a:srgbClr val="162947"/>
                </a:solidFill>
                <a:latin typeface="Arial" pitchFamily="34" charset="0"/>
                <a:ea typeface="Arial" pitchFamily="34" charset="-122"/>
                <a:cs typeface="Arial" pitchFamily="34" charset="-120"/>
              </a:rPr>
              <a:t>First hour of a paper, timed</a:t>
            </a:r>
            <a:endParaRPr lang="en-US" sz="1150" dirty="0"/>
          </a:p>
        </p:txBody>
      </p:sp>
      <p:sp>
        <p:nvSpPr>
          <p:cNvPr id="13" name="Text 11"/>
          <p:cNvSpPr txBox="1"/>
          <p:nvPr/>
        </p:nvSpPr>
        <p:spPr>
          <a:xfrm>
            <a:off x="1005840" y="3319272"/>
            <a:ext cx="914400" cy="219456"/>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4</a:t>
            </a:r>
            <a:endParaRPr lang="en-US" sz="950" dirty="0"/>
          </a:p>
        </p:txBody>
      </p:sp>
      <p:sp>
        <p:nvSpPr>
          <p:cNvPr id="14" name="Text 12"/>
          <p:cNvSpPr txBox="1"/>
          <p:nvPr/>
        </p:nvSpPr>
        <p:spPr>
          <a:xfrm>
            <a:off x="1965960" y="3300984"/>
            <a:ext cx="3611880" cy="256032"/>
          </a:xfrm>
          <a:prstGeom prst="rect">
            <a:avLst/>
          </a:prstGeom>
          <a:noFill/>
          <a:ln/>
        </p:spPr>
        <p:txBody>
          <a:bodyPr wrap="square" lIns="0" tIns="0" rIns="0" bIns="0" rtlCol="0" anchor="t"/>
          <a:lstStyle/>
          <a:p>
            <a:pPr indent="0" marL="0">
              <a:buNone/>
            </a:pPr>
            <a:r>
              <a:rPr lang="en-US" sz="1150" dirty="0">
                <a:solidFill>
                  <a:srgbClr val="162947"/>
                </a:solidFill>
                <a:latin typeface="Arial" pitchFamily="34" charset="0"/>
                <a:ea typeface="Arial" pitchFamily="34" charset="-122"/>
                <a:cs typeface="Arial" pitchFamily="34" charset="-120"/>
              </a:rPr>
              <a:t>Full paper, exam conditions</a:t>
            </a:r>
            <a:endParaRPr lang="en-US" sz="1150" dirty="0"/>
          </a:p>
        </p:txBody>
      </p:sp>
      <p:sp>
        <p:nvSpPr>
          <p:cNvPr id="15" name="Text 13"/>
          <p:cNvSpPr txBox="1"/>
          <p:nvPr/>
        </p:nvSpPr>
        <p:spPr>
          <a:xfrm>
            <a:off x="1005840" y="3621024"/>
            <a:ext cx="914400" cy="219456"/>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5</a:t>
            </a:r>
            <a:endParaRPr lang="en-US" sz="950" dirty="0"/>
          </a:p>
        </p:txBody>
      </p:sp>
      <p:sp>
        <p:nvSpPr>
          <p:cNvPr id="16" name="Text 14"/>
          <p:cNvSpPr txBox="1"/>
          <p:nvPr/>
        </p:nvSpPr>
        <p:spPr>
          <a:xfrm>
            <a:off x="1965960" y="3602736"/>
            <a:ext cx="3611880" cy="256032"/>
          </a:xfrm>
          <a:prstGeom prst="rect">
            <a:avLst/>
          </a:prstGeom>
          <a:noFill/>
          <a:ln/>
        </p:spPr>
        <p:txBody>
          <a:bodyPr wrap="square" lIns="0" tIns="0" rIns="0" bIns="0" rtlCol="0" anchor="t"/>
          <a:lstStyle/>
          <a:p>
            <a:pPr indent="0" marL="0">
              <a:buNone/>
            </a:pPr>
            <a:r>
              <a:rPr lang="en-US" sz="1150" dirty="0">
                <a:solidFill>
                  <a:srgbClr val="162947"/>
                </a:solidFill>
                <a:latin typeface="Arial" pitchFamily="34" charset="0"/>
                <a:ea typeface="Arial" pitchFamily="34" charset="-122"/>
                <a:cs typeface="Arial" pitchFamily="34" charset="-120"/>
              </a:rPr>
              <a:t>Full paper, exam conditions</a:t>
            </a:r>
            <a:endParaRPr lang="en-US" sz="1150" dirty="0"/>
          </a:p>
        </p:txBody>
      </p:sp>
      <p:sp>
        <p:nvSpPr>
          <p:cNvPr id="17" name="Text 15"/>
          <p:cNvSpPr txBox="1"/>
          <p:nvPr/>
        </p:nvSpPr>
        <p:spPr>
          <a:xfrm>
            <a:off x="1005840" y="3922776"/>
            <a:ext cx="914400" cy="219456"/>
          </a:xfrm>
          <a:prstGeom prst="rect">
            <a:avLst/>
          </a:prstGeom>
          <a:noFill/>
          <a:ln/>
        </p:spPr>
        <p:txBody>
          <a:bodyPr wrap="square" lIns="0" tIns="0" rIns="0" bIns="0" rtlCol="0" anchor="ctr"/>
          <a:lstStyle/>
          <a:p>
            <a:pPr indent="0" marL="0">
              <a:buNone/>
            </a:pPr>
            <a:r>
              <a:rPr lang="en-US" sz="950" b="1" spc="120" kern="0" dirty="0">
                <a:solidFill>
                  <a:srgbClr val="C3A965"/>
                </a:solidFill>
                <a:latin typeface="Arial" pitchFamily="34" charset="0"/>
                <a:ea typeface="Arial" pitchFamily="34" charset="-122"/>
                <a:cs typeface="Arial" pitchFamily="34" charset="-120"/>
              </a:rPr>
              <a:t>WEEK 6</a:t>
            </a:r>
            <a:endParaRPr lang="en-US" sz="950" dirty="0"/>
          </a:p>
        </p:txBody>
      </p:sp>
      <p:sp>
        <p:nvSpPr>
          <p:cNvPr id="18" name="Text 16"/>
          <p:cNvSpPr txBox="1"/>
          <p:nvPr/>
        </p:nvSpPr>
        <p:spPr>
          <a:xfrm>
            <a:off x="1965960" y="3904488"/>
            <a:ext cx="3611880" cy="256032"/>
          </a:xfrm>
          <a:prstGeom prst="rect">
            <a:avLst/>
          </a:prstGeom>
          <a:noFill/>
          <a:ln/>
        </p:spPr>
        <p:txBody>
          <a:bodyPr wrap="square" lIns="0" tIns="0" rIns="0" bIns="0" rtlCol="0" anchor="t"/>
          <a:lstStyle/>
          <a:p>
            <a:pPr indent="0" marL="0">
              <a:buNone/>
            </a:pPr>
            <a:r>
              <a:rPr lang="en-US" sz="1150" dirty="0">
                <a:solidFill>
                  <a:srgbClr val="162947"/>
                </a:solidFill>
                <a:latin typeface="Arial" pitchFamily="34" charset="0"/>
                <a:ea typeface="Arial" pitchFamily="34" charset="-122"/>
                <a:cs typeface="Arial" pitchFamily="34" charset="-120"/>
              </a:rPr>
              <a:t>Two full papers</a:t>
            </a:r>
            <a:endParaRPr lang="en-US" sz="1150" dirty="0"/>
          </a:p>
        </p:txBody>
      </p:sp>
      <p:sp>
        <p:nvSpPr>
          <p:cNvPr id="19" name="Text 17"/>
          <p:cNvSpPr txBox="1"/>
          <p:nvPr/>
        </p:nvSpPr>
        <p:spPr>
          <a:xfrm>
            <a:off x="1005840" y="4206240"/>
            <a:ext cx="4572000" cy="256032"/>
          </a:xfrm>
          <a:prstGeom prst="rect">
            <a:avLst/>
          </a:prstGeom>
          <a:noFill/>
          <a:ln/>
        </p:spPr>
        <p:txBody>
          <a:bodyPr wrap="square" lIns="0" tIns="0" rIns="0" bIns="0" rtlCol="0" anchor="t"/>
          <a:lstStyle/>
          <a:p>
            <a:pPr indent="0" marL="0">
              <a:lnSpc>
                <a:spcPts val="1300"/>
              </a:lnSpc>
              <a:buNone/>
            </a:pPr>
            <a:r>
              <a:rPr lang="en-US" sz="950" dirty="0">
                <a:solidFill>
                  <a:srgbClr val="5D6471"/>
                </a:solidFill>
                <a:latin typeface="Arial" pitchFamily="34" charset="0"/>
                <a:ea typeface="Arial" pitchFamily="34" charset="-122"/>
                <a:cs typeface="Arial" pitchFamily="34" charset="-120"/>
              </a:rPr>
              <a:t>Seven timed pieces, five of them full papers. About 18 hours with marking.</a:t>
            </a:r>
            <a:endParaRPr lang="en-US" sz="950" dirty="0"/>
          </a:p>
        </p:txBody>
      </p:sp>
      <p:sp>
        <p:nvSpPr>
          <p:cNvPr id="20" name="Shape 18"/>
          <p:cNvSpPr/>
          <p:nvPr/>
        </p:nvSpPr>
        <p:spPr>
          <a:xfrm>
            <a:off x="6291072" y="1847088"/>
            <a:ext cx="5212080" cy="2724912"/>
          </a:xfrm>
          <a:prstGeom prst="roundRect">
            <a:avLst>
              <a:gd name="adj" fmla="val 1342"/>
            </a:avLst>
          </a:prstGeom>
          <a:solidFill>
            <a:srgbClr val="162947"/>
          </a:solidFill>
          <a:ln/>
        </p:spPr>
      </p:sp>
      <p:sp>
        <p:nvSpPr>
          <p:cNvPr id="21" name="Text 19"/>
          <p:cNvSpPr txBox="1"/>
          <p:nvPr/>
        </p:nvSpPr>
        <p:spPr>
          <a:xfrm>
            <a:off x="6611112" y="2011680"/>
            <a:ext cx="4572000" cy="310896"/>
          </a:xfrm>
          <a:prstGeom prst="rect">
            <a:avLst/>
          </a:prstGeom>
          <a:noFill/>
          <a:ln/>
        </p:spPr>
        <p:txBody>
          <a:bodyPr wrap="square" lIns="0" tIns="0" rIns="0" bIns="0" rtlCol="0" anchor="t"/>
          <a:lstStyle/>
          <a:p>
            <a:pPr indent="0" marL="0">
              <a:buNone/>
            </a:pPr>
            <a:r>
              <a:rPr lang="en-US" sz="2000" dirty="0">
                <a:solidFill>
                  <a:srgbClr val="F6F4EF"/>
                </a:solidFill>
                <a:latin typeface="Cambria" pitchFamily="34" charset="0"/>
                <a:ea typeface="Cambria" pitchFamily="34" charset="-122"/>
                <a:cs typeface="Cambria" pitchFamily="34" charset="-120"/>
              </a:rPr>
              <a:t>What happens to each one</a:t>
            </a:r>
            <a:endParaRPr lang="en-US" sz="2000" dirty="0"/>
          </a:p>
        </p:txBody>
      </p:sp>
      <p:sp>
        <p:nvSpPr>
          <p:cNvPr id="22" name="Text 20"/>
          <p:cNvSpPr txBox="1"/>
          <p:nvPr/>
        </p:nvSpPr>
        <p:spPr>
          <a:xfrm>
            <a:off x="6611112" y="2468880"/>
            <a:ext cx="4572000" cy="164592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E8E4DA"/>
                </a:solidFill>
                <a:latin typeface="Arial" pitchFamily="34" charset="0"/>
                <a:ea typeface="Arial" pitchFamily="34" charset="-122"/>
                <a:cs typeface="Arial" pitchFamily="34" charset="-120"/>
              </a:rPr>
              <a:t>Charlotte marks it against the published mark scheme</a:t>
            </a:r>
            <a:endParaRPr lang="en-US" sz="1100" dirty="0"/>
          </a:p>
          <a:p>
            <a:pPr marL="177800" indent="-177800">
              <a:lnSpc>
                <a:spcPts val="1342"/>
              </a:lnSpc>
              <a:spcAft>
                <a:spcPts val="500"/>
              </a:spcAft>
              <a:buSzPct val="100000"/>
              <a:buChar char="•"/>
            </a:pPr>
            <a:r>
              <a:rPr lang="en-US" sz="1100" dirty="0">
                <a:solidFill>
                  <a:srgbClr val="E8E4DA"/>
                </a:solidFill>
                <a:latin typeface="Arial" pitchFamily="34" charset="0"/>
                <a:ea typeface="Arial" pitchFamily="34" charset="-122"/>
                <a:cs typeface="Arial" pitchFamily="34" charset="-120"/>
              </a:rPr>
              <a:t>The losses are listed, largest first</a:t>
            </a:r>
            <a:endParaRPr lang="en-US" sz="1100" dirty="0"/>
          </a:p>
          <a:p>
            <a:pPr marL="177800" indent="-177800">
              <a:lnSpc>
                <a:spcPts val="1342"/>
              </a:lnSpc>
              <a:spcAft>
                <a:spcPts val="500"/>
              </a:spcAft>
              <a:buSzPct val="100000"/>
              <a:buChar char="•"/>
            </a:pPr>
            <a:r>
              <a:rPr lang="en-US" sz="1100" dirty="0">
                <a:solidFill>
                  <a:srgbClr val="E8E4DA"/>
                </a:solidFill>
                <a:latin typeface="Arial" pitchFamily="34" charset="0"/>
                <a:ea typeface="Arial" pitchFamily="34" charset="-122"/>
                <a:cs typeface="Arial" pitchFamily="34" charset="-120"/>
              </a:rPr>
              <a:t>The next session teaches the losses inside her target band</a:t>
            </a:r>
            <a:endParaRPr lang="en-US" sz="1100" dirty="0"/>
          </a:p>
          <a:p>
            <a:pPr marL="177800" indent="-177800">
              <a:lnSpc>
                <a:spcPts val="1342"/>
              </a:lnSpc>
              <a:spcAft>
                <a:spcPts val="500"/>
              </a:spcAft>
              <a:buSzPct val="100000"/>
              <a:buChar char="•"/>
            </a:pPr>
            <a:r>
              <a:rPr lang="en-US" sz="1100" dirty="0">
                <a:solidFill>
                  <a:srgbClr val="E8E4DA"/>
                </a:solidFill>
                <a:latin typeface="Arial" pitchFamily="34" charset="0"/>
                <a:ea typeface="Arial" pitchFamily="34" charset="-122"/>
                <a:cs typeface="Arial" pitchFamily="34" charset="-120"/>
              </a:rPr>
              <a:t>Anything above the band is noted and left</a:t>
            </a:r>
            <a:endParaRPr lang="en-US" sz="1100" dirty="0"/>
          </a:p>
          <a:p>
            <a:pPr marL="177800" indent="-177800">
              <a:lnSpc>
                <a:spcPts val="1342"/>
              </a:lnSpc>
              <a:spcAft>
                <a:spcPts val="500"/>
              </a:spcAft>
              <a:buSzPct val="100000"/>
              <a:buChar char="•"/>
            </a:pPr>
            <a:r>
              <a:rPr lang="en-US" sz="1100" dirty="0">
                <a:solidFill>
                  <a:srgbClr val="E8E4DA"/>
                </a:solidFill>
                <a:latin typeface="Arial" pitchFamily="34" charset="0"/>
                <a:ea typeface="Arial" pitchFamily="34" charset="-122"/>
                <a:cs typeface="Arial" pitchFamily="34" charset="-120"/>
              </a:rPr>
              <a:t>Repeated errors go into the error log</a:t>
            </a:r>
            <a:endParaRPr lang="en-US" sz="1100" dirty="0"/>
          </a:p>
          <a:p>
            <a:pPr marL="177800" indent="-177800">
              <a:lnSpc>
                <a:spcPts val="1342"/>
              </a:lnSpc>
              <a:spcAft>
                <a:spcPts val="500"/>
              </a:spcAft>
              <a:buSzPct val="100000"/>
              <a:buChar char="•"/>
            </a:pPr>
            <a:r>
              <a:rPr lang="en-US" sz="1100" dirty="0">
                <a:solidFill>
                  <a:srgbClr val="E8E4DA"/>
                </a:solidFill>
                <a:latin typeface="Arial" pitchFamily="34" charset="0"/>
                <a:ea typeface="Arial" pitchFamily="34" charset="-122"/>
                <a:cs typeface="Arial" pitchFamily="34" charset="-120"/>
              </a:rPr>
              <a:t>Topic questions fill the gaps between papers</a:t>
            </a:r>
            <a:endParaRPr lang="en-US" sz="1100" dirty="0"/>
          </a:p>
        </p:txBody>
      </p:sp>
      <p:sp>
        <p:nvSpPr>
          <p:cNvPr id="23" name="Shape 21"/>
          <p:cNvSpPr/>
          <p:nvPr/>
        </p:nvSpPr>
        <p:spPr>
          <a:xfrm>
            <a:off x="685800" y="4754880"/>
            <a:ext cx="10817352" cy="1371600"/>
          </a:xfrm>
          <a:prstGeom prst="roundRect">
            <a:avLst>
              <a:gd name="adj" fmla="val 2667"/>
            </a:avLst>
          </a:prstGeom>
          <a:solidFill>
            <a:srgbClr val="EFEBE1"/>
          </a:solidFill>
          <a:ln/>
        </p:spPr>
      </p:sp>
      <p:sp>
        <p:nvSpPr>
          <p:cNvPr id="24" name="Text 22"/>
          <p:cNvSpPr txBox="1"/>
          <p:nvPr/>
        </p:nvSpPr>
        <p:spPr>
          <a:xfrm>
            <a:off x="100584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WHY THE FIRST HOUR IN WEEKS 2 AND 3</a:t>
            </a:r>
            <a:endParaRPr lang="en-US" sz="900" dirty="0"/>
          </a:p>
        </p:txBody>
      </p:sp>
      <p:sp>
        <p:nvSpPr>
          <p:cNvPr id="25" name="Text 23"/>
          <p:cNvSpPr txBox="1"/>
          <p:nvPr/>
        </p:nvSpPr>
        <p:spPr>
          <a:xfrm>
            <a:off x="100584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Questions on a Higher paper rise in difficulty, so most of the grade 4 and 5 marks sit in the opening hour. Early on that hour is worth more to her than the full two, and it is far less discouraging.</a:t>
            </a:r>
            <a:endParaRPr lang="en-US" sz="1050" dirty="0"/>
          </a:p>
        </p:txBody>
      </p:sp>
      <p:sp>
        <p:nvSpPr>
          <p:cNvPr id="26" name="Text 24"/>
          <p:cNvSpPr txBox="1"/>
          <p:nvPr/>
        </p:nvSpPr>
        <p:spPr>
          <a:xfrm>
            <a:off x="6400800" y="4919472"/>
            <a:ext cx="484632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IF THE BASELINE COMES IN VERY LOW</a:t>
            </a:r>
            <a:endParaRPr lang="en-US" sz="900" dirty="0"/>
          </a:p>
        </p:txBody>
      </p:sp>
      <p:sp>
        <p:nvSpPr>
          <p:cNvPr id="27" name="Text 25"/>
          <p:cNvSpPr txBox="1"/>
          <p:nvPr/>
        </p:nvSpPr>
        <p:spPr>
          <a:xfrm>
            <a:off x="6400800" y="5175504"/>
            <a:ext cx="4846320" cy="804672"/>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Under 15 out of 100 in week 1 and the timed hours in weeks 2 and 3 come out, with topic questions in their place until week 4. We would know that within a fortnight.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1 AND 2</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Starting with the foundations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  ·  21 to 27 Sep</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Baseline and setup</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Fluency audit: 35 questions, 50 minutes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Calculator setup: fraction key, ANS and STO, standard form, table mode, degree mode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The formula sheet: what is provided, so no time goes on learning it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Method marks: how working earns marks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Setting up the error log</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Practice four days: negatives inside algebra.</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Full baseline paper, timed, reviewed in session two</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2  ·  28 Sep to 4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Number</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Fractions: all four operations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Percentage multipliers, increase and decrease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Reverse percentages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Standard form and index laws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One method per topic, used every time</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Practice four days: negatives and fractions.</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First hour of a past paper, timed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3 AND 4</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Algebra, then the data topics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  ·  5 to 11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Algebra</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Collecting terms and expanding brackets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Solving with x on both sides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Substitution and rearranging formulae</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Linear simultaneous equations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Audit repeated (checkpoint 1)</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Practice four days: fractions and percentages.</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First hour of a past paper, timed, two-pass rule applied</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4  ·  12 to 18 Oct</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Ratio, data and graphs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Ratio and proportion by the unitary method</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Averages and frequency tables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Estimated mean from grouped data</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Probability, tree diagrams and Venn diagrams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Sequences and straight-line graphs</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Practice four days: solving and ratio.</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Full paper, 2 hours, exam conditions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WEEKS 5 AND 6</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Shape, then papers</a:t>
            </a:r>
            <a:endParaRPr lang="en-US" sz="3300" dirty="0"/>
          </a:p>
        </p:txBody>
      </p:sp>
      <p:sp>
        <p:nvSpPr>
          <p:cNvPr id="4" name="Shape 2"/>
          <p:cNvSpPr/>
          <p:nvPr/>
        </p:nvSpPr>
        <p:spPr>
          <a:xfrm>
            <a:off x="685800" y="1572768"/>
            <a:ext cx="5212080" cy="4553712"/>
          </a:xfrm>
          <a:prstGeom prst="roundRect">
            <a:avLst>
              <a:gd name="adj" fmla="val 803"/>
            </a:avLst>
          </a:prstGeom>
          <a:solidFill>
            <a:srgbClr val="FFFFFF"/>
          </a:solidFill>
          <a:ln w="9525">
            <a:solidFill>
              <a:srgbClr val="E3DFD5"/>
            </a:solidFill>
            <a:prstDash val="solid"/>
          </a:ln>
        </p:spPr>
      </p:sp>
      <p:sp>
        <p:nvSpPr>
          <p:cNvPr id="5" name="Shape 3"/>
          <p:cNvSpPr/>
          <p:nvPr/>
        </p:nvSpPr>
        <p:spPr>
          <a:xfrm>
            <a:off x="1005840" y="1810512"/>
            <a:ext cx="420624" cy="420624"/>
          </a:xfrm>
          <a:prstGeom prst="ellipse">
            <a:avLst/>
          </a:prstGeom>
          <a:solidFill>
            <a:srgbClr val="162947"/>
          </a:solidFill>
          <a:ln/>
        </p:spPr>
      </p:sp>
      <p:sp>
        <p:nvSpPr>
          <p:cNvPr id="6" name="Text 4"/>
          <p:cNvSpPr txBox="1"/>
          <p:nvPr/>
        </p:nvSpPr>
        <p:spPr>
          <a:xfrm>
            <a:off x="1005840"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7" name="Text 5"/>
          <p:cNvSpPr txBox="1"/>
          <p:nvPr/>
        </p:nvSpPr>
        <p:spPr>
          <a:xfrm>
            <a:off x="1554480"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  ·  19 to 25 Oct</a:t>
            </a:r>
            <a:endParaRPr lang="en-US" sz="950" dirty="0"/>
          </a:p>
        </p:txBody>
      </p:sp>
      <p:sp>
        <p:nvSpPr>
          <p:cNvPr id="8" name="Text 6"/>
          <p:cNvSpPr txBox="1"/>
          <p:nvPr/>
        </p:nvSpPr>
        <p:spPr>
          <a:xfrm>
            <a:off x="1554480"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Shape and space</a:t>
            </a:r>
            <a:endParaRPr lang="en-US" sz="2000" dirty="0"/>
          </a:p>
        </p:txBody>
      </p:sp>
      <p:sp>
        <p:nvSpPr>
          <p:cNvPr id="9" name="Text 7"/>
          <p:cNvSpPr txBox="1"/>
          <p:nvPr/>
        </p:nvSpPr>
        <p:spPr>
          <a:xfrm>
            <a:off x="1005840"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Angle facts, area and perimeter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Circles, prisms and cylinders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Pythagoras and right-angled trigonometry</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Similar shapes: area and volume ratios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Audit repeated (checkpoint 2)</a:t>
            </a:r>
            <a:endParaRPr lang="en-US" sz="1150" dirty="0"/>
          </a:p>
        </p:txBody>
      </p:sp>
      <p:sp>
        <p:nvSpPr>
          <p:cNvPr id="10" name="Shape 8"/>
          <p:cNvSpPr/>
          <p:nvPr/>
        </p:nvSpPr>
        <p:spPr>
          <a:xfrm>
            <a:off x="1005840" y="4443984"/>
            <a:ext cx="4572000" cy="0"/>
          </a:xfrm>
          <a:prstGeom prst="line">
            <a:avLst/>
          </a:prstGeom>
          <a:noFill/>
          <a:ln w="9525">
            <a:solidFill>
              <a:srgbClr val="E3DFD5"/>
            </a:solidFill>
            <a:prstDash val="solid"/>
          </a:ln>
        </p:spPr>
      </p:sp>
      <p:sp>
        <p:nvSpPr>
          <p:cNvPr id="11" name="Text 9"/>
          <p:cNvSpPr txBox="1"/>
          <p:nvPr/>
        </p:nvSpPr>
        <p:spPr>
          <a:xfrm>
            <a:off x="1005840"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12" name="Text 10"/>
          <p:cNvSpPr txBox="1"/>
          <p:nvPr/>
        </p:nvSpPr>
        <p:spPr>
          <a:xfrm>
            <a:off x="1005840"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Practice four days: all six target skills, mixed.</a:t>
            </a:r>
            <a:endParaRPr lang="en-US" sz="1100" dirty="0"/>
          </a:p>
        </p:txBody>
      </p:sp>
      <p:sp>
        <p:nvSpPr>
          <p:cNvPr id="13" name="Text 11"/>
          <p:cNvSpPr txBox="1"/>
          <p:nvPr/>
        </p:nvSpPr>
        <p:spPr>
          <a:xfrm>
            <a:off x="1005840"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14" name="Text 12"/>
          <p:cNvSpPr txBox="1"/>
          <p:nvPr/>
        </p:nvSpPr>
        <p:spPr>
          <a:xfrm>
            <a:off x="1005840"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Full paper, 2 hours, exam conditions</a:t>
            </a:r>
            <a:endParaRPr lang="en-US" sz="1100" dirty="0"/>
          </a:p>
        </p:txBody>
      </p:sp>
      <p:sp>
        <p:nvSpPr>
          <p:cNvPr id="15" name="Shape 13"/>
          <p:cNvSpPr/>
          <p:nvPr/>
        </p:nvSpPr>
        <p:spPr>
          <a:xfrm>
            <a:off x="6291072" y="1572768"/>
            <a:ext cx="5212080" cy="4553712"/>
          </a:xfrm>
          <a:prstGeom prst="roundRect">
            <a:avLst>
              <a:gd name="adj" fmla="val 803"/>
            </a:avLst>
          </a:prstGeom>
          <a:solidFill>
            <a:srgbClr val="FFFFFF"/>
          </a:solidFill>
          <a:ln w="9525">
            <a:solidFill>
              <a:srgbClr val="E3DFD5"/>
            </a:solidFill>
            <a:prstDash val="solid"/>
          </a:ln>
        </p:spPr>
      </p:sp>
      <p:sp>
        <p:nvSpPr>
          <p:cNvPr id="16" name="Shape 14"/>
          <p:cNvSpPr/>
          <p:nvPr/>
        </p:nvSpPr>
        <p:spPr>
          <a:xfrm>
            <a:off x="6611112" y="1810512"/>
            <a:ext cx="420624" cy="420624"/>
          </a:xfrm>
          <a:prstGeom prst="ellipse">
            <a:avLst/>
          </a:prstGeom>
          <a:solidFill>
            <a:srgbClr val="162947"/>
          </a:solidFill>
          <a:ln/>
        </p:spPr>
      </p:sp>
      <p:sp>
        <p:nvSpPr>
          <p:cNvPr id="17" name="Text 15"/>
          <p:cNvSpPr txBox="1"/>
          <p:nvPr/>
        </p:nvSpPr>
        <p:spPr>
          <a:xfrm>
            <a:off x="6611112" y="1810512"/>
            <a:ext cx="420624" cy="420624"/>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6</a:t>
            </a:r>
            <a:endParaRPr lang="en-US" sz="1500" dirty="0"/>
          </a:p>
        </p:txBody>
      </p:sp>
      <p:sp>
        <p:nvSpPr>
          <p:cNvPr id="18" name="Text 16"/>
          <p:cNvSpPr txBox="1"/>
          <p:nvPr/>
        </p:nvSpPr>
        <p:spPr>
          <a:xfrm>
            <a:off x="7159752" y="1828800"/>
            <a:ext cx="411480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  ·  26 Oct to 1 Nov</a:t>
            </a:r>
            <a:endParaRPr lang="en-US" sz="950" dirty="0"/>
          </a:p>
        </p:txBody>
      </p:sp>
      <p:sp>
        <p:nvSpPr>
          <p:cNvPr id="19" name="Text 17"/>
          <p:cNvSpPr txBox="1"/>
          <p:nvPr/>
        </p:nvSpPr>
        <p:spPr>
          <a:xfrm>
            <a:off x="7159752" y="2048256"/>
            <a:ext cx="4114800" cy="310896"/>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Papers</a:t>
            </a:r>
            <a:endParaRPr lang="en-US" sz="2000" dirty="0"/>
          </a:p>
        </p:txBody>
      </p:sp>
      <p:sp>
        <p:nvSpPr>
          <p:cNvPr id="20" name="Text 18"/>
          <p:cNvSpPr txBox="1"/>
          <p:nvPr/>
        </p:nvSpPr>
        <p:spPr>
          <a:xfrm>
            <a:off x="6611112" y="2578608"/>
            <a:ext cx="4572000" cy="1371600"/>
          </a:xfrm>
          <a:prstGeom prst="rect">
            <a:avLst/>
          </a:prstGeom>
          <a:noFill/>
          <a:ln/>
        </p:spPr>
        <p:txBody>
          <a:bodyPr wrap="square" lIns="0" tIns="0" rIns="0" bIns="0" rtlCol="0" anchor="ctr"/>
          <a:lstStyle/>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Review and correct the week 5 paper</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Second full paper, then the five biggest losses</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Retrieval across the whole covered list</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Pacing and exam technique session</a:t>
            </a:r>
            <a:endParaRPr lang="en-US" sz="1150" dirty="0"/>
          </a:p>
          <a:p>
            <a:pPr marL="177800" indent="-177800">
              <a:lnSpc>
                <a:spcPts val="1403"/>
              </a:lnSpc>
              <a:spcAft>
                <a:spcPts val="500"/>
              </a:spcAft>
              <a:buSzPct val="100000"/>
              <a:buChar char="•"/>
            </a:pPr>
            <a:r>
              <a:rPr lang="en-US" sz="1150" dirty="0">
                <a:solidFill>
                  <a:srgbClr val="5D6471"/>
                </a:solidFill>
                <a:latin typeface="Arial" pitchFamily="34" charset="0"/>
                <a:ea typeface="Arial" pitchFamily="34" charset="-122"/>
                <a:cs typeface="Arial" pitchFamily="34" charset="-120"/>
              </a:rPr>
              <a:t>No new content after 25 October</a:t>
            </a:r>
            <a:endParaRPr lang="en-US" sz="1150" dirty="0"/>
          </a:p>
        </p:txBody>
      </p:sp>
      <p:sp>
        <p:nvSpPr>
          <p:cNvPr id="21" name="Shape 19"/>
          <p:cNvSpPr/>
          <p:nvPr/>
        </p:nvSpPr>
        <p:spPr>
          <a:xfrm>
            <a:off x="6611112" y="4443984"/>
            <a:ext cx="4572000" cy="0"/>
          </a:xfrm>
          <a:prstGeom prst="line">
            <a:avLst/>
          </a:prstGeom>
          <a:noFill/>
          <a:ln w="9525">
            <a:solidFill>
              <a:srgbClr val="E3DFD5"/>
            </a:solidFill>
            <a:prstDash val="solid"/>
          </a:ln>
        </p:spPr>
      </p:sp>
      <p:sp>
        <p:nvSpPr>
          <p:cNvPr id="22" name="Text 20"/>
          <p:cNvSpPr txBox="1"/>
          <p:nvPr/>
        </p:nvSpPr>
        <p:spPr>
          <a:xfrm>
            <a:off x="6611112" y="4572000"/>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AT HOME</a:t>
            </a:r>
            <a:endParaRPr lang="en-US" sz="850" dirty="0"/>
          </a:p>
        </p:txBody>
      </p:sp>
      <p:sp>
        <p:nvSpPr>
          <p:cNvPr id="23" name="Text 21"/>
          <p:cNvSpPr txBox="1"/>
          <p:nvPr/>
        </p:nvSpPr>
        <p:spPr>
          <a:xfrm>
            <a:off x="6611112" y="4754880"/>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Practice four days: from the error log.</a:t>
            </a:r>
            <a:endParaRPr lang="en-US" sz="1100" dirty="0"/>
          </a:p>
        </p:txBody>
      </p:sp>
      <p:sp>
        <p:nvSpPr>
          <p:cNvPr id="24" name="Text 22"/>
          <p:cNvSpPr txBox="1"/>
          <p:nvPr/>
        </p:nvSpPr>
        <p:spPr>
          <a:xfrm>
            <a:off x="6611112" y="5340096"/>
            <a:ext cx="4572000" cy="182880"/>
          </a:xfrm>
          <a:prstGeom prst="rect">
            <a:avLst/>
          </a:prstGeom>
          <a:noFill/>
          <a:ln/>
        </p:spPr>
        <p:txBody>
          <a:bodyPr wrap="square" lIns="0" tIns="0" rIns="0" bIns="0" rtlCol="0" anchor="ctr"/>
          <a:lstStyle/>
          <a:p>
            <a:pPr indent="0" marL="0">
              <a:buNone/>
            </a:pPr>
            <a:r>
              <a:rPr lang="en-US" sz="850" b="1" spc="180" kern="0" dirty="0">
                <a:solidFill>
                  <a:srgbClr val="9AA0A8"/>
                </a:solidFill>
                <a:latin typeface="Arial" pitchFamily="34" charset="0"/>
                <a:ea typeface="Arial" pitchFamily="34" charset="-122"/>
                <a:cs typeface="Arial" pitchFamily="34" charset="-120"/>
              </a:rPr>
              <a:t>PAPER WORK</a:t>
            </a:r>
            <a:endParaRPr lang="en-US" sz="850" dirty="0"/>
          </a:p>
        </p:txBody>
      </p:sp>
      <p:sp>
        <p:nvSpPr>
          <p:cNvPr id="25" name="Text 23"/>
          <p:cNvSpPr txBox="1"/>
          <p:nvPr/>
        </p:nvSpPr>
        <p:spPr>
          <a:xfrm>
            <a:off x="6611112" y="5522976"/>
            <a:ext cx="4572000" cy="566928"/>
          </a:xfrm>
          <a:prstGeom prst="rect">
            <a:avLst/>
          </a:prstGeom>
          <a:noFill/>
          <a:ln/>
        </p:spPr>
        <p:txBody>
          <a:bodyPr wrap="square" lIns="0" tIns="0" rIns="0" bIns="0" rtlCol="0" anchor="t"/>
          <a:lstStyle/>
          <a:p>
            <a:pPr indent="0" marL="0">
              <a:lnSpc>
                <a:spcPts val="1450"/>
              </a:lnSpc>
              <a:buNone/>
            </a:pPr>
            <a:r>
              <a:rPr lang="en-US" sz="1100" b="1" dirty="0">
                <a:solidFill>
                  <a:srgbClr val="C3A965"/>
                </a:solidFill>
                <a:latin typeface="Arial" pitchFamily="34" charset="0"/>
                <a:ea typeface="Arial" pitchFamily="34" charset="-122"/>
                <a:cs typeface="Arial" pitchFamily="34" charset="-120"/>
              </a:rPr>
              <a:t>Two full papers, marked and reviewed in session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EXAM WEEK</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2 to 6 November</a:t>
            </a:r>
            <a:endParaRPr lang="en-US" sz="3300" dirty="0"/>
          </a:p>
        </p:txBody>
      </p:sp>
      <p:sp>
        <p:nvSpPr>
          <p:cNvPr id="4" name="Shape 2"/>
          <p:cNvSpPr/>
          <p:nvPr/>
        </p:nvSpPr>
        <p:spPr>
          <a:xfrm>
            <a:off x="685800" y="1645920"/>
            <a:ext cx="2587752" cy="3794760"/>
          </a:xfrm>
          <a:prstGeom prst="roundRect">
            <a:avLst>
              <a:gd name="adj" fmla="val 1413"/>
            </a:avLst>
          </a:prstGeom>
          <a:solidFill>
            <a:srgbClr val="FFFFFF"/>
          </a:solidFill>
          <a:ln w="9525">
            <a:solidFill>
              <a:srgbClr val="E3DFD5"/>
            </a:solidFill>
            <a:prstDash val="solid"/>
          </a:ln>
        </p:spPr>
      </p:sp>
      <p:sp>
        <p:nvSpPr>
          <p:cNvPr id="5" name="Text 3"/>
          <p:cNvSpPr txBox="1"/>
          <p:nvPr/>
        </p:nvSpPr>
        <p:spPr>
          <a:xfrm>
            <a:off x="9418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MON 2 NOV</a:t>
            </a:r>
            <a:endParaRPr lang="en-US" sz="950" dirty="0"/>
          </a:p>
        </p:txBody>
      </p:sp>
      <p:sp>
        <p:nvSpPr>
          <p:cNvPr id="6" name="Text 4"/>
          <p:cNvSpPr txBox="1"/>
          <p:nvPr/>
        </p:nvSpPr>
        <p:spPr>
          <a:xfrm>
            <a:off x="9418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Last session</a:t>
            </a:r>
            <a:endParaRPr lang="en-US" sz="1900" dirty="0"/>
          </a:p>
        </p:txBody>
      </p:sp>
      <p:sp>
        <p:nvSpPr>
          <p:cNvPr id="7" name="Text 5"/>
          <p:cNvSpPr txBox="1"/>
          <p:nvPr/>
        </p:nvSpPr>
        <p:spPr>
          <a:xfrm>
            <a:off x="9418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new content. A run through everything covered, a pacing rehearsal and a calculator check, finishing on a topic Charlotte is confident with.</a:t>
            </a:r>
            <a:endParaRPr lang="en-US" sz="1100" dirty="0"/>
          </a:p>
        </p:txBody>
      </p:sp>
      <p:sp>
        <p:nvSpPr>
          <p:cNvPr id="8" name="Shape 6"/>
          <p:cNvSpPr/>
          <p:nvPr/>
        </p:nvSpPr>
        <p:spPr>
          <a:xfrm>
            <a:off x="3429000" y="1645920"/>
            <a:ext cx="2587752" cy="3794760"/>
          </a:xfrm>
          <a:prstGeom prst="roundRect">
            <a:avLst>
              <a:gd name="adj" fmla="val 1413"/>
            </a:avLst>
          </a:prstGeom>
          <a:solidFill>
            <a:srgbClr val="162947"/>
          </a:solidFill>
          <a:ln/>
        </p:spPr>
      </p:sp>
      <p:sp>
        <p:nvSpPr>
          <p:cNvPr id="9" name="Text 7"/>
          <p:cNvSpPr txBox="1"/>
          <p:nvPr/>
        </p:nvSpPr>
        <p:spPr>
          <a:xfrm>
            <a:off x="36850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WED 4 NOV</a:t>
            </a:r>
            <a:endParaRPr lang="en-US" sz="950" dirty="0"/>
          </a:p>
        </p:txBody>
      </p:sp>
      <p:sp>
        <p:nvSpPr>
          <p:cNvPr id="10" name="Text 8"/>
          <p:cNvSpPr txBox="1"/>
          <p:nvPr/>
        </p:nvSpPr>
        <p:spPr>
          <a:xfrm>
            <a:off x="36850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1H</a:t>
            </a:r>
            <a:endParaRPr lang="en-US" sz="1900" dirty="0"/>
          </a:p>
        </p:txBody>
      </p:sp>
      <p:sp>
        <p:nvSpPr>
          <p:cNvPr id="11" name="Text 9"/>
          <p:cNvSpPr txBox="1"/>
          <p:nvPr/>
        </p:nvSpPr>
        <p:spPr>
          <a:xfrm>
            <a:off x="36850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Two passes: the recognisable questions first, then back to anything flagged. The last ten minutes for checking.</a:t>
            </a:r>
            <a:endParaRPr lang="en-US" sz="1100" dirty="0"/>
          </a:p>
        </p:txBody>
      </p:sp>
      <p:sp>
        <p:nvSpPr>
          <p:cNvPr id="12" name="Shape 10"/>
          <p:cNvSpPr/>
          <p:nvPr/>
        </p:nvSpPr>
        <p:spPr>
          <a:xfrm>
            <a:off x="6172200" y="1645920"/>
            <a:ext cx="2587752" cy="3794760"/>
          </a:xfrm>
          <a:prstGeom prst="roundRect">
            <a:avLst>
              <a:gd name="adj" fmla="val 1413"/>
            </a:avLst>
          </a:prstGeom>
          <a:solidFill>
            <a:srgbClr val="FFFFFF"/>
          </a:solidFill>
          <a:ln w="9525">
            <a:solidFill>
              <a:srgbClr val="E3DFD5"/>
            </a:solidFill>
            <a:prstDash val="solid"/>
          </a:ln>
        </p:spPr>
      </p:sp>
      <p:sp>
        <p:nvSpPr>
          <p:cNvPr id="13" name="Text 11"/>
          <p:cNvSpPr txBox="1"/>
          <p:nvPr/>
        </p:nvSpPr>
        <p:spPr>
          <a:xfrm>
            <a:off x="64282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THU 5 NOV</a:t>
            </a:r>
            <a:endParaRPr lang="en-US" sz="950" dirty="0"/>
          </a:p>
        </p:txBody>
      </p:sp>
      <p:sp>
        <p:nvSpPr>
          <p:cNvPr id="14" name="Text 12"/>
          <p:cNvSpPr txBox="1"/>
          <p:nvPr/>
        </p:nvSpPr>
        <p:spPr>
          <a:xfrm>
            <a:off x="6428232" y="2103120"/>
            <a:ext cx="2103120" cy="310896"/>
          </a:xfrm>
          <a:prstGeom prst="rect">
            <a:avLst/>
          </a:prstGeom>
          <a:noFill/>
          <a:ln/>
        </p:spPr>
        <p:txBody>
          <a:bodyPr wrap="square" lIns="0" tIns="0" rIns="0" bIns="0" rtlCol="0" anchor="ctr"/>
          <a:lstStyle/>
          <a:p>
            <a:pPr indent="0" marL="0">
              <a:buNone/>
            </a:pPr>
            <a:r>
              <a:rPr lang="en-US" sz="1900" dirty="0">
                <a:solidFill>
                  <a:srgbClr val="162947"/>
                </a:solidFill>
                <a:latin typeface="Cambria" pitchFamily="34" charset="0"/>
                <a:ea typeface="Cambria" pitchFamily="34" charset="-122"/>
                <a:cs typeface="Cambria" pitchFamily="34" charset="-120"/>
              </a:rPr>
              <a:t>The day between</a:t>
            </a:r>
            <a:endParaRPr lang="en-US" sz="1900" dirty="0"/>
          </a:p>
        </p:txBody>
      </p:sp>
      <p:sp>
        <p:nvSpPr>
          <p:cNvPr id="15" name="Text 13"/>
          <p:cNvSpPr txBox="1"/>
          <p:nvPr/>
        </p:nvSpPr>
        <p:spPr>
          <a:xfrm>
            <a:off x="64282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No full review of the paper. We go back to the questions Charlotte started and left, where a mark is often one line away, then cover the two or three topics she could not begin.</a:t>
            </a:r>
            <a:endParaRPr lang="en-US" sz="1100" dirty="0"/>
          </a:p>
        </p:txBody>
      </p:sp>
      <p:sp>
        <p:nvSpPr>
          <p:cNvPr id="16" name="Shape 14"/>
          <p:cNvSpPr/>
          <p:nvPr/>
        </p:nvSpPr>
        <p:spPr>
          <a:xfrm>
            <a:off x="8915400" y="1645920"/>
            <a:ext cx="2587752" cy="3794760"/>
          </a:xfrm>
          <a:prstGeom prst="roundRect">
            <a:avLst>
              <a:gd name="adj" fmla="val 1413"/>
            </a:avLst>
          </a:prstGeom>
          <a:solidFill>
            <a:srgbClr val="162947"/>
          </a:solidFill>
          <a:ln/>
        </p:spPr>
      </p:sp>
      <p:sp>
        <p:nvSpPr>
          <p:cNvPr id="17" name="Text 15"/>
          <p:cNvSpPr txBox="1"/>
          <p:nvPr/>
        </p:nvSpPr>
        <p:spPr>
          <a:xfrm>
            <a:off x="9171432" y="1847088"/>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FRI 6 NOV</a:t>
            </a:r>
            <a:endParaRPr lang="en-US" sz="950" dirty="0"/>
          </a:p>
        </p:txBody>
      </p:sp>
      <p:sp>
        <p:nvSpPr>
          <p:cNvPr id="18" name="Text 16"/>
          <p:cNvSpPr txBox="1"/>
          <p:nvPr/>
        </p:nvSpPr>
        <p:spPr>
          <a:xfrm>
            <a:off x="9171432" y="2103120"/>
            <a:ext cx="2103120" cy="310896"/>
          </a:xfrm>
          <a:prstGeom prst="rect">
            <a:avLst/>
          </a:prstGeom>
          <a:noFill/>
          <a:ln/>
        </p:spPr>
        <p:txBody>
          <a:bodyPr wrap="square" lIns="0" tIns="0" rIns="0" bIns="0" rtlCol="0" anchor="ctr"/>
          <a:lstStyle/>
          <a:p>
            <a:pPr indent="0" marL="0">
              <a:buNone/>
            </a:pPr>
            <a:r>
              <a:rPr lang="en-US" sz="1900" dirty="0">
                <a:solidFill>
                  <a:srgbClr val="F6F4EF"/>
                </a:solidFill>
                <a:latin typeface="Cambria" pitchFamily="34" charset="0"/>
                <a:ea typeface="Cambria" pitchFamily="34" charset="-122"/>
                <a:cs typeface="Cambria" pitchFamily="34" charset="-120"/>
              </a:rPr>
              <a:t>Paper 2H</a:t>
            </a:r>
            <a:endParaRPr lang="en-US" sz="1900" dirty="0"/>
          </a:p>
        </p:txBody>
      </p:sp>
      <p:sp>
        <p:nvSpPr>
          <p:cNvPr id="19" name="Text 17"/>
          <p:cNvSpPr txBox="1"/>
          <p:nvPr/>
        </p:nvSpPr>
        <p:spPr>
          <a:xfrm>
            <a:off x="9171432" y="2578608"/>
            <a:ext cx="2103120" cy="265176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Morning, 2 hours, 100 marks. Same pacing. Both papers draw on the whole course, so topics from Wednesday will come up again.</a:t>
            </a:r>
            <a:endParaRPr lang="en-US" sz="1100" dirty="0"/>
          </a:p>
        </p:txBody>
      </p:sp>
      <p:sp>
        <p:nvSpPr>
          <p:cNvPr id="20" name="Shape 18"/>
          <p:cNvSpPr/>
          <p:nvPr/>
        </p:nvSpPr>
        <p:spPr>
          <a:xfrm>
            <a:off x="685800" y="5596128"/>
            <a:ext cx="10817352" cy="566928"/>
          </a:xfrm>
          <a:prstGeom prst="roundRect">
            <a:avLst>
              <a:gd name="adj" fmla="val 6452"/>
            </a:avLst>
          </a:prstGeom>
          <a:solidFill>
            <a:srgbClr val="EFEBE1"/>
          </a:solidFill>
          <a:ln/>
        </p:spPr>
      </p:sp>
      <p:sp>
        <p:nvSpPr>
          <p:cNvPr id="21" name="Text 19"/>
          <p:cNvSpPr txBox="1"/>
          <p:nvPr/>
        </p:nvSpPr>
        <p:spPr>
          <a:xfrm>
            <a:off x="1005840" y="5596128"/>
            <a:ext cx="10149840" cy="566928"/>
          </a:xfrm>
          <a:prstGeom prst="rect">
            <a:avLst/>
          </a:prstGeom>
          <a:noFill/>
          <a:ln/>
        </p:spPr>
        <p:txBody>
          <a:bodyPr wrap="square" lIns="0" tIns="0" rIns="0" bIns="0" rtlCol="0" anchor="ctr"/>
          <a:lstStyle/>
          <a:p>
            <a:pPr indent="0" marL="0">
              <a:buNone/>
            </a:pPr>
            <a:r>
              <a:rPr lang="en-US" sz="1200" b="1" dirty="0">
                <a:solidFill>
                  <a:srgbClr val="162947"/>
                </a:solidFill>
                <a:latin typeface="Arial" pitchFamily="34" charset="0"/>
                <a:ea typeface="Arial" pitchFamily="34" charset="-122"/>
                <a:cs typeface="Arial" pitchFamily="34" charset="-120"/>
              </a:rPr>
              <a:t>No new content after 25 October. The remaining time is for consolidation. Results are released to candidates on 21 January 2027.</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SCOPE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we cover, and what we leave out</a:t>
            </a:r>
            <a:endParaRPr lang="en-US" sz="3300" dirty="0"/>
          </a:p>
        </p:txBody>
      </p:sp>
      <p:sp>
        <p:nvSpPr>
          <p:cNvPr id="4" name="Shape 2"/>
          <p:cNvSpPr/>
          <p:nvPr/>
        </p:nvSpPr>
        <p:spPr>
          <a:xfrm>
            <a:off x="685800" y="1572768"/>
            <a:ext cx="5212080" cy="3822192"/>
          </a:xfrm>
          <a:prstGeom prst="roundRect">
            <a:avLst>
              <a:gd name="adj" fmla="val 957"/>
            </a:avLst>
          </a:prstGeom>
          <a:solidFill>
            <a:srgbClr val="FFFFFF"/>
          </a:solidFill>
          <a:ln w="9525">
            <a:solidFill>
              <a:srgbClr val="C3A965"/>
            </a:solidFill>
            <a:prstDash val="solid"/>
          </a:ln>
        </p:spPr>
      </p:sp>
      <p:sp>
        <p:nvSpPr>
          <p:cNvPr id="5" name="Shape 3"/>
          <p:cNvSpPr/>
          <p:nvPr/>
        </p:nvSpPr>
        <p:spPr>
          <a:xfrm>
            <a:off x="1005840" y="1792224"/>
            <a:ext cx="384048" cy="384048"/>
          </a:xfrm>
          <a:prstGeom prst="ellipse">
            <a:avLst/>
          </a:prstGeom>
          <a:solidFill>
            <a:srgbClr val="162947"/>
          </a:solidFill>
          <a:ln/>
        </p:spPr>
      </p:sp>
      <p:sp>
        <p:nvSpPr>
          <p:cNvPr id="6" name="Text 4"/>
          <p:cNvSpPr txBox="1"/>
          <p:nvPr/>
        </p:nvSpPr>
        <p:spPr>
          <a:xfrm>
            <a:off x="1005840" y="1792224"/>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a:t>
            </a:r>
            <a:endParaRPr lang="en-US" sz="1500" dirty="0"/>
          </a:p>
        </p:txBody>
      </p:sp>
      <p:sp>
        <p:nvSpPr>
          <p:cNvPr id="7" name="Text 5"/>
          <p:cNvSpPr txBox="1"/>
          <p:nvPr/>
        </p:nvSpPr>
        <p:spPr>
          <a:xfrm>
            <a:off x="1527048"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Covered</a:t>
            </a:r>
            <a:endParaRPr lang="en-US" sz="2000" dirty="0"/>
          </a:p>
        </p:txBody>
      </p:sp>
      <p:sp>
        <p:nvSpPr>
          <p:cNvPr id="8" name="Text 6"/>
          <p:cNvSpPr txBox="1"/>
          <p:nvPr/>
        </p:nvSpPr>
        <p:spPr>
          <a:xfrm>
            <a:off x="1005840" y="2249424"/>
            <a:ext cx="4572000" cy="420624"/>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About 105 marks sit in this list, comfortably above the target.</a:t>
            </a:r>
            <a:endParaRPr lang="en-US" sz="1050" dirty="0"/>
          </a:p>
        </p:txBody>
      </p:sp>
      <p:sp>
        <p:nvSpPr>
          <p:cNvPr id="9" name="Text 7"/>
          <p:cNvSpPr txBox="1"/>
          <p:nvPr/>
        </p:nvSpPr>
        <p:spPr>
          <a:xfrm>
            <a:off x="1005840" y="2743200"/>
            <a:ext cx="4572000" cy="246888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Fractions, decimals, percentages, reverse percentages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Negatives, indices, standard form, rounding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Ratio and proportion by the unitary method</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Solving, expanding, substituting, rearranging</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Linear simultaneous equations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Sequences and straight-line graphs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Angles, area, circles, prisms, Pythagoras, trigonometry</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Similar shapes: area and volume ratios</a:t>
            </a:r>
            <a:endParaRPr lang="en-US" sz="1100" dirty="0"/>
          </a:p>
          <a:p>
            <a:pPr marL="177800" indent="-177800">
              <a:lnSpc>
                <a:spcPts val="1342"/>
              </a:lnSpc>
              <a:spcAft>
                <a:spcPts val="500"/>
              </a:spcAft>
              <a:buSzPct val="100000"/>
              <a:buChar char="•"/>
            </a:pPr>
            <a:r>
              <a:rPr lang="en-US" sz="1100" dirty="0">
                <a:solidFill>
                  <a:srgbClr val="162947"/>
                </a:solidFill>
                <a:latin typeface="Arial" pitchFamily="34" charset="0"/>
                <a:ea typeface="Arial" pitchFamily="34" charset="-122"/>
                <a:cs typeface="Arial" pitchFamily="34" charset="-120"/>
              </a:rPr>
              <a:t>Averages, frequency tables, probability, Venn diagrams</a:t>
            </a:r>
            <a:endParaRPr lang="en-US" sz="1100" dirty="0"/>
          </a:p>
        </p:txBody>
      </p:sp>
      <p:sp>
        <p:nvSpPr>
          <p:cNvPr id="10" name="Shape 8"/>
          <p:cNvSpPr/>
          <p:nvPr/>
        </p:nvSpPr>
        <p:spPr>
          <a:xfrm>
            <a:off x="6291072" y="1572768"/>
            <a:ext cx="5212080" cy="3822192"/>
          </a:xfrm>
          <a:prstGeom prst="roundRect">
            <a:avLst>
              <a:gd name="adj" fmla="val 957"/>
            </a:avLst>
          </a:prstGeom>
          <a:solidFill>
            <a:srgbClr val="EFEBE1"/>
          </a:solidFill>
          <a:ln w="9525">
            <a:solidFill>
              <a:srgbClr val="E3DFD5"/>
            </a:solidFill>
            <a:prstDash val="solid"/>
          </a:ln>
        </p:spPr>
      </p:sp>
      <p:sp>
        <p:nvSpPr>
          <p:cNvPr id="11" name="Shape 9"/>
          <p:cNvSpPr/>
          <p:nvPr/>
        </p:nvSpPr>
        <p:spPr>
          <a:xfrm>
            <a:off x="6611112" y="1792224"/>
            <a:ext cx="384048" cy="384048"/>
          </a:xfrm>
          <a:prstGeom prst="ellipse">
            <a:avLst/>
          </a:prstGeom>
          <a:solidFill>
            <a:srgbClr val="C4C8CE"/>
          </a:solidFill>
          <a:ln/>
        </p:spPr>
      </p:sp>
      <p:sp>
        <p:nvSpPr>
          <p:cNvPr id="12" name="Text 10"/>
          <p:cNvSpPr txBox="1"/>
          <p:nvPr/>
        </p:nvSpPr>
        <p:spPr>
          <a:xfrm>
            <a:off x="6611112" y="1792224"/>
            <a:ext cx="384048" cy="384048"/>
          </a:xfrm>
          <a:prstGeom prst="rect">
            <a:avLst/>
          </a:prstGeom>
          <a:noFill/>
          <a:ln/>
        </p:spPr>
        <p:txBody>
          <a:bodyPr wrap="square" lIns="0" tIns="0" rIns="0" bIns="0" rtlCol="0" anchor="ctr"/>
          <a:lstStyle/>
          <a:p>
            <a:pPr algn="ctr" indent="0" marL="0">
              <a:buNone/>
            </a:pPr>
            <a:r>
              <a:rPr lang="en-US" sz="1500" b="1" dirty="0">
                <a:solidFill>
                  <a:srgbClr val="F6F4EF"/>
                </a:solidFill>
                <a:latin typeface="Cambria" pitchFamily="34" charset="0"/>
                <a:ea typeface="Cambria" pitchFamily="34" charset="-122"/>
                <a:cs typeface="Cambria" pitchFamily="34" charset="-120"/>
              </a:rPr>
              <a:t>✕</a:t>
            </a:r>
            <a:endParaRPr lang="en-US" sz="1500" dirty="0"/>
          </a:p>
        </p:txBody>
      </p:sp>
      <p:sp>
        <p:nvSpPr>
          <p:cNvPr id="13" name="Text 11"/>
          <p:cNvSpPr txBox="1"/>
          <p:nvPr/>
        </p:nvSpPr>
        <p:spPr>
          <a:xfrm>
            <a:off x="7132320" y="1801368"/>
            <a:ext cx="4114800" cy="329184"/>
          </a:xfrm>
          <a:prstGeom prst="rect">
            <a:avLst/>
          </a:prstGeom>
          <a:noFill/>
          <a:ln/>
        </p:spPr>
        <p:txBody>
          <a:bodyPr wrap="square" lIns="0" tIns="0" rIns="0" bIns="0" rtlCol="0" anchor="ctr"/>
          <a:lstStyle/>
          <a:p>
            <a:pPr indent="0" marL="0">
              <a:buNone/>
            </a:pPr>
            <a:r>
              <a:rPr lang="en-US" sz="2000" dirty="0">
                <a:solidFill>
                  <a:srgbClr val="162947"/>
                </a:solidFill>
                <a:latin typeface="Cambria" pitchFamily="34" charset="0"/>
                <a:ea typeface="Cambria" pitchFamily="34" charset="-122"/>
                <a:cs typeface="Cambria" pitchFamily="34" charset="-120"/>
              </a:rPr>
              <a:t>Left out</a:t>
            </a:r>
            <a:endParaRPr lang="en-US" sz="2000" dirty="0"/>
          </a:p>
        </p:txBody>
      </p:sp>
      <p:sp>
        <p:nvSpPr>
          <p:cNvPr id="14" name="Text 12"/>
          <p:cNvSpPr txBox="1"/>
          <p:nvPr/>
        </p:nvSpPr>
        <p:spPr>
          <a:xfrm>
            <a:off x="6611112" y="2249424"/>
            <a:ext cx="4572000" cy="420624"/>
          </a:xfrm>
          <a:prstGeom prst="rect">
            <a:avLst/>
          </a:prstGeom>
          <a:noFill/>
          <a:ln/>
        </p:spPr>
        <p:txBody>
          <a:bodyPr wrap="square" lIns="0" tIns="0" rIns="0" bIns="0" rtlCol="0" anchor="t"/>
          <a:lstStyle/>
          <a:p>
            <a:pPr indent="0" marL="0">
              <a:lnSpc>
                <a:spcPts val="1400"/>
              </a:lnSpc>
              <a:buNone/>
            </a:pPr>
            <a:r>
              <a:rPr lang="en-US" sz="1050" i="1" dirty="0">
                <a:solidFill>
                  <a:srgbClr val="5D6471"/>
                </a:solidFill>
                <a:latin typeface="Arial" pitchFamily="34" charset="0"/>
                <a:ea typeface="Arial" pitchFamily="34" charset="-122"/>
                <a:cs typeface="Arial" pitchFamily="34" charset="-120"/>
              </a:rPr>
              <a:t>Worth 60 to 80 marks, and unlikely to repay the time in six weeks.</a:t>
            </a:r>
            <a:endParaRPr lang="en-US" sz="1050" dirty="0"/>
          </a:p>
        </p:txBody>
      </p:sp>
      <p:sp>
        <p:nvSpPr>
          <p:cNvPr id="15" name="Text 13"/>
          <p:cNvSpPr txBox="1"/>
          <p:nvPr/>
        </p:nvSpPr>
        <p:spPr>
          <a:xfrm>
            <a:off x="6611112" y="2743200"/>
            <a:ext cx="4572000" cy="1920240"/>
          </a:xfrm>
          <a:prstGeom prst="rect">
            <a:avLst/>
          </a:prstGeom>
          <a:noFill/>
          <a:ln/>
        </p:spPr>
        <p:txBody>
          <a:bodyPr wrap="square" lIns="0" tIns="0" rIns="0" bIns="0" rtlCol="0" anchor="ctr"/>
          <a:lstStyle/>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Circle theorems and their proofs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Vectors and vector geometry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Histograms with unequal class widths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Algebraic fractions, functions, graph transformations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Surds, bounds, 3D trigonometry</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formula, sine and cosine rules</a:t>
            </a:r>
            <a:endParaRPr lang="en-US" sz="1100" dirty="0"/>
          </a:p>
          <a:p>
            <a:pPr marL="177800" indent="-177800">
              <a:lnSpc>
                <a:spcPts val="1342"/>
              </a:lnSpc>
              <a:spcAft>
                <a:spcPts val="500"/>
              </a:spcAft>
              <a:buSzPct val="100000"/>
              <a:buChar char="•"/>
            </a:pPr>
            <a:r>
              <a:rPr lang="en-US" sz="1100" dirty="0">
                <a:solidFill>
                  <a:srgbClr val="5D6471"/>
                </a:solidFill>
                <a:latin typeface="Arial" pitchFamily="34" charset="0"/>
                <a:ea typeface="Arial" pitchFamily="34" charset="-122"/>
                <a:cs typeface="Arial" pitchFamily="34" charset="-120"/>
              </a:rPr>
              <a:t>Quadratic simultaneous equations</a:t>
            </a:r>
            <a:endParaRPr lang="en-US" sz="1100" dirty="0"/>
          </a:p>
        </p:txBody>
      </p:sp>
      <p:sp>
        <p:nvSpPr>
          <p:cNvPr id="16" name="Shape 14"/>
          <p:cNvSpPr/>
          <p:nvPr/>
        </p:nvSpPr>
        <p:spPr>
          <a:xfrm>
            <a:off x="685800" y="5541264"/>
            <a:ext cx="10817352" cy="512064"/>
          </a:xfrm>
          <a:prstGeom prst="roundRect">
            <a:avLst>
              <a:gd name="adj" fmla="val 7143"/>
            </a:avLst>
          </a:prstGeom>
          <a:solidFill>
            <a:srgbClr val="162947"/>
          </a:solidFill>
          <a:ln/>
        </p:spPr>
      </p:sp>
      <p:sp>
        <p:nvSpPr>
          <p:cNvPr id="17" name="Text 15"/>
          <p:cNvSpPr txBox="1"/>
          <p:nvPr/>
        </p:nvSpPr>
        <p:spPr>
          <a:xfrm>
            <a:off x="1005840" y="5541264"/>
            <a:ext cx="10149840" cy="512064"/>
          </a:xfrm>
          <a:prstGeom prst="rect">
            <a:avLst/>
          </a:prstGeom>
          <a:noFill/>
          <a:ln/>
        </p:spPr>
        <p:txBody>
          <a:bodyPr wrap="square" lIns="0" tIns="0" rIns="0" bIns="0" rtlCol="0" anchor="ctr"/>
          <a:lstStyle/>
          <a:p>
            <a:pPr indent="0" marL="0">
              <a:buNone/>
            </a:pPr>
            <a:r>
              <a:rPr lang="en-US" sz="1150" dirty="0">
                <a:solidFill>
                  <a:srgbClr val="E8E4DA"/>
                </a:solidFill>
                <a:latin typeface="Arial" pitchFamily="34" charset="0"/>
                <a:ea typeface="Arial" pitchFamily="34" charset="-122"/>
                <a:cs typeface="Arial" pitchFamily="34" charset="-120"/>
              </a:rPr>
              <a:t>Charlotte will learn to recognise the topics on the right quickly and move past them, so the time goes to questions she can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TECHNIQUE</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Marks that do not need new content</a:t>
            </a:r>
            <a:endParaRPr lang="en-US" sz="3300" dirty="0"/>
          </a:p>
        </p:txBody>
      </p:sp>
      <p:sp>
        <p:nvSpPr>
          <p:cNvPr id="4" name="Text 2"/>
          <p:cNvSpPr txBox="1"/>
          <p:nvPr/>
        </p:nvSpPr>
        <p:spPr>
          <a:xfrm>
            <a:off x="685800" y="1481328"/>
            <a:ext cx="10424160" cy="310896"/>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Four habits, covered in week 1 and applied to every timed piece of work after it. At this level they are usually worth more than any single extra topic.</a:t>
            </a:r>
            <a:endParaRPr lang="en-US" sz="1250" dirty="0"/>
          </a:p>
        </p:txBody>
      </p:sp>
      <p:sp>
        <p:nvSpPr>
          <p:cNvPr id="5" name="Shape 3"/>
          <p:cNvSpPr/>
          <p:nvPr/>
        </p:nvSpPr>
        <p:spPr>
          <a:xfrm>
            <a:off x="685800" y="1965960"/>
            <a:ext cx="2587752" cy="3246120"/>
          </a:xfrm>
          <a:prstGeom prst="roundRect">
            <a:avLst>
              <a:gd name="adj" fmla="val 1413"/>
            </a:avLst>
          </a:prstGeom>
          <a:solidFill>
            <a:srgbClr val="162947"/>
          </a:solidFill>
          <a:ln/>
        </p:spPr>
      </p:sp>
      <p:sp>
        <p:nvSpPr>
          <p:cNvPr id="6" name="Text 4"/>
          <p:cNvSpPr txBox="1"/>
          <p:nvPr/>
        </p:nvSpPr>
        <p:spPr>
          <a:xfrm>
            <a:off x="9418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01</a:t>
            </a:r>
            <a:endParaRPr lang="en-US" sz="2800" dirty="0"/>
          </a:p>
        </p:txBody>
      </p:sp>
      <p:sp>
        <p:nvSpPr>
          <p:cNvPr id="7" name="Text 5"/>
          <p:cNvSpPr txBox="1"/>
          <p:nvPr/>
        </p:nvSpPr>
        <p:spPr>
          <a:xfrm>
            <a:off x="9418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F6F4EF"/>
                </a:solidFill>
                <a:latin typeface="Cambria" pitchFamily="34" charset="0"/>
                <a:ea typeface="Cambria" pitchFamily="34" charset="-122"/>
                <a:cs typeface="Cambria" pitchFamily="34" charset="-120"/>
              </a:rPr>
              <a:t>Method marks</a:t>
            </a:r>
            <a:endParaRPr lang="en-US" sz="1800" dirty="0"/>
          </a:p>
        </p:txBody>
      </p:sp>
      <p:sp>
        <p:nvSpPr>
          <p:cNvPr id="8" name="Text 6"/>
          <p:cNvSpPr txBox="1"/>
          <p:nvPr/>
        </p:nvSpPr>
        <p:spPr>
          <a:xfrm>
            <a:off x="9418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Working earns marks even when the final answer is wrong. Every question gets a substitution line and visible steps, and nothing is rubbed out.</a:t>
            </a:r>
            <a:endParaRPr lang="en-US" sz="1100" dirty="0"/>
          </a:p>
        </p:txBody>
      </p:sp>
      <p:sp>
        <p:nvSpPr>
          <p:cNvPr id="9" name="Shape 7"/>
          <p:cNvSpPr/>
          <p:nvPr/>
        </p:nvSpPr>
        <p:spPr>
          <a:xfrm>
            <a:off x="3429000" y="1965960"/>
            <a:ext cx="2587752" cy="3246120"/>
          </a:xfrm>
          <a:prstGeom prst="roundRect">
            <a:avLst>
              <a:gd name="adj" fmla="val 1413"/>
            </a:avLst>
          </a:prstGeom>
          <a:solidFill>
            <a:srgbClr val="FFFFFF"/>
          </a:solidFill>
          <a:ln w="9525">
            <a:solidFill>
              <a:srgbClr val="E3DFD5"/>
            </a:solidFill>
            <a:prstDash val="solid"/>
          </a:ln>
        </p:spPr>
      </p:sp>
      <p:sp>
        <p:nvSpPr>
          <p:cNvPr id="10" name="Text 8"/>
          <p:cNvSpPr txBox="1"/>
          <p:nvPr/>
        </p:nvSpPr>
        <p:spPr>
          <a:xfrm>
            <a:off x="36850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02</a:t>
            </a:r>
            <a:endParaRPr lang="en-US" sz="2800" dirty="0"/>
          </a:p>
        </p:txBody>
      </p:sp>
      <p:sp>
        <p:nvSpPr>
          <p:cNvPr id="11" name="Text 9"/>
          <p:cNvSpPr txBox="1"/>
          <p:nvPr/>
        </p:nvSpPr>
        <p:spPr>
          <a:xfrm>
            <a:off x="36850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162947"/>
                </a:solidFill>
                <a:latin typeface="Cambria" pitchFamily="34" charset="0"/>
                <a:ea typeface="Cambria" pitchFamily="34" charset="-122"/>
                <a:cs typeface="Cambria" pitchFamily="34" charset="-120"/>
              </a:rPr>
              <a:t>Always something written</a:t>
            </a:r>
            <a:endParaRPr lang="en-US" sz="1800" dirty="0"/>
          </a:p>
        </p:txBody>
      </p:sp>
      <p:sp>
        <p:nvSpPr>
          <p:cNvPr id="12" name="Text 10"/>
          <p:cNvSpPr txBox="1"/>
          <p:nvPr/>
        </p:nvSpPr>
        <p:spPr>
          <a:xfrm>
            <a:off x="36850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A correct first step scores, and a blank does not. Every question gets at least one line, including the ones we have left out.</a:t>
            </a:r>
            <a:endParaRPr lang="en-US" sz="1100" dirty="0"/>
          </a:p>
        </p:txBody>
      </p:sp>
      <p:sp>
        <p:nvSpPr>
          <p:cNvPr id="13" name="Shape 11"/>
          <p:cNvSpPr/>
          <p:nvPr/>
        </p:nvSpPr>
        <p:spPr>
          <a:xfrm>
            <a:off x="6172200" y="1965960"/>
            <a:ext cx="2587752" cy="3246120"/>
          </a:xfrm>
          <a:prstGeom prst="roundRect">
            <a:avLst>
              <a:gd name="adj" fmla="val 1413"/>
            </a:avLst>
          </a:prstGeom>
          <a:solidFill>
            <a:srgbClr val="162947"/>
          </a:solidFill>
          <a:ln/>
        </p:spPr>
      </p:sp>
      <p:sp>
        <p:nvSpPr>
          <p:cNvPr id="14" name="Text 12"/>
          <p:cNvSpPr txBox="1"/>
          <p:nvPr/>
        </p:nvSpPr>
        <p:spPr>
          <a:xfrm>
            <a:off x="64282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03</a:t>
            </a:r>
            <a:endParaRPr lang="en-US" sz="2800" dirty="0"/>
          </a:p>
        </p:txBody>
      </p:sp>
      <p:sp>
        <p:nvSpPr>
          <p:cNvPr id="15" name="Text 13"/>
          <p:cNvSpPr txBox="1"/>
          <p:nvPr/>
        </p:nvSpPr>
        <p:spPr>
          <a:xfrm>
            <a:off x="64282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F6F4EF"/>
                </a:solidFill>
                <a:latin typeface="Cambria" pitchFamily="34" charset="0"/>
                <a:ea typeface="Cambria" pitchFamily="34" charset="-122"/>
                <a:cs typeface="Cambria" pitchFamily="34" charset="-120"/>
              </a:rPr>
              <a:t>Two passes</a:t>
            </a:r>
            <a:endParaRPr lang="en-US" sz="1800" dirty="0"/>
          </a:p>
        </p:txBody>
      </p:sp>
      <p:sp>
        <p:nvSpPr>
          <p:cNvPr id="16" name="Text 14"/>
          <p:cNvSpPr txBox="1"/>
          <p:nvPr/>
        </p:nvSpPr>
        <p:spPr>
          <a:xfrm>
            <a:off x="64282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A8B2C2"/>
                </a:solidFill>
                <a:latin typeface="Arial" pitchFamily="34" charset="0"/>
                <a:ea typeface="Arial" pitchFamily="34" charset="-122"/>
                <a:cs typeface="Arial" pitchFamily="34" charset="-120"/>
              </a:rPr>
              <a:t>The recognisable questions first, then back to anything flagged. Practised on every timed paper from week 1, so it is automatic by November.</a:t>
            </a:r>
            <a:endParaRPr lang="en-US" sz="1100" dirty="0"/>
          </a:p>
        </p:txBody>
      </p:sp>
      <p:sp>
        <p:nvSpPr>
          <p:cNvPr id="17" name="Shape 15"/>
          <p:cNvSpPr/>
          <p:nvPr/>
        </p:nvSpPr>
        <p:spPr>
          <a:xfrm>
            <a:off x="8915400" y="1965960"/>
            <a:ext cx="2587752" cy="3246120"/>
          </a:xfrm>
          <a:prstGeom prst="roundRect">
            <a:avLst>
              <a:gd name="adj" fmla="val 1413"/>
            </a:avLst>
          </a:prstGeom>
          <a:solidFill>
            <a:srgbClr val="FFFFFF"/>
          </a:solidFill>
          <a:ln w="9525">
            <a:solidFill>
              <a:srgbClr val="E3DFD5"/>
            </a:solidFill>
            <a:prstDash val="solid"/>
          </a:ln>
        </p:spPr>
      </p:sp>
      <p:sp>
        <p:nvSpPr>
          <p:cNvPr id="18" name="Text 16"/>
          <p:cNvSpPr txBox="1"/>
          <p:nvPr/>
        </p:nvSpPr>
        <p:spPr>
          <a:xfrm>
            <a:off x="9171432" y="2176272"/>
            <a:ext cx="1097280" cy="402336"/>
          </a:xfrm>
          <a:prstGeom prst="rect">
            <a:avLst/>
          </a:prstGeom>
          <a:noFill/>
          <a:ln/>
        </p:spPr>
        <p:txBody>
          <a:bodyPr wrap="square" lIns="0" tIns="0" rIns="0" bIns="0" rtlCol="0" anchor="ctr"/>
          <a:lstStyle/>
          <a:p>
            <a:pPr indent="0" marL="0">
              <a:buNone/>
            </a:pPr>
            <a:r>
              <a:rPr lang="en-US" sz="2800" dirty="0">
                <a:solidFill>
                  <a:srgbClr val="C3A965"/>
                </a:solidFill>
                <a:latin typeface="Cambria" pitchFamily="34" charset="0"/>
                <a:ea typeface="Cambria" pitchFamily="34" charset="-122"/>
                <a:cs typeface="Cambria" pitchFamily="34" charset="-120"/>
              </a:rPr>
              <a:t>04</a:t>
            </a:r>
            <a:endParaRPr lang="en-US" sz="2800" dirty="0"/>
          </a:p>
        </p:txBody>
      </p:sp>
      <p:sp>
        <p:nvSpPr>
          <p:cNvPr id="19" name="Text 17"/>
          <p:cNvSpPr txBox="1"/>
          <p:nvPr/>
        </p:nvSpPr>
        <p:spPr>
          <a:xfrm>
            <a:off x="9171432" y="2651760"/>
            <a:ext cx="2103120" cy="457200"/>
          </a:xfrm>
          <a:prstGeom prst="rect">
            <a:avLst/>
          </a:prstGeom>
          <a:noFill/>
          <a:ln/>
        </p:spPr>
        <p:txBody>
          <a:bodyPr wrap="square" lIns="0" tIns="0" rIns="0" bIns="0" rtlCol="0" anchor="t"/>
          <a:lstStyle/>
          <a:p>
            <a:pPr indent="0" marL="0">
              <a:lnSpc>
                <a:spcPts val="2100"/>
              </a:lnSpc>
              <a:buNone/>
            </a:pPr>
            <a:r>
              <a:rPr lang="en-US" sz="1800" dirty="0">
                <a:solidFill>
                  <a:srgbClr val="162947"/>
                </a:solidFill>
                <a:latin typeface="Cambria" pitchFamily="34" charset="0"/>
                <a:ea typeface="Cambria" pitchFamily="34" charset="-122"/>
                <a:cs typeface="Cambria" pitchFamily="34" charset="-120"/>
              </a:rPr>
              <a:t>The last line</a:t>
            </a:r>
            <a:endParaRPr lang="en-US" sz="1800" dirty="0"/>
          </a:p>
        </p:txBody>
      </p:sp>
      <p:sp>
        <p:nvSpPr>
          <p:cNvPr id="20" name="Text 18"/>
          <p:cNvSpPr txBox="1"/>
          <p:nvPr/>
        </p:nvSpPr>
        <p:spPr>
          <a:xfrm>
            <a:off x="9171432" y="3218688"/>
            <a:ext cx="2103120" cy="182880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Marks are often lost at the end of correct work. Answers get checked for units, for degrees, and for the rounding the question asked for.</a:t>
            </a:r>
            <a:endParaRPr lang="en-US" sz="1100" dirty="0"/>
          </a:p>
        </p:txBody>
      </p:sp>
      <p:sp>
        <p:nvSpPr>
          <p:cNvPr id="21" name="Shape 19"/>
          <p:cNvSpPr/>
          <p:nvPr/>
        </p:nvSpPr>
        <p:spPr>
          <a:xfrm>
            <a:off x="685800" y="5440680"/>
            <a:ext cx="10817352" cy="713232"/>
          </a:xfrm>
          <a:prstGeom prst="roundRect">
            <a:avLst>
              <a:gd name="adj" fmla="val 5128"/>
            </a:avLst>
          </a:prstGeom>
          <a:solidFill>
            <a:srgbClr val="EFEBE1"/>
          </a:solidFill>
          <a:ln/>
        </p:spPr>
      </p:sp>
      <p:sp>
        <p:nvSpPr>
          <p:cNvPr id="22" name="Text 20"/>
          <p:cNvSpPr txBox="1"/>
          <p:nvPr/>
        </p:nvSpPr>
        <p:spPr>
          <a:xfrm>
            <a:off x="1005840" y="5440680"/>
            <a:ext cx="10149840" cy="713232"/>
          </a:xfrm>
          <a:prstGeom prst="rect">
            <a:avLst/>
          </a:prstGeom>
          <a:noFill/>
          <a:ln/>
        </p:spPr>
        <p:txBody>
          <a:bodyPr wrap="square" lIns="0" tIns="0" rIns="0" bIns="0" rtlCol="0" anchor="ctr"/>
          <a:lstStyle/>
          <a:p>
            <a:pPr indent="0" marL="0">
              <a:lnSpc>
                <a:spcPts val="1600"/>
              </a:lnSpc>
              <a:buNone/>
            </a:pPr>
            <a:r>
              <a:rPr lang="en-US" sz="1150" dirty="0">
                <a:solidFill>
                  <a:srgbClr val="162947"/>
                </a:solidFill>
                <a:latin typeface="Arial" pitchFamily="34" charset="0"/>
                <a:ea typeface="Arial" pitchFamily="34" charset="-122"/>
                <a:cs typeface="Arial" pitchFamily="34" charset="-120"/>
              </a:rPr>
              <a:t>Every marked piece of work records marks lost to blanks, to missing working and to the final line. We review those three numbers in weeks 3 and 5.</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BETWEEN SESSIONS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The week between sessions</a:t>
            </a:r>
            <a:endParaRPr lang="en-US" sz="3300" dirty="0"/>
          </a:p>
        </p:txBody>
      </p:sp>
      <p:sp>
        <p:nvSpPr>
          <p:cNvPr id="4" name="Text 2"/>
          <p:cNvSpPr txBox="1"/>
          <p:nvPr/>
        </p:nvSpPr>
        <p:spPr>
          <a:xfrm>
            <a:off x="685800" y="1481328"/>
            <a:ext cx="10424160" cy="365760"/>
          </a:xfrm>
          <a:prstGeom prst="rect">
            <a:avLst/>
          </a:prstGeom>
          <a:noFill/>
          <a:ln/>
        </p:spPr>
        <p:txBody>
          <a:bodyPr wrap="square" lIns="0" tIns="0" rIns="0" bIns="0" rtlCol="0" anchor="t"/>
          <a:lstStyle/>
          <a:p>
            <a:pPr indent="0" marL="0">
              <a:lnSpc>
                <a:spcPts val="1700"/>
              </a:lnSpc>
              <a:buNone/>
            </a:pPr>
            <a:r>
              <a:rPr lang="en-US" sz="1250" dirty="0">
                <a:solidFill>
                  <a:srgbClr val="5D6471"/>
                </a:solidFill>
                <a:latin typeface="Arial" pitchFamily="34" charset="0"/>
                <a:ea typeface="Arial" pitchFamily="34" charset="-122"/>
                <a:cs typeface="Arial" pitchFamily="34" charset="-120"/>
              </a:rPr>
              <a:t>This starts from the next session. The timed paper is the largest single piece of work, and the short practice sits around it on four days rather than six, so the two are not competing for the same evenings.</a:t>
            </a:r>
            <a:endParaRPr lang="en-US" sz="1250" dirty="0"/>
          </a:p>
        </p:txBody>
      </p:sp>
      <p:sp>
        <p:nvSpPr>
          <p:cNvPr id="5" name="Shape 3"/>
          <p:cNvSpPr/>
          <p:nvPr/>
        </p:nvSpPr>
        <p:spPr>
          <a:xfrm>
            <a:off x="685800" y="2011680"/>
            <a:ext cx="3502152" cy="1783080"/>
          </a:xfrm>
          <a:prstGeom prst="roundRect">
            <a:avLst>
              <a:gd name="adj" fmla="val 2051"/>
            </a:avLst>
          </a:prstGeom>
          <a:solidFill>
            <a:srgbClr val="FFFFFF"/>
          </a:solidFill>
          <a:ln w="9525">
            <a:solidFill>
              <a:srgbClr val="E3DFD5"/>
            </a:solidFill>
            <a:prstDash val="solid"/>
          </a:ln>
        </p:spPr>
      </p:sp>
      <p:sp>
        <p:nvSpPr>
          <p:cNvPr id="6" name="Text 4"/>
          <p:cNvSpPr txBox="1"/>
          <p:nvPr/>
        </p:nvSpPr>
        <p:spPr>
          <a:xfrm>
            <a:off x="9601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7" name="Text 5"/>
          <p:cNvSpPr txBox="1"/>
          <p:nvPr/>
        </p:nvSpPr>
        <p:spPr>
          <a:xfrm>
            <a:off x="21031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Target skill</a:t>
            </a:r>
            <a:endParaRPr lang="en-US" sz="1250" dirty="0"/>
          </a:p>
        </p:txBody>
      </p:sp>
      <p:sp>
        <p:nvSpPr>
          <p:cNvPr id="8" name="Text 6"/>
          <p:cNvSpPr txBox="1"/>
          <p:nvPr/>
        </p:nvSpPr>
        <p:spPr>
          <a:xfrm>
            <a:off x="9601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Twenty questions on the week's target skill, written out in full and timed, with the score noted.</a:t>
            </a:r>
            <a:endParaRPr lang="en-US" sz="1050" dirty="0"/>
          </a:p>
        </p:txBody>
      </p:sp>
      <p:sp>
        <p:nvSpPr>
          <p:cNvPr id="9" name="Shape 7"/>
          <p:cNvSpPr/>
          <p:nvPr/>
        </p:nvSpPr>
        <p:spPr>
          <a:xfrm>
            <a:off x="4343400" y="2011680"/>
            <a:ext cx="3502152" cy="1783080"/>
          </a:xfrm>
          <a:prstGeom prst="roundRect">
            <a:avLst>
              <a:gd name="adj" fmla="val 2051"/>
            </a:avLst>
          </a:prstGeom>
          <a:solidFill>
            <a:srgbClr val="FFFFFF"/>
          </a:solidFill>
          <a:ln w="9525">
            <a:solidFill>
              <a:srgbClr val="E3DFD5"/>
            </a:solidFill>
            <a:prstDash val="solid"/>
          </a:ln>
        </p:spPr>
      </p:sp>
      <p:sp>
        <p:nvSpPr>
          <p:cNvPr id="10" name="Text 8"/>
          <p:cNvSpPr txBox="1"/>
          <p:nvPr/>
        </p:nvSpPr>
        <p:spPr>
          <a:xfrm>
            <a:off x="46177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10 min</a:t>
            </a:r>
            <a:endParaRPr lang="en-US" sz="2200" dirty="0"/>
          </a:p>
        </p:txBody>
      </p:sp>
      <p:sp>
        <p:nvSpPr>
          <p:cNvPr id="11" name="Text 9"/>
          <p:cNvSpPr txBox="1"/>
          <p:nvPr/>
        </p:nvSpPr>
        <p:spPr>
          <a:xfrm>
            <a:off x="57607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Mixed practice</a:t>
            </a:r>
            <a:endParaRPr lang="en-US" sz="1250" dirty="0"/>
          </a:p>
        </p:txBody>
      </p:sp>
      <p:sp>
        <p:nvSpPr>
          <p:cNvPr id="12" name="Text 10"/>
          <p:cNvSpPr txBox="1"/>
          <p:nvPr/>
        </p:nvSpPr>
        <p:spPr>
          <a:xfrm>
            <a:off x="46177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Six questions from topics already covered, not grouped, so the method has to be chosen first.</a:t>
            </a:r>
            <a:endParaRPr lang="en-US" sz="1050" dirty="0"/>
          </a:p>
        </p:txBody>
      </p:sp>
      <p:sp>
        <p:nvSpPr>
          <p:cNvPr id="13" name="Shape 11"/>
          <p:cNvSpPr/>
          <p:nvPr/>
        </p:nvSpPr>
        <p:spPr>
          <a:xfrm>
            <a:off x="8001000" y="2011680"/>
            <a:ext cx="3502152" cy="1783080"/>
          </a:xfrm>
          <a:prstGeom prst="roundRect">
            <a:avLst>
              <a:gd name="adj" fmla="val 2051"/>
            </a:avLst>
          </a:prstGeom>
          <a:solidFill>
            <a:srgbClr val="FFFFFF"/>
          </a:solidFill>
          <a:ln w="9525">
            <a:solidFill>
              <a:srgbClr val="E3DFD5"/>
            </a:solidFill>
            <a:prstDash val="solid"/>
          </a:ln>
        </p:spPr>
      </p:sp>
      <p:sp>
        <p:nvSpPr>
          <p:cNvPr id="14" name="Text 12"/>
          <p:cNvSpPr txBox="1"/>
          <p:nvPr/>
        </p:nvSpPr>
        <p:spPr>
          <a:xfrm>
            <a:off x="8275320" y="2194560"/>
            <a:ext cx="1280160" cy="329184"/>
          </a:xfrm>
          <a:prstGeom prst="rect">
            <a:avLst/>
          </a:prstGeom>
          <a:noFill/>
          <a:ln/>
        </p:spPr>
        <p:txBody>
          <a:bodyPr wrap="square" lIns="0" tIns="0" rIns="0" bIns="0" rtlCol="0" anchor="ctr"/>
          <a:lstStyle/>
          <a:p>
            <a:pPr indent="0" marL="0">
              <a:buNone/>
            </a:pPr>
            <a:r>
              <a:rPr lang="en-US" sz="2200" dirty="0">
                <a:solidFill>
                  <a:srgbClr val="C3A965"/>
                </a:solidFill>
                <a:latin typeface="Cambria" pitchFamily="34" charset="0"/>
                <a:ea typeface="Cambria" pitchFamily="34" charset="-122"/>
                <a:cs typeface="Cambria" pitchFamily="34" charset="-120"/>
              </a:rPr>
              <a:t>5 min</a:t>
            </a:r>
            <a:endParaRPr lang="en-US" sz="2200" dirty="0"/>
          </a:p>
        </p:txBody>
      </p:sp>
      <p:sp>
        <p:nvSpPr>
          <p:cNvPr id="15" name="Text 13"/>
          <p:cNvSpPr txBox="1"/>
          <p:nvPr/>
        </p:nvSpPr>
        <p:spPr>
          <a:xfrm>
            <a:off x="9418320" y="2258568"/>
            <a:ext cx="182880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Error log</a:t>
            </a:r>
            <a:endParaRPr lang="en-US" sz="1250" dirty="0"/>
          </a:p>
        </p:txBody>
      </p:sp>
      <p:sp>
        <p:nvSpPr>
          <p:cNvPr id="16" name="Text 14"/>
          <p:cNvSpPr txBox="1"/>
          <p:nvPr/>
        </p:nvSpPr>
        <p:spPr>
          <a:xfrm>
            <a:off x="8275320" y="2642616"/>
            <a:ext cx="2971800" cy="1024128"/>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Read through it, then redo two earlier errors without looking at the correction.</a:t>
            </a:r>
            <a:endParaRPr lang="en-US" sz="1050" dirty="0"/>
          </a:p>
        </p:txBody>
      </p:sp>
      <p:sp>
        <p:nvSpPr>
          <p:cNvPr id="17" name="Shape 15"/>
          <p:cNvSpPr/>
          <p:nvPr/>
        </p:nvSpPr>
        <p:spPr>
          <a:xfrm>
            <a:off x="685800" y="4096512"/>
            <a:ext cx="347472" cy="347472"/>
          </a:xfrm>
          <a:prstGeom prst="ellipse">
            <a:avLst/>
          </a:prstGeom>
          <a:solidFill>
            <a:srgbClr val="162947"/>
          </a:solidFill>
          <a:ln/>
        </p:spPr>
      </p:sp>
      <p:sp>
        <p:nvSpPr>
          <p:cNvPr id="18" name="Text 16"/>
          <p:cNvSpPr txBox="1"/>
          <p:nvPr/>
        </p:nvSpPr>
        <p:spPr>
          <a:xfrm>
            <a:off x="68580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19" name="Text 17"/>
          <p:cNvSpPr txBox="1"/>
          <p:nvPr/>
        </p:nvSpPr>
        <p:spPr>
          <a:xfrm>
            <a:off x="68580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Nothing new is learned at home</a:t>
            </a:r>
            <a:endParaRPr lang="en-US" sz="1100" dirty="0"/>
          </a:p>
        </p:txBody>
      </p:sp>
      <p:sp>
        <p:nvSpPr>
          <p:cNvPr id="20" name="Shape 18"/>
          <p:cNvSpPr/>
          <p:nvPr/>
        </p:nvSpPr>
        <p:spPr>
          <a:xfrm>
            <a:off x="2880360" y="4096512"/>
            <a:ext cx="347472" cy="347472"/>
          </a:xfrm>
          <a:prstGeom prst="ellipse">
            <a:avLst/>
          </a:prstGeom>
          <a:solidFill>
            <a:srgbClr val="162947"/>
          </a:solidFill>
          <a:ln/>
        </p:spPr>
      </p:sp>
      <p:sp>
        <p:nvSpPr>
          <p:cNvPr id="21" name="Text 19"/>
          <p:cNvSpPr txBox="1"/>
          <p:nvPr/>
        </p:nvSpPr>
        <p:spPr>
          <a:xfrm>
            <a:off x="288036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22" name="Text 20"/>
          <p:cNvSpPr txBox="1"/>
          <p:nvPr/>
        </p:nvSpPr>
        <p:spPr>
          <a:xfrm>
            <a:off x="288036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Charlotte marks her own work</a:t>
            </a:r>
            <a:endParaRPr lang="en-US" sz="1100" dirty="0"/>
          </a:p>
        </p:txBody>
      </p:sp>
      <p:sp>
        <p:nvSpPr>
          <p:cNvPr id="23" name="Shape 21"/>
          <p:cNvSpPr/>
          <p:nvPr/>
        </p:nvSpPr>
        <p:spPr>
          <a:xfrm>
            <a:off x="5074920" y="4096512"/>
            <a:ext cx="347472" cy="347472"/>
          </a:xfrm>
          <a:prstGeom prst="ellipse">
            <a:avLst/>
          </a:prstGeom>
          <a:solidFill>
            <a:srgbClr val="162947"/>
          </a:solidFill>
          <a:ln/>
        </p:spPr>
      </p:sp>
      <p:sp>
        <p:nvSpPr>
          <p:cNvPr id="24" name="Text 22"/>
          <p:cNvSpPr txBox="1"/>
          <p:nvPr/>
        </p:nvSpPr>
        <p:spPr>
          <a:xfrm>
            <a:off x="507492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25" name="Text 23"/>
          <p:cNvSpPr txBox="1"/>
          <p:nvPr/>
        </p:nvSpPr>
        <p:spPr>
          <a:xfrm>
            <a:off x="507492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Four practice days, one paper day</a:t>
            </a:r>
            <a:endParaRPr lang="en-US" sz="1100" dirty="0"/>
          </a:p>
        </p:txBody>
      </p:sp>
      <p:sp>
        <p:nvSpPr>
          <p:cNvPr id="26" name="Shape 24"/>
          <p:cNvSpPr/>
          <p:nvPr/>
        </p:nvSpPr>
        <p:spPr>
          <a:xfrm>
            <a:off x="7269480" y="4096512"/>
            <a:ext cx="347472" cy="347472"/>
          </a:xfrm>
          <a:prstGeom prst="ellipse">
            <a:avLst/>
          </a:prstGeom>
          <a:solidFill>
            <a:srgbClr val="162947"/>
          </a:solidFill>
          <a:ln/>
        </p:spPr>
      </p:sp>
      <p:sp>
        <p:nvSpPr>
          <p:cNvPr id="27" name="Text 25"/>
          <p:cNvSpPr txBox="1"/>
          <p:nvPr/>
        </p:nvSpPr>
        <p:spPr>
          <a:xfrm>
            <a:off x="726948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8" name="Text 26"/>
          <p:cNvSpPr txBox="1"/>
          <p:nvPr/>
        </p:nvSpPr>
        <p:spPr>
          <a:xfrm>
            <a:off x="726948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The paper is sat in one sitting</a:t>
            </a:r>
            <a:endParaRPr lang="en-US" sz="1100" dirty="0"/>
          </a:p>
        </p:txBody>
      </p:sp>
      <p:sp>
        <p:nvSpPr>
          <p:cNvPr id="29" name="Shape 27"/>
          <p:cNvSpPr/>
          <p:nvPr/>
        </p:nvSpPr>
        <p:spPr>
          <a:xfrm>
            <a:off x="9464040" y="4096512"/>
            <a:ext cx="347472" cy="347472"/>
          </a:xfrm>
          <a:prstGeom prst="ellipse">
            <a:avLst/>
          </a:prstGeom>
          <a:solidFill>
            <a:srgbClr val="162947"/>
          </a:solidFill>
          <a:ln/>
        </p:spPr>
      </p:sp>
      <p:sp>
        <p:nvSpPr>
          <p:cNvPr id="30" name="Text 28"/>
          <p:cNvSpPr txBox="1"/>
          <p:nvPr/>
        </p:nvSpPr>
        <p:spPr>
          <a:xfrm>
            <a:off x="9464040" y="409651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5</a:t>
            </a:r>
            <a:endParaRPr lang="en-US" sz="1500" dirty="0"/>
          </a:p>
        </p:txBody>
      </p:sp>
      <p:sp>
        <p:nvSpPr>
          <p:cNvPr id="31" name="Text 29"/>
          <p:cNvSpPr txBox="1"/>
          <p:nvPr/>
        </p:nvSpPr>
        <p:spPr>
          <a:xfrm>
            <a:off x="9464040" y="4526280"/>
            <a:ext cx="2011680" cy="512064"/>
          </a:xfrm>
          <a:prstGeom prst="rect">
            <a:avLst/>
          </a:prstGeom>
          <a:noFill/>
          <a:ln/>
        </p:spPr>
        <p:txBody>
          <a:bodyPr wrap="square" lIns="0" tIns="0" rIns="0" bIns="0" rtlCol="0" anchor="t"/>
          <a:lstStyle/>
          <a:p>
            <a:pPr indent="0" marL="0">
              <a:lnSpc>
                <a:spcPts val="1450"/>
              </a:lnSpc>
              <a:buNone/>
            </a:pPr>
            <a:r>
              <a:rPr lang="en-US" sz="1100" b="1" dirty="0">
                <a:solidFill>
                  <a:srgbClr val="162947"/>
                </a:solidFill>
                <a:latin typeface="Arial" pitchFamily="34" charset="0"/>
                <a:ea typeface="Arial" pitchFamily="34" charset="-122"/>
                <a:cs typeface="Arial" pitchFamily="34" charset="-120"/>
              </a:rPr>
              <a:t>A photo of the marked work, sent the same day</a:t>
            </a:r>
            <a:endParaRPr lang="en-US" sz="1100" dirty="0"/>
          </a:p>
        </p:txBody>
      </p:sp>
      <p:sp>
        <p:nvSpPr>
          <p:cNvPr id="32" name="Shape 30"/>
          <p:cNvSpPr/>
          <p:nvPr/>
        </p:nvSpPr>
        <p:spPr>
          <a:xfrm>
            <a:off x="685800" y="5230368"/>
            <a:ext cx="10817352" cy="896112"/>
          </a:xfrm>
          <a:prstGeom prst="roundRect">
            <a:avLst>
              <a:gd name="adj" fmla="val 4082"/>
            </a:avLst>
          </a:prstGeom>
          <a:solidFill>
            <a:srgbClr val="162947"/>
          </a:solidFill>
          <a:ln/>
        </p:spPr>
      </p:sp>
      <p:sp>
        <p:nvSpPr>
          <p:cNvPr id="33" name="Text 31"/>
          <p:cNvSpPr txBox="1"/>
          <p:nvPr/>
        </p:nvSpPr>
        <p:spPr>
          <a:xfrm>
            <a:off x="1005840" y="5394960"/>
            <a:ext cx="10149840" cy="256032"/>
          </a:xfrm>
          <a:prstGeom prst="rect">
            <a:avLst/>
          </a:prstGeom>
          <a:noFill/>
          <a:ln/>
        </p:spPr>
        <p:txBody>
          <a:bodyPr wrap="square" lIns="0" tIns="0" rIns="0" bIns="0" rtlCol="0" anchor="ctr"/>
          <a:lstStyle/>
          <a:p>
            <a:pPr indent="0" marL="0">
              <a:buNone/>
            </a:pPr>
            <a:r>
              <a:rPr lang="en-US" sz="1250" b="1" dirty="0">
                <a:solidFill>
                  <a:srgbClr val="C3A965"/>
                </a:solidFill>
                <a:latin typeface="Arial" pitchFamily="34" charset="0"/>
                <a:ea typeface="Arial" pitchFamily="34" charset="-122"/>
                <a:cs typeface="Arial" pitchFamily="34" charset="-120"/>
              </a:rPr>
              <a:t>We will look at how the week is working at the end of week 2.</a:t>
            </a:r>
            <a:endParaRPr lang="en-US" sz="1250" dirty="0"/>
          </a:p>
        </p:txBody>
      </p:sp>
      <p:sp>
        <p:nvSpPr>
          <p:cNvPr id="34" name="Text 32"/>
          <p:cNvSpPr txBox="1"/>
          <p:nvPr/>
        </p:nvSpPr>
        <p:spPr>
          <a:xfrm>
            <a:off x="1005840" y="5687568"/>
            <a:ext cx="10149840" cy="310896"/>
          </a:xfrm>
          <a:prstGeom prst="rect">
            <a:avLst/>
          </a:prstGeom>
          <a:noFill/>
          <a:ln/>
        </p:spPr>
        <p:txBody>
          <a:bodyPr wrap="square" lIns="0" tIns="0" rIns="0" bIns="0" rtlCol="0" anchor="t"/>
          <a:lstStyle/>
          <a:p>
            <a:pPr indent="0" marL="0">
              <a:buNone/>
            </a:pPr>
            <a:r>
              <a:rPr lang="en-US" sz="1100" dirty="0">
                <a:solidFill>
                  <a:srgbClr val="A8B2C2"/>
                </a:solidFill>
                <a:latin typeface="Arial" pitchFamily="34" charset="0"/>
                <a:ea typeface="Arial" pitchFamily="34" charset="-122"/>
                <a:cs typeface="Arial" pitchFamily="34" charset="-120"/>
              </a:rPr>
              <a:t>The paper and the short practice come to about four hours a week. If that is not realistic alongside everything else, please say so. The practice days come down before the papers do, because the papers are what the teaching is built on.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PROGRESS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How we will track it</a:t>
            </a:r>
            <a:endParaRPr lang="en-US" sz="3300" dirty="0"/>
          </a:p>
        </p:txBody>
      </p:sp>
      <p:sp>
        <p:nvSpPr>
          <p:cNvPr id="4" name="Text 2"/>
          <p:cNvSpPr txBox="1"/>
          <p:nvPr/>
        </p:nvSpPr>
        <p:spPr>
          <a:xfrm>
            <a:off x="685800" y="1481328"/>
            <a:ext cx="10424160" cy="274320"/>
          </a:xfrm>
          <a:prstGeom prst="rect">
            <a:avLst/>
          </a:prstGeom>
          <a:noFill/>
          <a:ln/>
        </p:spPr>
        <p:txBody>
          <a:bodyPr wrap="square" lIns="0" tIns="0" rIns="0" bIns="0" rtlCol="0" anchor="t"/>
          <a:lstStyle/>
          <a:p>
            <a:pPr indent="0" marL="0">
              <a:buNone/>
            </a:pPr>
            <a:r>
              <a:rPr lang="en-US" sz="1250" dirty="0">
                <a:solidFill>
                  <a:srgbClr val="5D6471"/>
                </a:solidFill>
                <a:latin typeface="Arial" pitchFamily="34" charset="0"/>
                <a:ea typeface="Arial" pitchFamily="34" charset="-122"/>
                <a:cs typeface="Arial" pitchFamily="34" charset="-120"/>
              </a:rPr>
              <a:t>Two numbers: Charlotte's audit score, and her mark on that week's timed paper. There is a score every week from week 1, and each checkpoint has a set response.</a:t>
            </a:r>
            <a:endParaRPr lang="en-US" sz="1250" dirty="0"/>
          </a:p>
        </p:txBody>
      </p:sp>
      <p:sp>
        <p:nvSpPr>
          <p:cNvPr id="5" name="Shape 3"/>
          <p:cNvSpPr/>
          <p:nvPr/>
        </p:nvSpPr>
        <p:spPr>
          <a:xfrm>
            <a:off x="685800" y="1920240"/>
            <a:ext cx="2587752" cy="2331720"/>
          </a:xfrm>
          <a:prstGeom prst="roundRect">
            <a:avLst>
              <a:gd name="adj" fmla="val 1569"/>
            </a:avLst>
          </a:prstGeom>
          <a:solidFill>
            <a:srgbClr val="FFFFFF"/>
          </a:solidFill>
          <a:ln w="9525">
            <a:solidFill>
              <a:srgbClr val="E3DFD5"/>
            </a:solidFill>
            <a:prstDash val="solid"/>
          </a:ln>
        </p:spPr>
      </p:sp>
      <p:sp>
        <p:nvSpPr>
          <p:cNvPr id="6" name="Text 4"/>
          <p:cNvSpPr txBox="1"/>
          <p:nvPr/>
        </p:nvSpPr>
        <p:spPr>
          <a:xfrm>
            <a:off x="9418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1</a:t>
            </a:r>
            <a:endParaRPr lang="en-US" sz="950" dirty="0"/>
          </a:p>
        </p:txBody>
      </p:sp>
      <p:sp>
        <p:nvSpPr>
          <p:cNvPr id="7" name="Text 5"/>
          <p:cNvSpPr txBox="1"/>
          <p:nvPr/>
        </p:nvSpPr>
        <p:spPr>
          <a:xfrm>
            <a:off x="9418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Baseline</a:t>
            </a:r>
            <a:endParaRPr lang="en-US" sz="1250" dirty="0"/>
          </a:p>
        </p:txBody>
      </p:sp>
      <p:sp>
        <p:nvSpPr>
          <p:cNvPr id="8" name="Text 6"/>
          <p:cNvSpPr txBox="1"/>
          <p:nvPr/>
        </p:nvSpPr>
        <p:spPr>
          <a:xfrm>
            <a:off x="9418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and a full paper</a:t>
            </a:r>
            <a:endParaRPr lang="en-US" sz="1700" dirty="0"/>
          </a:p>
        </p:txBody>
      </p:sp>
      <p:sp>
        <p:nvSpPr>
          <p:cNvPr id="9" name="Text 7"/>
          <p:cNvSpPr txBox="1"/>
          <p:nvPr/>
        </p:nvSpPr>
        <p:spPr>
          <a:xfrm>
            <a:off x="9418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Recorded as a starting point.</a:t>
            </a:r>
            <a:endParaRPr lang="en-US" sz="1050" dirty="0"/>
          </a:p>
        </p:txBody>
      </p:sp>
      <p:sp>
        <p:nvSpPr>
          <p:cNvPr id="10" name="Shape 8"/>
          <p:cNvSpPr/>
          <p:nvPr/>
        </p:nvSpPr>
        <p:spPr>
          <a:xfrm>
            <a:off x="3429000" y="1920240"/>
            <a:ext cx="2587752" cy="2331720"/>
          </a:xfrm>
          <a:prstGeom prst="roundRect">
            <a:avLst>
              <a:gd name="adj" fmla="val 1569"/>
            </a:avLst>
          </a:prstGeom>
          <a:solidFill>
            <a:srgbClr val="FFFFFF"/>
          </a:solidFill>
          <a:ln w="9525">
            <a:solidFill>
              <a:srgbClr val="E3DFD5"/>
            </a:solidFill>
            <a:prstDash val="solid"/>
          </a:ln>
        </p:spPr>
      </p:sp>
      <p:sp>
        <p:nvSpPr>
          <p:cNvPr id="11" name="Text 9"/>
          <p:cNvSpPr txBox="1"/>
          <p:nvPr/>
        </p:nvSpPr>
        <p:spPr>
          <a:xfrm>
            <a:off x="36850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3</a:t>
            </a:r>
            <a:endParaRPr lang="en-US" sz="950" dirty="0"/>
          </a:p>
        </p:txBody>
      </p:sp>
      <p:sp>
        <p:nvSpPr>
          <p:cNvPr id="12" name="Text 10"/>
          <p:cNvSpPr txBox="1"/>
          <p:nvPr/>
        </p:nvSpPr>
        <p:spPr>
          <a:xfrm>
            <a:off x="3685032" y="2359152"/>
            <a:ext cx="2103120" cy="274320"/>
          </a:xfrm>
          <a:prstGeom prst="rect">
            <a:avLst/>
          </a:prstGeom>
          <a:noFill/>
          <a:ln/>
        </p:spPr>
        <p:txBody>
          <a:bodyPr wrap="square" lIns="0" tIns="0" rIns="0" bIns="0" rtlCol="0" anchor="ctr"/>
          <a:lstStyle/>
          <a:p>
            <a:pPr indent="0" marL="0">
              <a:buNone/>
            </a:pPr>
            <a:r>
              <a:rPr lang="en-US" sz="1250" b="1" dirty="0">
                <a:solidFill>
                  <a:srgbClr val="162947"/>
                </a:solidFill>
                <a:latin typeface="Arial" pitchFamily="34" charset="0"/>
                <a:ea typeface="Arial" pitchFamily="34" charset="-122"/>
                <a:cs typeface="Arial" pitchFamily="34" charset="-120"/>
              </a:rPr>
              <a:t>Checkpoint 1</a:t>
            </a:r>
            <a:endParaRPr lang="en-US" sz="1250" dirty="0"/>
          </a:p>
        </p:txBody>
      </p:sp>
      <p:sp>
        <p:nvSpPr>
          <p:cNvPr id="13" name="Text 11"/>
          <p:cNvSpPr txBox="1"/>
          <p:nvPr/>
        </p:nvSpPr>
        <p:spPr>
          <a:xfrm>
            <a:off x="36850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162947"/>
                </a:solidFill>
                <a:latin typeface="Cambria" pitchFamily="34" charset="0"/>
                <a:ea typeface="Cambria" pitchFamily="34" charset="-122"/>
                <a:cs typeface="Cambria" pitchFamily="34" charset="-120"/>
              </a:rPr>
              <a:t>Audit repeated</a:t>
            </a:r>
            <a:endParaRPr lang="en-US" sz="1700" dirty="0"/>
          </a:p>
        </p:txBody>
      </p:sp>
      <p:sp>
        <p:nvSpPr>
          <p:cNvPr id="14" name="Text 12"/>
          <p:cNvSpPr txBox="1"/>
          <p:nvPr/>
        </p:nvSpPr>
        <p:spPr>
          <a:xfrm>
            <a:off x="36850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5D6471"/>
                </a:solidFill>
                <a:latin typeface="Arial" pitchFamily="34" charset="0"/>
                <a:ea typeface="Arial" pitchFamily="34" charset="-122"/>
                <a:cs typeface="Arial" pitchFamily="34" charset="-120"/>
              </a:rPr>
              <a:t>The weakest skills should have improved.</a:t>
            </a:r>
            <a:endParaRPr lang="en-US" sz="1050" dirty="0"/>
          </a:p>
        </p:txBody>
      </p:sp>
      <p:sp>
        <p:nvSpPr>
          <p:cNvPr id="15" name="Shape 13"/>
          <p:cNvSpPr/>
          <p:nvPr/>
        </p:nvSpPr>
        <p:spPr>
          <a:xfrm>
            <a:off x="6172200" y="1920240"/>
            <a:ext cx="2587752" cy="2331720"/>
          </a:xfrm>
          <a:prstGeom prst="roundRect">
            <a:avLst>
              <a:gd name="adj" fmla="val 1569"/>
            </a:avLst>
          </a:prstGeom>
          <a:solidFill>
            <a:srgbClr val="162947"/>
          </a:solidFill>
          <a:ln/>
        </p:spPr>
      </p:sp>
      <p:sp>
        <p:nvSpPr>
          <p:cNvPr id="16" name="Text 14"/>
          <p:cNvSpPr txBox="1"/>
          <p:nvPr/>
        </p:nvSpPr>
        <p:spPr>
          <a:xfrm>
            <a:off x="64282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5</a:t>
            </a:r>
            <a:endParaRPr lang="en-US" sz="950" dirty="0"/>
          </a:p>
        </p:txBody>
      </p:sp>
      <p:sp>
        <p:nvSpPr>
          <p:cNvPr id="17" name="Text 15"/>
          <p:cNvSpPr txBox="1"/>
          <p:nvPr/>
        </p:nvSpPr>
        <p:spPr>
          <a:xfrm>
            <a:off x="64282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Full paper</a:t>
            </a:r>
            <a:endParaRPr lang="en-US" sz="1250" dirty="0"/>
          </a:p>
        </p:txBody>
      </p:sp>
      <p:sp>
        <p:nvSpPr>
          <p:cNvPr id="18" name="Text 16"/>
          <p:cNvSpPr txBox="1"/>
          <p:nvPr/>
        </p:nvSpPr>
        <p:spPr>
          <a:xfrm>
            <a:off x="64282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35 / 100 or better</a:t>
            </a:r>
            <a:endParaRPr lang="en-US" sz="1700" dirty="0"/>
          </a:p>
        </p:txBody>
      </p:sp>
      <p:sp>
        <p:nvSpPr>
          <p:cNvPr id="19" name="Text 17"/>
          <p:cNvSpPr txBox="1"/>
          <p:nvPr/>
        </p:nvSpPr>
        <p:spPr>
          <a:xfrm>
            <a:off x="64282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On track. If it is below, see the note underneath.</a:t>
            </a:r>
            <a:endParaRPr lang="en-US" sz="1050" dirty="0"/>
          </a:p>
        </p:txBody>
      </p:sp>
      <p:sp>
        <p:nvSpPr>
          <p:cNvPr id="20" name="Shape 18"/>
          <p:cNvSpPr/>
          <p:nvPr/>
        </p:nvSpPr>
        <p:spPr>
          <a:xfrm>
            <a:off x="8915400" y="1920240"/>
            <a:ext cx="2587752" cy="2331720"/>
          </a:xfrm>
          <a:prstGeom prst="roundRect">
            <a:avLst>
              <a:gd name="adj" fmla="val 1569"/>
            </a:avLst>
          </a:prstGeom>
          <a:solidFill>
            <a:srgbClr val="162947"/>
          </a:solidFill>
          <a:ln/>
        </p:spPr>
      </p:sp>
      <p:sp>
        <p:nvSpPr>
          <p:cNvPr id="21" name="Text 19"/>
          <p:cNvSpPr txBox="1"/>
          <p:nvPr/>
        </p:nvSpPr>
        <p:spPr>
          <a:xfrm>
            <a:off x="9171432" y="2103120"/>
            <a:ext cx="2103120" cy="219456"/>
          </a:xfrm>
          <a:prstGeom prst="rect">
            <a:avLst/>
          </a:prstGeom>
          <a:noFill/>
          <a:ln/>
        </p:spPr>
        <p:txBody>
          <a:bodyPr wrap="square" lIns="0" tIns="0" rIns="0" bIns="0" rtlCol="0" anchor="ctr"/>
          <a:lstStyle/>
          <a:p>
            <a:pPr indent="0" marL="0">
              <a:buNone/>
            </a:pPr>
            <a:r>
              <a:rPr lang="en-US" sz="950" b="1" spc="140" kern="0" dirty="0">
                <a:solidFill>
                  <a:srgbClr val="C3A965"/>
                </a:solidFill>
                <a:latin typeface="Arial" pitchFamily="34" charset="0"/>
                <a:ea typeface="Arial" pitchFamily="34" charset="-122"/>
                <a:cs typeface="Arial" pitchFamily="34" charset="-120"/>
              </a:rPr>
              <a:t>WEEK 6</a:t>
            </a:r>
            <a:endParaRPr lang="en-US" sz="950" dirty="0"/>
          </a:p>
        </p:txBody>
      </p:sp>
      <p:sp>
        <p:nvSpPr>
          <p:cNvPr id="22" name="Text 20"/>
          <p:cNvSpPr txBox="1"/>
          <p:nvPr/>
        </p:nvSpPr>
        <p:spPr>
          <a:xfrm>
            <a:off x="9171432" y="2359152"/>
            <a:ext cx="2103120" cy="274320"/>
          </a:xfrm>
          <a:prstGeom prst="rect">
            <a:avLst/>
          </a:prstGeom>
          <a:noFill/>
          <a:ln/>
        </p:spPr>
        <p:txBody>
          <a:bodyPr wrap="square" lIns="0" tIns="0" rIns="0" bIns="0" rtlCol="0" anchor="ctr"/>
          <a:lstStyle/>
          <a:p>
            <a:pPr indent="0" marL="0">
              <a:buNone/>
            </a:pPr>
            <a:r>
              <a:rPr lang="en-US" sz="1250" b="1" dirty="0">
                <a:solidFill>
                  <a:srgbClr val="F6F4EF"/>
                </a:solidFill>
                <a:latin typeface="Arial" pitchFamily="34" charset="0"/>
                <a:ea typeface="Arial" pitchFamily="34" charset="-122"/>
                <a:cs typeface="Arial" pitchFamily="34" charset="-120"/>
              </a:rPr>
              <a:t>Final papers</a:t>
            </a:r>
            <a:endParaRPr lang="en-US" sz="1250" dirty="0"/>
          </a:p>
        </p:txBody>
      </p:sp>
      <p:sp>
        <p:nvSpPr>
          <p:cNvPr id="23" name="Text 21"/>
          <p:cNvSpPr txBox="1"/>
          <p:nvPr/>
        </p:nvSpPr>
        <p:spPr>
          <a:xfrm>
            <a:off x="9171432" y="2724912"/>
            <a:ext cx="2103120" cy="548640"/>
          </a:xfrm>
          <a:prstGeom prst="rect">
            <a:avLst/>
          </a:prstGeom>
          <a:noFill/>
          <a:ln/>
        </p:spPr>
        <p:txBody>
          <a:bodyPr wrap="square" lIns="0" tIns="0" rIns="0" bIns="0" rtlCol="0" anchor="t"/>
          <a:lstStyle/>
          <a:p>
            <a:pPr indent="0" marL="0">
              <a:lnSpc>
                <a:spcPts val="2000"/>
              </a:lnSpc>
              <a:buNone/>
            </a:pPr>
            <a:r>
              <a:rPr lang="en-US" sz="1700" dirty="0">
                <a:solidFill>
                  <a:srgbClr val="C3A965"/>
                </a:solidFill>
                <a:latin typeface="Cambria" pitchFamily="34" charset="0"/>
                <a:ea typeface="Cambria" pitchFamily="34" charset="-122"/>
                <a:cs typeface="Cambria" pitchFamily="34" charset="-120"/>
              </a:rPr>
              <a:t>40 / 100 or better</a:t>
            </a:r>
            <a:endParaRPr lang="en-US" sz="1700" dirty="0"/>
          </a:p>
        </p:txBody>
      </p:sp>
      <p:sp>
        <p:nvSpPr>
          <p:cNvPr id="24" name="Text 22"/>
          <p:cNvSpPr txBox="1"/>
          <p:nvPr/>
        </p:nvSpPr>
        <p:spPr>
          <a:xfrm>
            <a:off x="9171432" y="3346704"/>
            <a:ext cx="2103120" cy="777240"/>
          </a:xfrm>
          <a:prstGeom prst="rect">
            <a:avLst/>
          </a:prstGeom>
          <a:noFill/>
          <a:ln/>
        </p:spPr>
        <p:txBody>
          <a:bodyPr wrap="square" lIns="0" tIns="0" rIns="0" bIns="0" rtlCol="0" anchor="t"/>
          <a:lstStyle/>
          <a:p>
            <a:pPr indent="0" marL="0">
              <a:lnSpc>
                <a:spcPts val="1450"/>
              </a:lnSpc>
              <a:buNone/>
            </a:pPr>
            <a:r>
              <a:rPr lang="en-US" sz="1050" dirty="0">
                <a:solidFill>
                  <a:srgbClr val="A8B2C2"/>
                </a:solidFill>
                <a:latin typeface="Arial" pitchFamily="34" charset="0"/>
                <a:ea typeface="Arial" pitchFamily="34" charset="-122"/>
                <a:cs typeface="Arial" pitchFamily="34" charset="-120"/>
              </a:rPr>
              <a:t>80 out of 200, 15 clear of the boundary.</a:t>
            </a:r>
            <a:endParaRPr lang="en-US" sz="1050" dirty="0"/>
          </a:p>
        </p:txBody>
      </p:sp>
      <p:sp>
        <p:nvSpPr>
          <p:cNvPr id="25" name="Shape 23"/>
          <p:cNvSpPr/>
          <p:nvPr/>
        </p:nvSpPr>
        <p:spPr>
          <a:xfrm>
            <a:off x="685800" y="4462272"/>
            <a:ext cx="10817352" cy="1664208"/>
          </a:xfrm>
          <a:prstGeom prst="roundRect">
            <a:avLst>
              <a:gd name="adj" fmla="val 2198"/>
            </a:avLst>
          </a:prstGeom>
          <a:solidFill>
            <a:srgbClr val="EFEBE1"/>
          </a:solidFill>
          <a:ln/>
        </p:spPr>
      </p:sp>
      <p:sp>
        <p:nvSpPr>
          <p:cNvPr id="26" name="Text 24"/>
          <p:cNvSpPr txBox="1"/>
          <p:nvPr/>
        </p:nvSpPr>
        <p:spPr>
          <a:xfrm>
            <a:off x="1005840" y="4617720"/>
            <a:ext cx="4754880" cy="274320"/>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If a number comes in low</a:t>
            </a:r>
            <a:endParaRPr lang="en-US" sz="1700" dirty="0"/>
          </a:p>
        </p:txBody>
      </p:sp>
      <p:sp>
        <p:nvSpPr>
          <p:cNvPr id="27" name="Text 25"/>
          <p:cNvSpPr txBox="1"/>
          <p:nvPr/>
        </p:nvSpPr>
        <p:spPr>
          <a:xfrm>
            <a:off x="1005840" y="4983480"/>
            <a:ext cx="6949440" cy="768096"/>
          </a:xfrm>
          <a:prstGeom prst="rect">
            <a:avLst/>
          </a:prstGeom>
          <a:noFill/>
          <a:ln/>
        </p:spPr>
        <p:txBody>
          <a:bodyPr wrap="square" lIns="0" tIns="0" rIns="0" bIns="0" rtlCol="0" anchor="ctr"/>
          <a:lstStyle/>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If the audit has not moved by week 3, we look at how the weekly work is being done before adding any content.</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Below 35 out of 100 in week 5, one of the week 6 papers is replaced by teaching the two weakest topics.</a:t>
            </a:r>
            <a:endParaRPr lang="en-US" sz="1050" dirty="0"/>
          </a:p>
          <a:p>
            <a:pPr marL="177800" indent="-177800">
              <a:lnSpc>
                <a:spcPts val="1281"/>
              </a:lnSpc>
              <a:spcAft>
                <a:spcPts val="500"/>
              </a:spcAft>
              <a:buSzPct val="100000"/>
              <a:buChar char="•"/>
            </a:pPr>
            <a:r>
              <a:rPr lang="en-US" sz="1050" dirty="0">
                <a:solidFill>
                  <a:srgbClr val="5D6471"/>
                </a:solidFill>
                <a:latin typeface="Arial" pitchFamily="34" charset="0"/>
                <a:ea typeface="Arial" pitchFamily="34" charset="-122"/>
                <a:cs typeface="Arial" pitchFamily="34" charset="-120"/>
              </a:rPr>
              <a:t>Above 50 out of 100 in week 5, we add the single-step grade 6 topics.</a:t>
            </a:r>
            <a:endParaRPr lang="en-US" sz="1050" dirty="0"/>
          </a:p>
        </p:txBody>
      </p:sp>
      <p:sp>
        <p:nvSpPr>
          <p:cNvPr id="28" name="Shape 26"/>
          <p:cNvSpPr/>
          <p:nvPr/>
        </p:nvSpPr>
        <p:spPr>
          <a:xfrm>
            <a:off x="8275320" y="4617720"/>
            <a:ext cx="0" cy="1325880"/>
          </a:xfrm>
          <a:prstGeom prst="line">
            <a:avLst/>
          </a:prstGeom>
          <a:noFill/>
          <a:ln w="9525">
            <a:solidFill>
              <a:srgbClr val="D8D3C6"/>
            </a:solidFill>
            <a:prstDash val="solid"/>
          </a:ln>
        </p:spPr>
      </p:sp>
      <p:sp>
        <p:nvSpPr>
          <p:cNvPr id="29" name="Text 27"/>
          <p:cNvSpPr txBox="1"/>
          <p:nvPr/>
        </p:nvSpPr>
        <p:spPr>
          <a:xfrm>
            <a:off x="8595360" y="4617720"/>
            <a:ext cx="2743200" cy="219456"/>
          </a:xfrm>
          <a:prstGeom prst="rect">
            <a:avLst/>
          </a:prstGeom>
          <a:noFill/>
          <a:ln/>
        </p:spPr>
        <p:txBody>
          <a:bodyPr wrap="square" lIns="0" tIns="0" rIns="0" bIns="0" rtlCol="0" anchor="ctr"/>
          <a:lstStyle/>
          <a:p>
            <a:pPr indent="0" marL="0">
              <a:buNone/>
            </a:pPr>
            <a:r>
              <a:rPr lang="en-US" sz="900" b="1" spc="140" kern="0" dirty="0">
                <a:solidFill>
                  <a:srgbClr val="C3A965"/>
                </a:solidFill>
                <a:latin typeface="Arial" pitchFamily="34" charset="0"/>
                <a:ea typeface="Arial" pitchFamily="34" charset="-122"/>
                <a:cs typeface="Arial" pitchFamily="34" charset="-120"/>
              </a:rPr>
              <a:t>AFTER EACH SESSION</a:t>
            </a:r>
            <a:endParaRPr lang="en-US" sz="900" dirty="0"/>
          </a:p>
        </p:txBody>
      </p:sp>
      <p:sp>
        <p:nvSpPr>
          <p:cNvPr id="30" name="Text 28"/>
          <p:cNvSpPr txBox="1"/>
          <p:nvPr/>
        </p:nvSpPr>
        <p:spPr>
          <a:xfrm>
            <a:off x="8595360" y="4882896"/>
            <a:ext cx="2834640" cy="1005840"/>
          </a:xfrm>
          <a:prstGeom prst="rect">
            <a:avLst/>
          </a:prstGeom>
          <a:noFill/>
          <a:ln/>
        </p:spPr>
        <p:txBody>
          <a:bodyPr wrap="square" lIns="0" tIns="0" rIns="0" bIns="0" rtlCol="0" anchor="t"/>
          <a:lstStyle/>
          <a:p>
            <a:pPr indent="0" marL="0">
              <a:lnSpc>
                <a:spcPts val="1500"/>
              </a:lnSpc>
              <a:buNone/>
            </a:pPr>
            <a:r>
              <a:rPr lang="en-US" sz="1100" dirty="0">
                <a:solidFill>
                  <a:srgbClr val="5D6471"/>
                </a:solidFill>
                <a:latin typeface="Arial" pitchFamily="34" charset="0"/>
                <a:ea typeface="Arial" pitchFamily="34" charset="-122"/>
                <a:cs typeface="Arial" pitchFamily="34" charset="-120"/>
              </a:rPr>
              <a:t>A short note from me: what we covered, Charlotte's recall score out of six, and whether the week's work came back.</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37744"/>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CONTINGENCIES</a:t>
            </a:r>
            <a:endParaRPr lang="en-US" sz="1050" dirty="0"/>
          </a:p>
        </p:txBody>
      </p:sp>
      <p:sp>
        <p:nvSpPr>
          <p:cNvPr id="3" name="Text 1"/>
          <p:cNvSpPr txBox="1"/>
          <p:nvPr/>
        </p:nvSpPr>
        <p:spPr>
          <a:xfrm>
            <a:off x="685800" y="694944"/>
            <a:ext cx="10820095" cy="658368"/>
          </a:xfrm>
          <a:prstGeom prst="rect">
            <a:avLst/>
          </a:prstGeom>
          <a:noFill/>
          <a:ln/>
        </p:spPr>
        <p:txBody>
          <a:bodyPr wrap="square" lIns="0" tIns="0" rIns="0" bIns="0" rtlCol="0" anchor="t"/>
          <a:lstStyle/>
          <a:p>
            <a:pPr indent="0" marL="0">
              <a:buNone/>
            </a:pPr>
            <a:r>
              <a:rPr lang="en-US" sz="3300" dirty="0">
                <a:solidFill>
                  <a:srgbClr val="162947"/>
                </a:solidFill>
                <a:latin typeface="Cambria" pitchFamily="34" charset="0"/>
                <a:ea typeface="Cambria" pitchFamily="34" charset="-122"/>
                <a:cs typeface="Cambria" pitchFamily="34" charset="-120"/>
              </a:rPr>
              <a:t>What could get in the way, and what we do</a:t>
            </a:r>
            <a:endParaRPr lang="en-US" sz="3300" dirty="0"/>
          </a:p>
        </p:txBody>
      </p:sp>
      <p:sp>
        <p:nvSpPr>
          <p:cNvPr id="4" name="Shape 2"/>
          <p:cNvSpPr/>
          <p:nvPr/>
        </p:nvSpPr>
        <p:spPr>
          <a:xfrm>
            <a:off x="685800" y="1627632"/>
            <a:ext cx="5212080" cy="1874520"/>
          </a:xfrm>
          <a:prstGeom prst="roundRect">
            <a:avLst>
              <a:gd name="adj" fmla="val 1951"/>
            </a:avLst>
          </a:prstGeom>
          <a:solidFill>
            <a:srgbClr val="FFFFFF"/>
          </a:solidFill>
          <a:ln w="9525">
            <a:solidFill>
              <a:srgbClr val="E3DFD5"/>
            </a:solidFill>
            <a:prstDash val="solid"/>
          </a:ln>
        </p:spPr>
      </p:sp>
      <p:sp>
        <p:nvSpPr>
          <p:cNvPr id="5" name="Shape 3"/>
          <p:cNvSpPr/>
          <p:nvPr/>
        </p:nvSpPr>
        <p:spPr>
          <a:xfrm>
            <a:off x="1005840" y="1865376"/>
            <a:ext cx="384048" cy="384048"/>
          </a:xfrm>
          <a:prstGeom prst="ellipse">
            <a:avLst/>
          </a:prstGeom>
          <a:solidFill>
            <a:srgbClr val="162947"/>
          </a:solidFill>
          <a:ln/>
        </p:spPr>
      </p:sp>
      <p:sp>
        <p:nvSpPr>
          <p:cNvPr id="6" name="Text 4"/>
          <p:cNvSpPr txBox="1"/>
          <p:nvPr/>
        </p:nvSpPr>
        <p:spPr>
          <a:xfrm>
            <a:off x="1005840"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527048"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Entry not yet confirmed</a:t>
            </a:r>
            <a:endParaRPr lang="en-US" sz="1700" dirty="0"/>
          </a:p>
        </p:txBody>
      </p:sp>
      <p:sp>
        <p:nvSpPr>
          <p:cNvPr id="8" name="Text 6"/>
          <p:cNvSpPr txBox="1"/>
          <p:nvPr/>
        </p:nvSpPr>
        <p:spPr>
          <a:xfrm>
            <a:off x="1005840"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The standard entry deadline for the November series was 12 September, so this needs checking with the school now. Late fees have applied since 13 September and rise again from 10 October.</a:t>
            </a:r>
            <a:endParaRPr lang="en-US" sz="1100" dirty="0"/>
          </a:p>
        </p:txBody>
      </p:sp>
      <p:sp>
        <p:nvSpPr>
          <p:cNvPr id="9" name="Shape 7"/>
          <p:cNvSpPr/>
          <p:nvPr/>
        </p:nvSpPr>
        <p:spPr>
          <a:xfrm>
            <a:off x="6291072" y="1627632"/>
            <a:ext cx="5212080" cy="1874520"/>
          </a:xfrm>
          <a:prstGeom prst="roundRect">
            <a:avLst>
              <a:gd name="adj" fmla="val 1951"/>
            </a:avLst>
          </a:prstGeom>
          <a:solidFill>
            <a:srgbClr val="EFEBE1"/>
          </a:solidFill>
          <a:ln w="9525">
            <a:solidFill>
              <a:srgbClr val="E3DFD5"/>
            </a:solidFill>
            <a:prstDash val="solid"/>
          </a:ln>
        </p:spPr>
      </p:sp>
      <p:sp>
        <p:nvSpPr>
          <p:cNvPr id="10" name="Shape 8"/>
          <p:cNvSpPr/>
          <p:nvPr/>
        </p:nvSpPr>
        <p:spPr>
          <a:xfrm>
            <a:off x="6611112" y="1865376"/>
            <a:ext cx="384048" cy="384048"/>
          </a:xfrm>
          <a:prstGeom prst="ellipse">
            <a:avLst/>
          </a:prstGeom>
          <a:solidFill>
            <a:srgbClr val="162947"/>
          </a:solidFill>
          <a:ln/>
        </p:spPr>
      </p:sp>
      <p:sp>
        <p:nvSpPr>
          <p:cNvPr id="11" name="Text 9"/>
          <p:cNvSpPr txBox="1"/>
          <p:nvPr/>
        </p:nvSpPr>
        <p:spPr>
          <a:xfrm>
            <a:off x="6611112" y="18653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7132320" y="18836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A week is lost to illness</a:t>
            </a:r>
            <a:endParaRPr lang="en-US" sz="1700" dirty="0"/>
          </a:p>
        </p:txBody>
      </p:sp>
      <p:sp>
        <p:nvSpPr>
          <p:cNvPr id="13" name="Text 11"/>
          <p:cNvSpPr txBox="1"/>
          <p:nvPr/>
        </p:nvSpPr>
        <p:spPr>
          <a:xfrm>
            <a:off x="6611112" y="23591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 6 carries the slack. The third full paper comes out first, then the pacing session. The teaching weeks stay as they are.</a:t>
            </a:r>
            <a:endParaRPr lang="en-US" sz="1100" dirty="0"/>
          </a:p>
        </p:txBody>
      </p:sp>
      <p:sp>
        <p:nvSpPr>
          <p:cNvPr id="14" name="Shape 12"/>
          <p:cNvSpPr/>
          <p:nvPr/>
        </p:nvSpPr>
        <p:spPr>
          <a:xfrm>
            <a:off x="685800" y="3685032"/>
            <a:ext cx="5212080" cy="1874520"/>
          </a:xfrm>
          <a:prstGeom prst="roundRect">
            <a:avLst>
              <a:gd name="adj" fmla="val 1951"/>
            </a:avLst>
          </a:prstGeom>
          <a:solidFill>
            <a:srgbClr val="FFFFFF"/>
          </a:solidFill>
          <a:ln w="9525">
            <a:solidFill>
              <a:srgbClr val="E3DFD5"/>
            </a:solidFill>
            <a:prstDash val="solid"/>
          </a:ln>
        </p:spPr>
      </p:sp>
      <p:sp>
        <p:nvSpPr>
          <p:cNvPr id="15" name="Shape 13"/>
          <p:cNvSpPr/>
          <p:nvPr/>
        </p:nvSpPr>
        <p:spPr>
          <a:xfrm>
            <a:off x="1005840" y="3922776"/>
            <a:ext cx="384048" cy="384048"/>
          </a:xfrm>
          <a:prstGeom prst="ellipse">
            <a:avLst/>
          </a:prstGeom>
          <a:solidFill>
            <a:srgbClr val="162947"/>
          </a:solidFill>
          <a:ln/>
        </p:spPr>
      </p:sp>
      <p:sp>
        <p:nvSpPr>
          <p:cNvPr id="16" name="Text 14"/>
          <p:cNvSpPr txBox="1"/>
          <p:nvPr/>
        </p:nvSpPr>
        <p:spPr>
          <a:xfrm>
            <a:off x="1005840"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527048"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week does not fit</a:t>
            </a:r>
            <a:endParaRPr lang="en-US" sz="1700" dirty="0"/>
          </a:p>
        </p:txBody>
      </p:sp>
      <p:sp>
        <p:nvSpPr>
          <p:cNvPr id="18" name="Text 16"/>
          <p:cNvSpPr txBox="1"/>
          <p:nvPr/>
        </p:nvSpPr>
        <p:spPr>
          <a:xfrm>
            <a:off x="1005840"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 look at this at the end of week 2. The practice days reduce first, then the week 5 shape content goes to three topics. The weekly paper is the last thing to be cut.</a:t>
            </a:r>
            <a:endParaRPr lang="en-US" sz="1100" dirty="0"/>
          </a:p>
        </p:txBody>
      </p:sp>
      <p:sp>
        <p:nvSpPr>
          <p:cNvPr id="19" name="Shape 17"/>
          <p:cNvSpPr/>
          <p:nvPr/>
        </p:nvSpPr>
        <p:spPr>
          <a:xfrm>
            <a:off x="6291072" y="3685032"/>
            <a:ext cx="5212080" cy="1874520"/>
          </a:xfrm>
          <a:prstGeom prst="roundRect">
            <a:avLst>
              <a:gd name="adj" fmla="val 1951"/>
            </a:avLst>
          </a:prstGeom>
          <a:solidFill>
            <a:srgbClr val="EFEBE1"/>
          </a:solidFill>
          <a:ln w="9525">
            <a:solidFill>
              <a:srgbClr val="E3DFD5"/>
            </a:solidFill>
            <a:prstDash val="solid"/>
          </a:ln>
        </p:spPr>
      </p:sp>
      <p:sp>
        <p:nvSpPr>
          <p:cNvPr id="20" name="Shape 18"/>
          <p:cNvSpPr/>
          <p:nvPr/>
        </p:nvSpPr>
        <p:spPr>
          <a:xfrm>
            <a:off x="6611112" y="3922776"/>
            <a:ext cx="384048" cy="384048"/>
          </a:xfrm>
          <a:prstGeom prst="ellipse">
            <a:avLst/>
          </a:prstGeom>
          <a:solidFill>
            <a:srgbClr val="162947"/>
          </a:solidFill>
          <a:ln/>
        </p:spPr>
      </p:sp>
      <p:sp>
        <p:nvSpPr>
          <p:cNvPr id="21" name="Text 19"/>
          <p:cNvSpPr txBox="1"/>
          <p:nvPr/>
        </p:nvSpPr>
        <p:spPr>
          <a:xfrm>
            <a:off x="6611112" y="3922776"/>
            <a:ext cx="384048" cy="384048"/>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132320" y="3941064"/>
            <a:ext cx="4114800" cy="310896"/>
          </a:xfrm>
          <a:prstGeom prst="rect">
            <a:avLst/>
          </a:prstGeom>
          <a:noFill/>
          <a:ln/>
        </p:spPr>
        <p:txBody>
          <a:bodyPr wrap="square" lIns="0" tIns="0" rIns="0" bIns="0" rtlCol="0" anchor="ctr"/>
          <a:lstStyle/>
          <a:p>
            <a:pPr indent="0" marL="0">
              <a:buNone/>
            </a:pPr>
            <a:r>
              <a:rPr lang="en-US" sz="1700" dirty="0">
                <a:solidFill>
                  <a:srgbClr val="162947"/>
                </a:solidFill>
                <a:latin typeface="Cambria" pitchFamily="34" charset="0"/>
                <a:ea typeface="Cambria" pitchFamily="34" charset="-122"/>
                <a:cs typeface="Cambria" pitchFamily="34" charset="-120"/>
              </a:rPr>
              <a:t>The audit is worse than expected</a:t>
            </a:r>
            <a:endParaRPr lang="en-US" sz="1700" dirty="0"/>
          </a:p>
        </p:txBody>
      </p:sp>
      <p:sp>
        <p:nvSpPr>
          <p:cNvPr id="23" name="Text 21"/>
          <p:cNvSpPr txBox="1"/>
          <p:nvPr/>
        </p:nvSpPr>
        <p:spPr>
          <a:xfrm>
            <a:off x="6611112" y="4416552"/>
            <a:ext cx="4572000" cy="1005840"/>
          </a:xfrm>
          <a:prstGeom prst="rect">
            <a:avLst/>
          </a:prstGeom>
          <a:noFill/>
          <a:ln/>
        </p:spPr>
        <p:txBody>
          <a:bodyPr wrap="square" lIns="0" tIns="0" rIns="0" bIns="0" rtlCol="0" anchor="t"/>
          <a:lstStyle/>
          <a:p>
            <a:pPr indent="0" marL="0">
              <a:lnSpc>
                <a:spcPts val="1550"/>
              </a:lnSpc>
              <a:buNone/>
            </a:pPr>
            <a:r>
              <a:rPr lang="en-US" sz="1100" dirty="0">
                <a:solidFill>
                  <a:srgbClr val="5D6471"/>
                </a:solidFill>
                <a:latin typeface="Arial" pitchFamily="34" charset="0"/>
                <a:ea typeface="Arial" pitchFamily="34" charset="-122"/>
                <a:cs typeface="Arial" pitchFamily="34" charset="-120"/>
              </a:rPr>
              <a:t>Weeks 2 and 3 stay as they are, and week 4 drops sequences and straight-line graphs. Number and algebra stay in.</a:t>
            </a:r>
            <a:endParaRPr lang="en-US" sz="1100" dirty="0"/>
          </a:p>
        </p:txBody>
      </p:sp>
      <p:sp>
        <p:nvSpPr>
          <p:cNvPr id="24" name="Text 22"/>
          <p:cNvSpPr txBox="1"/>
          <p:nvPr/>
        </p:nvSpPr>
        <p:spPr>
          <a:xfrm>
            <a:off x="685800" y="5852160"/>
            <a:ext cx="10817352" cy="274320"/>
          </a:xfrm>
          <a:prstGeom prst="rect">
            <a:avLst/>
          </a:prstGeom>
          <a:noFill/>
          <a:ln/>
        </p:spPr>
        <p:txBody>
          <a:bodyPr wrap="square" lIns="0" tIns="0" rIns="0" bIns="0" rtlCol="0" anchor="ctr"/>
          <a:lstStyle/>
          <a:p>
            <a:pPr indent="0" marL="0">
              <a:buNone/>
            </a:pPr>
            <a:r>
              <a:rPr lang="en-US" sz="1150" dirty="0">
                <a:solidFill>
                  <a:srgbClr val="5D6471"/>
                </a:solidFill>
                <a:latin typeface="Arial" pitchFamily="34" charset="0"/>
                <a:ea typeface="Arial" pitchFamily="34" charset="-122"/>
                <a:cs typeface="Arial" pitchFamily="34" charset="-120"/>
              </a:rPr>
              <a:t>Each of these has a response and a point at which we decide.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947"/>
        </a:solidFill>
      </p:bgPr>
    </p:bg>
    <p:spTree>
      <p:nvGrpSpPr>
        <p:cNvPr id="1" name=""/>
        <p:cNvGrpSpPr/>
        <p:nvPr/>
      </p:nvGrpSpPr>
      <p:grpSpPr>
        <a:xfrm>
          <a:off x="0" y="0"/>
          <a:ext cx="0" cy="0"/>
          <a:chOff x="0" y="0"/>
          <a:chExt cx="0" cy="0"/>
        </a:xfrm>
      </p:grpSpPr>
      <p:sp>
        <p:nvSpPr>
          <p:cNvPr id="2" name="Shape 0"/>
          <p:cNvSpPr/>
          <p:nvPr/>
        </p:nvSpPr>
        <p:spPr>
          <a:xfrm>
            <a:off x="9692640" y="5120640"/>
            <a:ext cx="3108960" cy="3108960"/>
          </a:xfrm>
          <a:prstGeom prst="ellipse">
            <a:avLst/>
          </a:prstGeom>
          <a:solidFill>
            <a:srgbClr val="1C3255"/>
          </a:solidFill>
          <a:ln/>
        </p:spPr>
      </p:sp>
      <p:sp>
        <p:nvSpPr>
          <p:cNvPr id="3" name="Text 1"/>
          <p:cNvSpPr txBox="1"/>
          <p:nvPr/>
        </p:nvSpPr>
        <p:spPr>
          <a:xfrm>
            <a:off x="685800" y="868680"/>
            <a:ext cx="5486400" cy="274320"/>
          </a:xfrm>
          <a:prstGeom prst="rect">
            <a:avLst/>
          </a:prstGeom>
          <a:noFill/>
          <a:ln/>
        </p:spPr>
        <p:txBody>
          <a:bodyPr wrap="square" lIns="0" tIns="0" rIns="0" bIns="0" rtlCol="0" anchor="ctr"/>
          <a:lstStyle/>
          <a:p>
            <a:pPr indent="0" marL="0">
              <a:buNone/>
            </a:pPr>
            <a:r>
              <a:rPr lang="en-US" sz="1050" b="1" spc="260" kern="0" dirty="0">
                <a:solidFill>
                  <a:srgbClr val="C3A965"/>
                </a:solidFill>
                <a:latin typeface="Arial" pitchFamily="34" charset="0"/>
                <a:ea typeface="Arial" pitchFamily="34" charset="-122"/>
                <a:cs typeface="Arial" pitchFamily="34" charset="-120"/>
              </a:rPr>
              <a:t>THE PLAN</a:t>
            </a:r>
            <a:endParaRPr lang="en-US" sz="1050" dirty="0"/>
          </a:p>
        </p:txBody>
      </p:sp>
      <p:sp>
        <p:nvSpPr>
          <p:cNvPr id="4" name="Text 2"/>
          <p:cNvSpPr txBox="1"/>
          <p:nvPr/>
        </p:nvSpPr>
        <p:spPr>
          <a:xfrm>
            <a:off x="685800" y="1325880"/>
            <a:ext cx="10241280" cy="2011680"/>
          </a:xfrm>
          <a:prstGeom prst="rect">
            <a:avLst/>
          </a:prstGeom>
          <a:noFill/>
          <a:ln/>
        </p:spPr>
        <p:txBody>
          <a:bodyPr wrap="square" lIns="0" tIns="0" rIns="0" bIns="0" rtlCol="0" anchor="t"/>
          <a:lstStyle/>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Rebuild number and algebra first.</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Cover about 105 marks of content and work towards 80.</a:t>
            </a:r>
            <a:endParaRPr lang="en-US" sz="2800" dirty="0"/>
          </a:p>
          <a:p>
            <a:pPr indent="0" marL="0">
              <a:lnSpc>
                <a:spcPts val="4400"/>
              </a:lnSpc>
              <a:buNone/>
            </a:pPr>
            <a:r>
              <a:rPr lang="en-US" sz="2800" dirty="0">
                <a:solidFill>
                  <a:srgbClr val="F6F4EF"/>
                </a:solidFill>
                <a:latin typeface="Cambria" pitchFamily="34" charset="0"/>
                <a:ea typeface="Cambria" pitchFamily="34" charset="-122"/>
                <a:cs typeface="Cambria" pitchFamily="34" charset="-120"/>
              </a:rPr>
              <a:t>Leave the rest out.</a:t>
            </a:r>
            <a:endParaRPr lang="en-US" sz="2800" dirty="0"/>
          </a:p>
        </p:txBody>
      </p:sp>
      <p:sp>
        <p:nvSpPr>
          <p:cNvPr id="5" name="Shape 3"/>
          <p:cNvSpPr/>
          <p:nvPr/>
        </p:nvSpPr>
        <p:spPr>
          <a:xfrm>
            <a:off x="685800" y="3611880"/>
            <a:ext cx="5669280" cy="0"/>
          </a:xfrm>
          <a:prstGeom prst="line">
            <a:avLst/>
          </a:prstGeom>
          <a:noFill/>
          <a:ln w="9525">
            <a:solidFill>
              <a:srgbClr val="3A4E70"/>
            </a:solidFill>
            <a:prstDash val="solid"/>
          </a:ln>
        </p:spPr>
      </p:sp>
      <p:sp>
        <p:nvSpPr>
          <p:cNvPr id="6" name="Text 4"/>
          <p:cNvSpPr txBox="1"/>
          <p:nvPr/>
        </p:nvSpPr>
        <p:spPr>
          <a:xfrm>
            <a:off x="685800" y="3858768"/>
            <a:ext cx="3657600" cy="274320"/>
          </a:xfrm>
          <a:prstGeom prst="rect">
            <a:avLst/>
          </a:prstGeom>
          <a:noFill/>
          <a:ln/>
        </p:spPr>
        <p:txBody>
          <a:bodyPr wrap="square" lIns="0" tIns="0" rIns="0" bIns="0" rtlCol="0" anchor="ctr"/>
          <a:lstStyle/>
          <a:p>
            <a:pPr indent="0" marL="0">
              <a:buNone/>
            </a:pPr>
            <a:r>
              <a:rPr lang="en-US" sz="1050" b="1" spc="220" kern="0" dirty="0">
                <a:solidFill>
                  <a:srgbClr val="C3A965"/>
                </a:solidFill>
                <a:latin typeface="Arial" pitchFamily="34" charset="0"/>
                <a:ea typeface="Arial" pitchFamily="34" charset="-122"/>
                <a:cs typeface="Arial" pitchFamily="34" charset="-120"/>
              </a:rPr>
              <a:t>THIS WEEK</a:t>
            </a:r>
            <a:endParaRPr lang="en-US" sz="1050" dirty="0"/>
          </a:p>
        </p:txBody>
      </p:sp>
      <p:sp>
        <p:nvSpPr>
          <p:cNvPr id="7" name="Shape 5"/>
          <p:cNvSpPr/>
          <p:nvPr/>
        </p:nvSpPr>
        <p:spPr>
          <a:xfrm>
            <a:off x="685800" y="4224528"/>
            <a:ext cx="347472" cy="347472"/>
          </a:xfrm>
          <a:prstGeom prst="ellipse">
            <a:avLst/>
          </a:prstGeom>
          <a:solidFill>
            <a:srgbClr val="22355A"/>
          </a:solidFill>
          <a:ln/>
        </p:spPr>
      </p:sp>
      <p:sp>
        <p:nvSpPr>
          <p:cNvPr id="8" name="Text 6"/>
          <p:cNvSpPr txBox="1"/>
          <p:nvPr/>
        </p:nvSpPr>
        <p:spPr>
          <a:xfrm>
            <a:off x="685800" y="4224528"/>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1</a:t>
            </a:r>
            <a:endParaRPr lang="en-US" sz="1500" dirty="0"/>
          </a:p>
        </p:txBody>
      </p:sp>
      <p:sp>
        <p:nvSpPr>
          <p:cNvPr id="9" name="Text 7"/>
          <p:cNvSpPr txBox="1"/>
          <p:nvPr/>
        </p:nvSpPr>
        <p:spPr>
          <a:xfrm>
            <a:off x="1188720" y="4261104"/>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Check with the school that Charlotte is entered, and for which tier</a:t>
            </a:r>
            <a:endParaRPr lang="en-US" sz="1300" dirty="0"/>
          </a:p>
        </p:txBody>
      </p:sp>
      <p:sp>
        <p:nvSpPr>
          <p:cNvPr id="10" name="Shape 8"/>
          <p:cNvSpPr/>
          <p:nvPr/>
        </p:nvSpPr>
        <p:spPr>
          <a:xfrm>
            <a:off x="685800" y="4736592"/>
            <a:ext cx="347472" cy="347472"/>
          </a:xfrm>
          <a:prstGeom prst="ellipse">
            <a:avLst/>
          </a:prstGeom>
          <a:solidFill>
            <a:srgbClr val="22355A"/>
          </a:solidFill>
          <a:ln/>
        </p:spPr>
      </p:sp>
      <p:sp>
        <p:nvSpPr>
          <p:cNvPr id="11" name="Text 9"/>
          <p:cNvSpPr txBox="1"/>
          <p:nvPr/>
        </p:nvSpPr>
        <p:spPr>
          <a:xfrm>
            <a:off x="685800" y="4736592"/>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4773168"/>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Fluency audit and calculator setup in the next session</a:t>
            </a:r>
            <a:endParaRPr lang="en-US" sz="1300" dirty="0"/>
          </a:p>
        </p:txBody>
      </p:sp>
      <p:sp>
        <p:nvSpPr>
          <p:cNvPr id="13" name="Shape 11"/>
          <p:cNvSpPr/>
          <p:nvPr/>
        </p:nvSpPr>
        <p:spPr>
          <a:xfrm>
            <a:off x="685800" y="5248656"/>
            <a:ext cx="347472" cy="347472"/>
          </a:xfrm>
          <a:prstGeom prst="ellipse">
            <a:avLst/>
          </a:prstGeom>
          <a:solidFill>
            <a:srgbClr val="22355A"/>
          </a:solidFill>
          <a:ln/>
        </p:spPr>
      </p:sp>
      <p:sp>
        <p:nvSpPr>
          <p:cNvPr id="14" name="Text 12"/>
          <p:cNvSpPr txBox="1"/>
          <p:nvPr/>
        </p:nvSpPr>
        <p:spPr>
          <a:xfrm>
            <a:off x="685800" y="5248656"/>
            <a:ext cx="347472" cy="347472"/>
          </a:xfrm>
          <a:prstGeom prst="rect">
            <a:avLst/>
          </a:prstGeom>
          <a:noFill/>
          <a:ln/>
        </p:spPr>
        <p:txBody>
          <a:bodyPr wrap="square" lIns="0" tIns="0" rIns="0" bIns="0" rtlCol="0" anchor="ctr"/>
          <a:lstStyle/>
          <a:p>
            <a:pPr algn="ctr" indent="0" marL="0">
              <a:buNone/>
            </a:pPr>
            <a:r>
              <a:rPr lang="en-US" sz="1500" b="1" dirty="0">
                <a:solidFill>
                  <a:srgbClr val="C3A965"/>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188720" y="5285232"/>
            <a:ext cx="7772400" cy="274320"/>
          </a:xfrm>
          <a:prstGeom prst="rect">
            <a:avLst/>
          </a:prstGeom>
          <a:noFill/>
          <a:ln/>
        </p:spPr>
        <p:txBody>
          <a:bodyPr wrap="square" lIns="0" tIns="0" rIns="0" bIns="0" rtlCol="0" anchor="ctr"/>
          <a:lstStyle/>
          <a:p>
            <a:pPr indent="0" marL="0">
              <a:buNone/>
            </a:pPr>
            <a:r>
              <a:rPr lang="en-US" sz="1300" dirty="0">
                <a:solidFill>
                  <a:srgbClr val="E8E4DA"/>
                </a:solidFill>
                <a:latin typeface="Arial" pitchFamily="34" charset="0"/>
                <a:ea typeface="Arial" pitchFamily="34" charset="-122"/>
                <a:cs typeface="Arial" pitchFamily="34" charset="-120"/>
              </a:rPr>
              <a:t>Baseline paper at home, and the error log set up</a:t>
            </a:r>
            <a:endParaRPr lang="en-US" sz="1300" dirty="0"/>
          </a:p>
        </p:txBody>
      </p:sp>
      <p:sp>
        <p:nvSpPr>
          <p:cNvPr id="16" name="Text 14"/>
          <p:cNvSpPr txBox="1"/>
          <p:nvPr/>
        </p:nvSpPr>
        <p:spPr>
          <a:xfrm>
            <a:off x="685800" y="5760720"/>
            <a:ext cx="7772400" cy="274320"/>
          </a:xfrm>
          <a:prstGeom prst="rect">
            <a:avLst/>
          </a:prstGeom>
          <a:noFill/>
          <a:ln/>
        </p:spPr>
        <p:txBody>
          <a:bodyPr wrap="square" lIns="0" tIns="0" rIns="0" bIns="0" rtlCol="0" anchor="ctr"/>
          <a:lstStyle/>
          <a:p>
            <a:pPr indent="0" marL="0">
              <a:buNone/>
            </a:pPr>
            <a:r>
              <a:rPr lang="en-US" sz="1150" dirty="0">
                <a:solidFill>
                  <a:srgbClr val="A8B2C2"/>
                </a:solidFill>
                <a:latin typeface="Arial" pitchFamily="34" charset="0"/>
                <a:ea typeface="Arial" pitchFamily="34" charset="-122"/>
                <a:cs typeface="Arial" pitchFamily="34" charset="-120"/>
              </a:rPr>
              <a:t>If anything here does not look right, please say and we will change it.</a:t>
            </a:r>
            <a:endParaRPr lang="en-US" sz="1150" dirty="0"/>
          </a:p>
        </p:txBody>
      </p:sp>
      <p:sp>
        <p:nvSpPr>
          <p:cNvPr id="17" name="Text 15"/>
          <p:cNvSpPr txBox="1"/>
          <p:nvPr/>
        </p:nvSpPr>
        <p:spPr>
          <a:xfrm>
            <a:off x="685800" y="6263640"/>
            <a:ext cx="3657600" cy="274320"/>
          </a:xfrm>
          <a:prstGeom prst="rect">
            <a:avLst/>
          </a:prstGeom>
          <a:noFill/>
          <a:ln/>
        </p:spPr>
        <p:txBody>
          <a:bodyPr wrap="square" lIns="0" tIns="0" rIns="0" bIns="0" rtlCol="0" anchor="ctr"/>
          <a:lstStyle/>
          <a:p>
            <a:pPr indent="0" marL="0">
              <a:buNone/>
            </a:pPr>
            <a:r>
              <a:rPr lang="en-US" sz="1400" dirty="0">
                <a:solidFill>
                  <a:srgbClr val="A8B2C2"/>
                </a:solidFill>
                <a:latin typeface="Cambria" pitchFamily="34" charset="0"/>
                <a:ea typeface="Cambria" pitchFamily="34" charset="-122"/>
                <a:cs typeface="Cambria" pitchFamily="34" charset="-120"/>
              </a:rPr>
              <a:t>Ali Tutors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November Maths Plan</dc:title>
  <dc:subject>PptxGenJS Presentation</dc:subject>
  <dc:creator>Ali Tutors</dc:creator>
  <cp:lastModifiedBy>Ali Tutors</cp:lastModifiedBy>
  <cp:revision>1</cp:revision>
  <dcterms:created xsi:type="dcterms:W3CDTF">2026-09-21T12:43:44Z</dcterms:created>
  <dcterms:modified xsi:type="dcterms:W3CDTF">2026-09-21T12:43:44Z</dcterms:modified>
</cp:coreProperties>
</file>