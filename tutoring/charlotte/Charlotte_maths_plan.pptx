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Marks of 200</c:v>
                </c:pt>
              </c:strCache>
            </c:strRef>
          </c:tx>
          <c:spPr>
            <a:solidFill>
              <a:srgbClr val="9AA6B8"/>
            </a:solidFill>
            <a:effectLst/>
          </c:spPr>
          <c:invertIfNegative val="0"/>
          <c:dLbls>
            <c:numFmt formatCode="#,##0" sourceLinked="0"/>
            <c:txPr>
              <a:bodyPr/>
              <a:lstStyle/>
              <a:p>
                <a:pPr>
                  <a:defRPr b="1" i="0" strike="noStrike" sz="1200" u="none">
                    <a:solidFill>
                      <a:srgbClr val="162947"/>
                    </a:solidFill>
                    <a:latin typeface="Arial"/>
                  </a:defRPr>
                </a:pPr>
              </a:p>
            </c:txPr>
            <c:showLegendKey val="0"/>
            <c:showVal val="1"/>
            <c:showCatName val="0"/>
            <c:showSerName val="0"/>
            <c:showPercent val="0"/>
            <c:showBubbleSize val="0"/>
            <c:showLeaderLines val="0"/>
          </c:dLbls>
          <c:dPt>
            <c:idx val="0"/>
            <c:invertIfNegative val="0"/>
            <c:bubble3D val="0"/>
            <c:spPr>
              <a:solidFill>
                <a:srgbClr val="9AA6B8"/>
              </a:solidFill>
              <a:effectLst/>
            </c:spPr>
          </c:dPt>
          <c:dPt>
            <c:idx val="1"/>
            <c:invertIfNegative val="0"/>
            <c:bubble3D val="0"/>
            <c:spPr>
              <a:solidFill>
                <a:srgbClr val="C3A965"/>
              </a:solidFill>
              <a:effectLst/>
            </c:spPr>
          </c:dPt>
          <c:dPt>
            <c:idx val="2"/>
            <c:invertIfNegative val="0"/>
            <c:bubble3D val="0"/>
            <c:spPr>
              <a:solidFill>
                <a:srgbClr val="162947"/>
              </a:solidFill>
              <a:effectLst/>
            </c:spPr>
          </c:dPt>
          <c:cat>
            <c:multiLvlStrRef>
              <c:f>Sheet1!$A$2:$A$4</c:f>
              <c:multiLvlStrCache>
                <c:ptCount val="3"/>
                <c:lvl>
                  <c:pt idx="0">
                    <c:v>Handling data</c:v>
                  </c:pt>
                  <c:pt idx="1">
                    <c:v>Shape, space and measure</c:v>
                  </c:pt>
                  <c:pt idx="2">
                    <c:v>Number and algebra</c:v>
                  </c:pt>
                </c:lvl>
              </c:multiLvlStrCache>
            </c:multiLvlStrRef>
          </c:cat>
          <c:val>
            <c:numRef>
              <c:f>Sheet1!$B$2:$B$4</c:f>
              <c:numCache>
                <c:formatCode>General</c:formatCode>
                <c:ptCount val="3"/>
                <c:pt idx="0">
                  <c:v>30</c:v>
                </c:pt>
                <c:pt idx="1">
                  <c:v>50</c:v>
                </c:pt>
                <c:pt idx="2">
                  <c:v>120</c:v>
                </c:pt>
              </c:numCache>
            </c:numRef>
          </c:val>
        </c:ser>
        <c:dLbls>
          <c:numFmt formatCode="#,##0" sourceLinked="0"/>
          <c:txPr>
            <a:bodyPr/>
            <a:lstStyle/>
            <a:p>
              <a:pPr>
                <a:defRPr b="1" i="0" strike="noStrike" sz="1200" u="none">
                  <a:solidFill>
                    <a:srgbClr val="16294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162947"/>
                </a:solidFill>
                <a:latin typeface="Arial"/>
              </a:defRPr>
            </a:pPr>
            <a:endParaRPr lang="en-US"/>
          </a:p>
        </c:txPr>
        <c:crossAx val="2094734552"/>
        <c:crosses val="autoZero"/>
        <c:auto val="1"/>
        <c:lblAlgn val="ctr"/>
        <c:noMultiLvlLbl val="1"/>
      </c:catAx>
      <c:valAx>
        <c:axId val="2094734552"/>
        <c:scaling>
          <c:orientation val="minMax"/>
          <c:max val="1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6F4EF"/>
        </a:solidFill>
        <a:ln>
          <a:noFill/>
        </a:ln>
        <a:effectLst/>
      </c:spPr>
    </c:plotArea>
    <c:plotVisOnly val="1"/>
    <c:dispBlanksAs val="span"/>
  </c:chart>
  <c:spPr>
    <a:solidFill>
      <a:srgbClr val="F6F4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student and parent together. Series runs 27 Oct to 19 Nov, so she must stay available to 19 Nov.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exact session times with the school. Late entry deadlines for the November series fall in early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 2025 Higher boundaries used here: 9=166, 8=136, 7=107, 6=86, 5=65, 4=45. Verify against the Pearson published boundaries before quoting to the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 grade 5 on 4MA1 has typically sat around 73 to 80 per cent of 200. Check the current figure before presenting. If the school has already entered her, confirm which tier and whether a change is still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Weightings from the 4MA1 specification: Number and algebra 57 to 63%, Shape space and measure 22 to 28%, Handling data 12 to 18%. The pool figures are estimates from past paper analysis, not published values.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 papers are a measuring tool as well as a teaching tool. The week 1 paper is a baseline, sat at home over the first weekend and marked together in session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Thursday is the highest-value session in the week. Keep it short and specific. Do not review the whole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additions to the teach list since the first draft are linear simultaneous equations and scale factors. Both are single-rule topics that recur and cost under half a session each. The quadratic formula and the sine and cosine rules move to the leave list: they sit above her band and were the only new content previously scheduled for the final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new. On a calculator paper at grade 5, blanks and missing working are usually worth more than any topic we could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947"/>
        </a:solidFill>
      </p:bgPr>
    </p:bg>
    <p:spTree>
      <p:nvGrpSpPr>
        <p:cNvPr id="1" name=""/>
        <p:cNvGrpSpPr/>
        <p:nvPr/>
      </p:nvGrpSpPr>
      <p:grpSpPr>
        <a:xfrm>
          <a:off x="0" y="0"/>
          <a:ext cx="0" cy="0"/>
          <a:chOff x="0" y="0"/>
          <a:chExt cx="0" cy="0"/>
        </a:xfrm>
      </p:grpSpPr>
      <p:sp>
        <p:nvSpPr>
          <p:cNvPr id="2" name="Shape 0"/>
          <p:cNvSpPr/>
          <p:nvPr/>
        </p:nvSpPr>
        <p:spPr>
          <a:xfrm>
            <a:off x="8732520" y="-1554480"/>
            <a:ext cx="4754880" cy="4754880"/>
          </a:xfrm>
          <a:prstGeom prst="ellipse">
            <a:avLst/>
          </a:prstGeom>
          <a:solidFill>
            <a:srgbClr val="1C3255"/>
          </a:solidFill>
          <a:ln/>
        </p:spPr>
      </p:sp>
      <p:sp>
        <p:nvSpPr>
          <p:cNvPr id="3" name="Shape 1"/>
          <p:cNvSpPr/>
          <p:nvPr/>
        </p:nvSpPr>
        <p:spPr>
          <a:xfrm>
            <a:off x="10378440" y="4709160"/>
            <a:ext cx="2834640" cy="2834640"/>
          </a:xfrm>
          <a:prstGeom prst="ellipse">
            <a:avLst/>
          </a:prstGeom>
          <a:solidFill>
            <a:srgbClr val="C3A965"/>
          </a:solidFill>
          <a:ln/>
        </p:spPr>
      </p:sp>
      <p:sp>
        <p:nvSpPr>
          <p:cNvPr id="4" name="Text 2"/>
          <p:cNvSpPr txBox="1"/>
          <p:nvPr/>
        </p:nvSpPr>
        <p:spPr>
          <a:xfrm>
            <a:off x="685800" y="777240"/>
            <a:ext cx="5486400" cy="274320"/>
          </a:xfrm>
          <a:prstGeom prst="rect">
            <a:avLst/>
          </a:prstGeom>
          <a:noFill/>
          <a:ln/>
        </p:spPr>
        <p:txBody>
          <a:bodyPr wrap="square" lIns="0" tIns="0" rIns="0" bIns="0" rtlCol="0" anchor="ctr"/>
          <a:lstStyle/>
          <a:p>
            <a:pPr indent="0" marL="0">
              <a:buNone/>
            </a:pPr>
            <a:r>
              <a:rPr lang="en-US" sz="1100" b="1" spc="300" kern="0" dirty="0">
                <a:solidFill>
                  <a:srgbClr val="C3A965"/>
                </a:solidFill>
                <a:latin typeface="Arial" pitchFamily="34" charset="0"/>
                <a:ea typeface="Arial" pitchFamily="34" charset="-122"/>
                <a:cs typeface="Arial" pitchFamily="34" charset="-120"/>
              </a:rPr>
              <a:t>ALI TUTORS</a:t>
            </a:r>
            <a:endParaRPr lang="en-US" sz="1100" dirty="0"/>
          </a:p>
        </p:txBody>
      </p:sp>
      <p:sp>
        <p:nvSpPr>
          <p:cNvPr id="5" name="Text 3"/>
          <p:cNvSpPr txBox="1"/>
          <p:nvPr/>
        </p:nvSpPr>
        <p:spPr>
          <a:xfrm>
            <a:off x="685800" y="1371600"/>
            <a:ext cx="7315200" cy="2011680"/>
          </a:xfrm>
          <a:prstGeom prst="rect">
            <a:avLst/>
          </a:prstGeom>
          <a:noFill/>
          <a:ln/>
        </p:spPr>
        <p:txBody>
          <a:bodyPr wrap="square" lIns="0" tIns="0" rIns="0" bIns="0" rtlCol="0" anchor="ctr"/>
          <a:lstStyle/>
          <a:p>
            <a:pPr indent="0" marL="0">
              <a:lnSpc>
                <a:spcPts val="6200"/>
              </a:lnSpc>
              <a:buNone/>
            </a:pPr>
            <a:r>
              <a:rPr lang="en-US" sz="5800" dirty="0">
                <a:solidFill>
                  <a:srgbClr val="F6F4EF"/>
                </a:solidFill>
                <a:latin typeface="Cambria" pitchFamily="34" charset="0"/>
                <a:ea typeface="Cambria" pitchFamily="34" charset="-122"/>
                <a:cs typeface="Cambria" pitchFamily="34" charset="-120"/>
              </a:rPr>
              <a:t>November</a:t>
            </a:r>
            <a:endParaRPr lang="en-US" sz="5800" dirty="0"/>
          </a:p>
          <a:p>
            <a:pPr indent="0" marL="0">
              <a:lnSpc>
                <a:spcPts val="6200"/>
              </a:lnSpc>
              <a:buNone/>
            </a:pPr>
            <a:r>
              <a:rPr lang="en-US" sz="5800" dirty="0">
                <a:solidFill>
                  <a:srgbClr val="F6F4EF"/>
                </a:solidFill>
                <a:latin typeface="Cambria" pitchFamily="34" charset="0"/>
                <a:ea typeface="Cambria" pitchFamily="34" charset="-122"/>
                <a:cs typeface="Cambria" pitchFamily="34" charset="-120"/>
              </a:rPr>
              <a:t>Maths Plan</a:t>
            </a:r>
            <a:endParaRPr lang="en-US" sz="5800" dirty="0"/>
          </a:p>
        </p:txBody>
      </p:sp>
      <p:sp>
        <p:nvSpPr>
          <p:cNvPr id="6" name="Text 4"/>
          <p:cNvSpPr txBox="1"/>
          <p:nvPr/>
        </p:nvSpPr>
        <p:spPr>
          <a:xfrm>
            <a:off x="685800" y="3611880"/>
            <a:ext cx="7315200" cy="329184"/>
          </a:xfrm>
          <a:prstGeom prst="rect">
            <a:avLst/>
          </a:prstGeom>
          <a:noFill/>
          <a:ln/>
        </p:spPr>
        <p:txBody>
          <a:bodyPr wrap="square" lIns="0" tIns="0" rIns="0" bIns="0" rtlCol="0" anchor="ctr"/>
          <a:lstStyle/>
          <a:p>
            <a:pPr indent="0" marL="0">
              <a:buNone/>
            </a:pPr>
            <a:r>
              <a:rPr lang="en-US" sz="1500" dirty="0">
                <a:solidFill>
                  <a:srgbClr val="E8E4DA"/>
                </a:solidFill>
                <a:latin typeface="Arial" pitchFamily="34" charset="0"/>
                <a:ea typeface="Arial" pitchFamily="34" charset="-122"/>
                <a:cs typeface="Arial" pitchFamily="34" charset="-120"/>
              </a:rPr>
              <a:t>Edexcel IGCSE Mathematics A (4MA1)  ·  Higher Tier</a:t>
            </a:r>
            <a:endParaRPr lang="en-US" sz="1500" dirty="0"/>
          </a:p>
        </p:txBody>
      </p:sp>
      <p:sp>
        <p:nvSpPr>
          <p:cNvPr id="7" name="Shape 5"/>
          <p:cNvSpPr/>
          <p:nvPr/>
        </p:nvSpPr>
        <p:spPr>
          <a:xfrm>
            <a:off x="685800" y="4224528"/>
            <a:ext cx="2670048" cy="512064"/>
          </a:xfrm>
          <a:prstGeom prst="roundRect">
            <a:avLst>
              <a:gd name="adj" fmla="val 50000"/>
            </a:avLst>
          </a:prstGeom>
          <a:ln w="12700">
            <a:solidFill>
              <a:srgbClr val="C3A965"/>
            </a:solidFill>
            <a:prstDash val="solid"/>
          </a:ln>
        </p:spPr>
      </p:sp>
      <p:sp>
        <p:nvSpPr>
          <p:cNvPr id="8" name="Text 6"/>
          <p:cNvSpPr txBox="1"/>
          <p:nvPr/>
        </p:nvSpPr>
        <p:spPr>
          <a:xfrm>
            <a:off x="685800" y="4224528"/>
            <a:ext cx="2670048" cy="512064"/>
          </a:xfrm>
          <a:prstGeom prst="rect">
            <a:avLst/>
          </a:prstGeom>
          <a:noFill/>
          <a:ln/>
        </p:spPr>
        <p:txBody>
          <a:bodyPr wrap="square" lIns="0" tIns="0" rIns="0" bIns="0" rtlCol="0" anchor="ctr"/>
          <a:lstStyle/>
          <a:p>
            <a:pPr algn="ctr" indent="0" marL="0">
              <a:buNone/>
            </a:pPr>
            <a:r>
              <a:rPr lang="en-US" sz="1000" b="1" spc="160" kern="0" dirty="0">
                <a:solidFill>
                  <a:srgbClr val="C3A965"/>
                </a:solidFill>
                <a:latin typeface="Arial" pitchFamily="34" charset="0"/>
                <a:ea typeface="Arial" pitchFamily="34" charset="-122"/>
                <a:cs typeface="Arial" pitchFamily="34" charset="-120"/>
              </a:rPr>
              <a:t>SIX WEEKS TO PAPER 1</a:t>
            </a:r>
            <a:endParaRPr lang="en-US" sz="1000" dirty="0"/>
          </a:p>
        </p:txBody>
      </p:sp>
      <p:sp>
        <p:nvSpPr>
          <p:cNvPr id="9" name="Text 7"/>
          <p:cNvSpPr txBox="1"/>
          <p:nvPr/>
        </p:nvSpPr>
        <p:spPr>
          <a:xfrm>
            <a:off x="685800" y="5806440"/>
            <a:ext cx="6400800" cy="274320"/>
          </a:xfrm>
          <a:prstGeom prst="rect">
            <a:avLst/>
          </a:prstGeom>
          <a:noFill/>
          <a:ln/>
        </p:spPr>
        <p:txBody>
          <a:bodyPr wrap="square" lIns="0" tIns="0" rIns="0" bIns="0" rtlCol="0" anchor="ctr"/>
          <a:lstStyle/>
          <a:p>
            <a:pPr indent="0" marL="0">
              <a:buNone/>
            </a:pPr>
            <a:r>
              <a:rPr lang="en-US" sz="1100" dirty="0">
                <a:solidFill>
                  <a:srgbClr val="A8B2C2"/>
                </a:solidFill>
                <a:latin typeface="Arial" pitchFamily="34" charset="0"/>
                <a:ea typeface="Arial" pitchFamily="34" charset="-122"/>
                <a:cs typeface="Arial" pitchFamily="34" charset="-120"/>
              </a:rPr>
              <a:t>Prepared for Charlotte  ·  21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THE EXAMS</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Two papers, two days apart</a:t>
            </a:r>
            <a:endParaRPr lang="en-US" sz="3300" dirty="0"/>
          </a:p>
        </p:txBody>
      </p:sp>
      <p:sp>
        <p:nvSpPr>
          <p:cNvPr id="4" name="Shape 2"/>
          <p:cNvSpPr/>
          <p:nvPr/>
        </p:nvSpPr>
        <p:spPr>
          <a:xfrm>
            <a:off x="685800" y="1691640"/>
            <a:ext cx="3246120" cy="2834640"/>
          </a:xfrm>
          <a:prstGeom prst="roundRect">
            <a:avLst>
              <a:gd name="adj" fmla="val 1290"/>
            </a:avLst>
          </a:prstGeom>
          <a:solidFill>
            <a:srgbClr val="162947"/>
          </a:solidFill>
          <a:ln/>
        </p:spPr>
      </p:sp>
      <p:sp>
        <p:nvSpPr>
          <p:cNvPr id="5" name="Text 3"/>
          <p:cNvSpPr txBox="1"/>
          <p:nvPr/>
        </p:nvSpPr>
        <p:spPr>
          <a:xfrm>
            <a:off x="685800" y="1874520"/>
            <a:ext cx="3246120" cy="1143000"/>
          </a:xfrm>
          <a:prstGeom prst="rect">
            <a:avLst/>
          </a:prstGeom>
          <a:noFill/>
          <a:ln/>
        </p:spPr>
        <p:txBody>
          <a:bodyPr wrap="square" lIns="0" tIns="0" rIns="0" bIns="0" rtlCol="0" anchor="ctr"/>
          <a:lstStyle/>
          <a:p>
            <a:pPr algn="ctr" indent="0" marL="0">
              <a:buNone/>
            </a:pPr>
            <a:r>
              <a:rPr lang="en-US" sz="7600" dirty="0">
                <a:solidFill>
                  <a:srgbClr val="C3A965"/>
                </a:solidFill>
                <a:latin typeface="Cambria" pitchFamily="34" charset="0"/>
                <a:ea typeface="Cambria" pitchFamily="34" charset="-122"/>
                <a:cs typeface="Cambria" pitchFamily="34" charset="-120"/>
              </a:rPr>
              <a:t>44</a:t>
            </a:r>
            <a:endParaRPr lang="en-US" sz="7600" dirty="0"/>
          </a:p>
        </p:txBody>
      </p:sp>
      <p:sp>
        <p:nvSpPr>
          <p:cNvPr id="6" name="Text 4"/>
          <p:cNvSpPr txBox="1"/>
          <p:nvPr/>
        </p:nvSpPr>
        <p:spPr>
          <a:xfrm>
            <a:off x="685800" y="3017520"/>
            <a:ext cx="3246120" cy="274320"/>
          </a:xfrm>
          <a:prstGeom prst="rect">
            <a:avLst/>
          </a:prstGeom>
          <a:noFill/>
          <a:ln/>
        </p:spPr>
        <p:txBody>
          <a:bodyPr wrap="square" lIns="0" tIns="0" rIns="0" bIns="0" rtlCol="0" anchor="ctr"/>
          <a:lstStyle/>
          <a:p>
            <a:pPr algn="ctr" indent="0" marL="0">
              <a:buNone/>
            </a:pPr>
            <a:r>
              <a:rPr lang="en-US" sz="1300" b="1" dirty="0">
                <a:solidFill>
                  <a:srgbClr val="F6F4EF"/>
                </a:solidFill>
                <a:latin typeface="Arial" pitchFamily="34" charset="0"/>
                <a:ea typeface="Arial" pitchFamily="34" charset="-122"/>
                <a:cs typeface="Arial" pitchFamily="34" charset="-120"/>
              </a:rPr>
              <a:t>days until Paper 1</a:t>
            </a:r>
            <a:endParaRPr lang="en-US" sz="1300" dirty="0"/>
          </a:p>
        </p:txBody>
      </p:sp>
      <p:sp>
        <p:nvSpPr>
          <p:cNvPr id="7" name="Text 5"/>
          <p:cNvSpPr txBox="1"/>
          <p:nvPr/>
        </p:nvSpPr>
        <p:spPr>
          <a:xfrm>
            <a:off x="685800" y="3401568"/>
            <a:ext cx="3246120" cy="640080"/>
          </a:xfrm>
          <a:prstGeom prst="rect">
            <a:avLst/>
          </a:prstGeom>
          <a:noFill/>
          <a:ln/>
        </p:spPr>
        <p:txBody>
          <a:bodyPr wrap="square" lIns="0" tIns="0" rIns="0" bIns="0" rtlCol="0" anchor="ctr"/>
          <a:lstStyle/>
          <a:p>
            <a:pPr algn="ctr" indent="0" marL="0">
              <a:lnSpc>
                <a:spcPts val="1600"/>
              </a:lnSpc>
              <a:buNone/>
            </a:pPr>
            <a:r>
              <a:rPr lang="en-US" sz="1100" dirty="0">
                <a:solidFill>
                  <a:srgbClr val="A8B2C2"/>
                </a:solidFill>
                <a:latin typeface="Arial" pitchFamily="34" charset="0"/>
                <a:ea typeface="Arial" pitchFamily="34" charset="-122"/>
                <a:cs typeface="Arial" pitchFamily="34" charset="-120"/>
              </a:rPr>
              <a:t>Six teaching weeks</a:t>
            </a:r>
            <a:endParaRPr lang="en-US" sz="1100" dirty="0"/>
          </a:p>
          <a:p>
            <a:pPr algn="ctr" indent="0" marL="0">
              <a:lnSpc>
                <a:spcPts val="1600"/>
              </a:lnSpc>
              <a:buNone/>
            </a:pPr>
            <a:r>
              <a:rPr lang="en-US" sz="1100" dirty="0">
                <a:solidFill>
                  <a:srgbClr val="A8B2C2"/>
                </a:solidFill>
                <a:latin typeface="Arial" pitchFamily="34" charset="0"/>
                <a:ea typeface="Arial" pitchFamily="34" charset="-122"/>
                <a:cs typeface="Arial" pitchFamily="34" charset="-120"/>
              </a:rPr>
              <a:t>and two days</a:t>
            </a:r>
            <a:endParaRPr lang="en-US" sz="1100" dirty="0"/>
          </a:p>
        </p:txBody>
      </p:sp>
      <p:sp>
        <p:nvSpPr>
          <p:cNvPr id="8" name="Shape 6"/>
          <p:cNvSpPr/>
          <p:nvPr/>
        </p:nvSpPr>
        <p:spPr>
          <a:xfrm>
            <a:off x="4343400" y="1691640"/>
            <a:ext cx="7159752" cy="1298448"/>
          </a:xfrm>
          <a:prstGeom prst="roundRect">
            <a:avLst>
              <a:gd name="adj" fmla="val 2817"/>
            </a:avLst>
          </a:prstGeom>
          <a:solidFill>
            <a:srgbClr val="FFFFFF"/>
          </a:solidFill>
          <a:ln w="9525">
            <a:solidFill>
              <a:srgbClr val="E3DFD5"/>
            </a:solidFill>
            <a:prstDash val="solid"/>
          </a:ln>
        </p:spPr>
      </p:sp>
      <p:sp>
        <p:nvSpPr>
          <p:cNvPr id="9" name="Text 7"/>
          <p:cNvSpPr txBox="1"/>
          <p:nvPr/>
        </p:nvSpPr>
        <p:spPr>
          <a:xfrm>
            <a:off x="4663440" y="1911096"/>
            <a:ext cx="1920240" cy="329184"/>
          </a:xfrm>
          <a:prstGeom prst="rect">
            <a:avLst/>
          </a:prstGeom>
          <a:noFill/>
          <a:ln/>
        </p:spPr>
        <p:txBody>
          <a:bodyPr wrap="square" lIns="0" tIns="0" rIns="0" bIns="0" rtlCol="0" anchor="ctr"/>
          <a:lstStyle/>
          <a:p>
            <a:pPr indent="0" marL="0">
              <a:buNone/>
            </a:pPr>
            <a:r>
              <a:rPr lang="en-US" sz="2000" dirty="0">
                <a:solidFill>
                  <a:srgbClr val="C3A965"/>
                </a:solidFill>
                <a:latin typeface="Cambria" pitchFamily="34" charset="0"/>
                <a:ea typeface="Cambria" pitchFamily="34" charset="-122"/>
                <a:cs typeface="Cambria" pitchFamily="34" charset="-120"/>
              </a:rPr>
              <a:t>Wed 4 Nov</a:t>
            </a:r>
            <a:endParaRPr lang="en-US" sz="2000" dirty="0"/>
          </a:p>
        </p:txBody>
      </p:sp>
      <p:sp>
        <p:nvSpPr>
          <p:cNvPr id="10" name="Text 8"/>
          <p:cNvSpPr txBox="1"/>
          <p:nvPr/>
        </p:nvSpPr>
        <p:spPr>
          <a:xfrm>
            <a:off x="6492240" y="1947672"/>
            <a:ext cx="2011680" cy="292608"/>
          </a:xfrm>
          <a:prstGeom prst="rect">
            <a:avLst/>
          </a:prstGeom>
          <a:noFill/>
          <a:ln/>
        </p:spPr>
        <p:txBody>
          <a:bodyPr wrap="square" lIns="0" tIns="0" rIns="0" bIns="0" rtlCol="0" anchor="ctr"/>
          <a:lstStyle/>
          <a:p>
            <a:pPr indent="0" marL="0">
              <a:buNone/>
            </a:pPr>
            <a:r>
              <a:rPr lang="en-US" sz="1500" b="1" dirty="0">
                <a:solidFill>
                  <a:srgbClr val="162947"/>
                </a:solidFill>
                <a:latin typeface="Arial" pitchFamily="34" charset="0"/>
                <a:ea typeface="Arial" pitchFamily="34" charset="-122"/>
                <a:cs typeface="Arial" pitchFamily="34" charset="-120"/>
              </a:rPr>
              <a:t>Paper 1H</a:t>
            </a:r>
            <a:endParaRPr lang="en-US" sz="1500" dirty="0"/>
          </a:p>
        </p:txBody>
      </p:sp>
      <p:sp>
        <p:nvSpPr>
          <p:cNvPr id="11" name="Text 9"/>
          <p:cNvSpPr txBox="1"/>
          <p:nvPr/>
        </p:nvSpPr>
        <p:spPr>
          <a:xfrm>
            <a:off x="4663440" y="2404872"/>
            <a:ext cx="6492240" cy="274320"/>
          </a:xfrm>
          <a:prstGeom prst="rect">
            <a:avLst/>
          </a:prstGeom>
          <a:noFill/>
          <a:ln/>
        </p:spPr>
        <p:txBody>
          <a:bodyPr wrap="square" lIns="0" tIns="0" rIns="0" bIns="0" rtlCol="0" anchor="ctr"/>
          <a:lstStyle/>
          <a:p>
            <a:pPr indent="0" marL="0">
              <a:buNone/>
            </a:pPr>
            <a:r>
              <a:rPr lang="en-US" sz="1150" dirty="0">
                <a:solidFill>
                  <a:srgbClr val="5D6471"/>
                </a:solidFill>
                <a:latin typeface="Arial" pitchFamily="34" charset="0"/>
                <a:ea typeface="Arial" pitchFamily="34" charset="-122"/>
                <a:cs typeface="Arial" pitchFamily="34" charset="-120"/>
              </a:rPr>
              <a:t>Morning  ·  2 hours  ·  100 marks  ·  calculator</a:t>
            </a:r>
            <a:endParaRPr lang="en-US" sz="1150" dirty="0"/>
          </a:p>
        </p:txBody>
      </p:sp>
      <p:sp>
        <p:nvSpPr>
          <p:cNvPr id="12" name="Shape 10"/>
          <p:cNvSpPr/>
          <p:nvPr/>
        </p:nvSpPr>
        <p:spPr>
          <a:xfrm>
            <a:off x="4343400" y="3172968"/>
            <a:ext cx="7159752" cy="1298448"/>
          </a:xfrm>
          <a:prstGeom prst="roundRect">
            <a:avLst>
              <a:gd name="adj" fmla="val 2817"/>
            </a:avLst>
          </a:prstGeom>
          <a:solidFill>
            <a:srgbClr val="FFFFFF"/>
          </a:solidFill>
          <a:ln w="9525">
            <a:solidFill>
              <a:srgbClr val="E3DFD5"/>
            </a:solidFill>
            <a:prstDash val="solid"/>
          </a:ln>
        </p:spPr>
      </p:sp>
      <p:sp>
        <p:nvSpPr>
          <p:cNvPr id="13" name="Text 11"/>
          <p:cNvSpPr txBox="1"/>
          <p:nvPr/>
        </p:nvSpPr>
        <p:spPr>
          <a:xfrm>
            <a:off x="4663440" y="3392424"/>
            <a:ext cx="1920240" cy="329184"/>
          </a:xfrm>
          <a:prstGeom prst="rect">
            <a:avLst/>
          </a:prstGeom>
          <a:noFill/>
          <a:ln/>
        </p:spPr>
        <p:txBody>
          <a:bodyPr wrap="square" lIns="0" tIns="0" rIns="0" bIns="0" rtlCol="0" anchor="ctr"/>
          <a:lstStyle/>
          <a:p>
            <a:pPr indent="0" marL="0">
              <a:buNone/>
            </a:pPr>
            <a:r>
              <a:rPr lang="en-US" sz="2000" dirty="0">
                <a:solidFill>
                  <a:srgbClr val="C3A965"/>
                </a:solidFill>
                <a:latin typeface="Cambria" pitchFamily="34" charset="0"/>
                <a:ea typeface="Cambria" pitchFamily="34" charset="-122"/>
                <a:cs typeface="Cambria" pitchFamily="34" charset="-120"/>
              </a:rPr>
              <a:t>Fri 6 Nov</a:t>
            </a:r>
            <a:endParaRPr lang="en-US" sz="2000" dirty="0"/>
          </a:p>
        </p:txBody>
      </p:sp>
      <p:sp>
        <p:nvSpPr>
          <p:cNvPr id="14" name="Text 12"/>
          <p:cNvSpPr txBox="1"/>
          <p:nvPr/>
        </p:nvSpPr>
        <p:spPr>
          <a:xfrm>
            <a:off x="6492240" y="3429000"/>
            <a:ext cx="2011680" cy="292608"/>
          </a:xfrm>
          <a:prstGeom prst="rect">
            <a:avLst/>
          </a:prstGeom>
          <a:noFill/>
          <a:ln/>
        </p:spPr>
        <p:txBody>
          <a:bodyPr wrap="square" lIns="0" tIns="0" rIns="0" bIns="0" rtlCol="0" anchor="ctr"/>
          <a:lstStyle/>
          <a:p>
            <a:pPr indent="0" marL="0">
              <a:buNone/>
            </a:pPr>
            <a:r>
              <a:rPr lang="en-US" sz="1500" b="1" dirty="0">
                <a:solidFill>
                  <a:srgbClr val="162947"/>
                </a:solidFill>
                <a:latin typeface="Arial" pitchFamily="34" charset="0"/>
                <a:ea typeface="Arial" pitchFamily="34" charset="-122"/>
                <a:cs typeface="Arial" pitchFamily="34" charset="-120"/>
              </a:rPr>
              <a:t>Paper 2H</a:t>
            </a:r>
            <a:endParaRPr lang="en-US" sz="1500" dirty="0"/>
          </a:p>
        </p:txBody>
      </p:sp>
      <p:sp>
        <p:nvSpPr>
          <p:cNvPr id="15" name="Text 13"/>
          <p:cNvSpPr txBox="1"/>
          <p:nvPr/>
        </p:nvSpPr>
        <p:spPr>
          <a:xfrm>
            <a:off x="4663440" y="3886200"/>
            <a:ext cx="6492240" cy="274320"/>
          </a:xfrm>
          <a:prstGeom prst="rect">
            <a:avLst/>
          </a:prstGeom>
          <a:noFill/>
          <a:ln/>
        </p:spPr>
        <p:txBody>
          <a:bodyPr wrap="square" lIns="0" tIns="0" rIns="0" bIns="0" rtlCol="0" anchor="ctr"/>
          <a:lstStyle/>
          <a:p>
            <a:pPr indent="0" marL="0">
              <a:buNone/>
            </a:pPr>
            <a:r>
              <a:rPr lang="en-US" sz="1150" dirty="0">
                <a:solidFill>
                  <a:srgbClr val="5D6471"/>
                </a:solidFill>
                <a:latin typeface="Arial" pitchFamily="34" charset="0"/>
                <a:ea typeface="Arial" pitchFamily="34" charset="-122"/>
                <a:cs typeface="Arial" pitchFamily="34" charset="-120"/>
              </a:rPr>
              <a:t>Morning  ·  2 hours  ·  100 marks  ·  calculator</a:t>
            </a:r>
            <a:endParaRPr lang="en-US" sz="1150" dirty="0"/>
          </a:p>
        </p:txBody>
      </p:sp>
      <p:sp>
        <p:nvSpPr>
          <p:cNvPr id="16" name="Shape 14"/>
          <p:cNvSpPr/>
          <p:nvPr/>
        </p:nvSpPr>
        <p:spPr>
          <a:xfrm>
            <a:off x="685800" y="4800600"/>
            <a:ext cx="10817352" cy="1325880"/>
          </a:xfrm>
          <a:prstGeom prst="roundRect">
            <a:avLst>
              <a:gd name="adj" fmla="val 2759"/>
            </a:avLst>
          </a:prstGeom>
          <a:solidFill>
            <a:srgbClr val="EFEBE1"/>
          </a:solidFill>
          <a:ln/>
        </p:spPr>
      </p:sp>
      <p:sp>
        <p:nvSpPr>
          <p:cNvPr id="17" name="Text 15"/>
          <p:cNvSpPr txBox="1"/>
          <p:nvPr/>
        </p:nvSpPr>
        <p:spPr>
          <a:xfrm>
            <a:off x="960120" y="5010912"/>
            <a:ext cx="10241280" cy="274320"/>
          </a:xfrm>
          <a:prstGeom prst="rect">
            <a:avLst/>
          </a:prstGeom>
          <a:noFill/>
          <a:ln/>
        </p:spPr>
        <p:txBody>
          <a:bodyPr wrap="square" lIns="0" tIns="0" rIns="0" bIns="0" rtlCol="0" anchor="ctr"/>
          <a:lstStyle/>
          <a:p>
            <a:pPr indent="0" marL="0">
              <a:buNone/>
            </a:pPr>
            <a:r>
              <a:rPr lang="en-US" sz="1300" b="1" dirty="0">
                <a:solidFill>
                  <a:srgbClr val="162947"/>
                </a:solidFill>
                <a:latin typeface="Arial" pitchFamily="34" charset="0"/>
                <a:ea typeface="Arial" pitchFamily="34" charset="-122"/>
                <a:cs typeface="Arial" pitchFamily="34" charset="-120"/>
              </a:rPr>
              <a:t>Both papers allow a calculator, and both cover the full specification.</a:t>
            </a:r>
            <a:endParaRPr lang="en-US" sz="1300" dirty="0"/>
          </a:p>
        </p:txBody>
      </p:sp>
      <p:sp>
        <p:nvSpPr>
          <p:cNvPr id="18" name="Text 16"/>
          <p:cNvSpPr txBox="1"/>
          <p:nvPr/>
        </p:nvSpPr>
        <p:spPr>
          <a:xfrm>
            <a:off x="960120" y="5321808"/>
            <a:ext cx="10241280" cy="603504"/>
          </a:xfrm>
          <a:prstGeom prst="rect">
            <a:avLst/>
          </a:prstGeom>
          <a:noFill/>
          <a:ln/>
        </p:spPr>
        <p:txBody>
          <a:bodyPr wrap="square" lIns="0" tIns="0" rIns="0" bIns="0" rtlCol="0" anchor="ctr"/>
          <a:lstStyle/>
          <a:p>
            <a:pPr indent="0" marL="0">
              <a:lnSpc>
                <a:spcPts val="1600"/>
              </a:lnSpc>
              <a:buNone/>
            </a:pPr>
            <a:r>
              <a:rPr lang="en-US" sz="1150" dirty="0">
                <a:solidFill>
                  <a:srgbClr val="5D6471"/>
                </a:solidFill>
                <a:latin typeface="Arial" pitchFamily="34" charset="0"/>
                <a:ea typeface="Arial" pitchFamily="34" charset="-122"/>
                <a:cs typeface="Arial" pitchFamily="34" charset="-120"/>
              </a:rPr>
              <a:t>Calculator technique is taught in session one, not left to habit, and the mode is checked before every timed piece of work. Because both papers sample the whole specification, a topic missed on Paper 1 is likely to reappear on Paper 2.</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THE TARGET</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The number we are working to</a:t>
            </a:r>
            <a:endParaRPr lang="en-US" sz="3300" dirty="0"/>
          </a:p>
        </p:txBody>
      </p:sp>
      <p:sp>
        <p:nvSpPr>
          <p:cNvPr id="4" name="Shape 2"/>
          <p:cNvSpPr/>
          <p:nvPr/>
        </p:nvSpPr>
        <p:spPr>
          <a:xfrm>
            <a:off x="685800" y="1691640"/>
            <a:ext cx="3566160" cy="3794760"/>
          </a:xfrm>
          <a:prstGeom prst="roundRect">
            <a:avLst>
              <a:gd name="adj" fmla="val 1026"/>
            </a:avLst>
          </a:prstGeom>
          <a:solidFill>
            <a:srgbClr val="162947"/>
          </a:solidFill>
          <a:ln/>
        </p:spPr>
      </p:sp>
      <p:sp>
        <p:nvSpPr>
          <p:cNvPr id="5" name="Text 3"/>
          <p:cNvSpPr txBox="1"/>
          <p:nvPr/>
        </p:nvSpPr>
        <p:spPr>
          <a:xfrm>
            <a:off x="685800" y="1965960"/>
            <a:ext cx="3566160" cy="1280160"/>
          </a:xfrm>
          <a:prstGeom prst="rect">
            <a:avLst/>
          </a:prstGeom>
          <a:noFill/>
          <a:ln/>
        </p:spPr>
        <p:txBody>
          <a:bodyPr wrap="square" lIns="0" tIns="0" rIns="0" bIns="0" rtlCol="0" anchor="ctr"/>
          <a:lstStyle/>
          <a:p>
            <a:pPr algn="ctr" indent="0" marL="0">
              <a:buNone/>
            </a:pPr>
            <a:r>
              <a:rPr lang="en-US" sz="8600" dirty="0">
                <a:solidFill>
                  <a:srgbClr val="C3A965"/>
                </a:solidFill>
                <a:latin typeface="Cambria" pitchFamily="34" charset="0"/>
                <a:ea typeface="Cambria" pitchFamily="34" charset="-122"/>
                <a:cs typeface="Cambria" pitchFamily="34" charset="-120"/>
              </a:rPr>
              <a:t>65</a:t>
            </a:r>
            <a:endParaRPr lang="en-US" sz="8600" dirty="0"/>
          </a:p>
        </p:txBody>
      </p:sp>
      <p:sp>
        <p:nvSpPr>
          <p:cNvPr id="6" name="Text 4"/>
          <p:cNvSpPr txBox="1"/>
          <p:nvPr/>
        </p:nvSpPr>
        <p:spPr>
          <a:xfrm>
            <a:off x="685800" y="3291840"/>
            <a:ext cx="3566160" cy="274320"/>
          </a:xfrm>
          <a:prstGeom prst="rect">
            <a:avLst/>
          </a:prstGeom>
          <a:noFill/>
          <a:ln/>
        </p:spPr>
        <p:txBody>
          <a:bodyPr wrap="square" lIns="0" tIns="0" rIns="0" bIns="0" rtlCol="0" anchor="ctr"/>
          <a:lstStyle/>
          <a:p>
            <a:pPr algn="ctr" indent="0" marL="0">
              <a:buNone/>
            </a:pPr>
            <a:r>
              <a:rPr lang="en-US" sz="1400" b="1" dirty="0">
                <a:solidFill>
                  <a:srgbClr val="F6F4EF"/>
                </a:solidFill>
                <a:latin typeface="Arial" pitchFamily="34" charset="0"/>
                <a:ea typeface="Arial" pitchFamily="34" charset="-122"/>
                <a:cs typeface="Arial" pitchFamily="34" charset="-120"/>
              </a:rPr>
              <a:t>marks out of 200</a:t>
            </a:r>
            <a:endParaRPr lang="en-US" sz="1400" dirty="0"/>
          </a:p>
        </p:txBody>
      </p:sp>
      <p:sp>
        <p:nvSpPr>
          <p:cNvPr id="7" name="Text 5"/>
          <p:cNvSpPr txBox="1"/>
          <p:nvPr/>
        </p:nvSpPr>
        <p:spPr>
          <a:xfrm>
            <a:off x="1005840" y="3794760"/>
            <a:ext cx="2926080" cy="1371600"/>
          </a:xfrm>
          <a:prstGeom prst="rect">
            <a:avLst/>
          </a:prstGeom>
          <a:noFill/>
          <a:ln/>
        </p:spPr>
        <p:txBody>
          <a:bodyPr wrap="square" lIns="0" tIns="0" rIns="0" bIns="0" rtlCol="0" anchor="ctr"/>
          <a:lstStyle/>
          <a:p>
            <a:pPr indent="0" marL="0">
              <a:lnSpc>
                <a:spcPts val="1650"/>
              </a:lnSpc>
              <a:buNone/>
            </a:pPr>
            <a:r>
              <a:rPr lang="en-US" sz="1150" dirty="0">
                <a:solidFill>
                  <a:srgbClr val="A8B2C2"/>
                </a:solidFill>
                <a:latin typeface="Arial" pitchFamily="34" charset="0"/>
                <a:ea typeface="Arial" pitchFamily="34" charset="-122"/>
                <a:cs typeface="Arial" pitchFamily="34" charset="-120"/>
              </a:rPr>
              <a:t>The grade 5 boundary on Higher tier in November 2025, which is just under a third of the paper. Boundaries move each series, so this is a reference point, not a guarantee.</a:t>
            </a:r>
            <a:endParaRPr lang="en-US" sz="1150" dirty="0"/>
          </a:p>
        </p:txBody>
      </p:sp>
      <p:sp>
        <p:nvSpPr>
          <p:cNvPr id="8" name="Shape 6"/>
          <p:cNvSpPr/>
          <p:nvPr/>
        </p:nvSpPr>
        <p:spPr>
          <a:xfrm>
            <a:off x="4617720" y="1691640"/>
            <a:ext cx="6885432" cy="420624"/>
          </a:xfrm>
          <a:prstGeom prst="rect">
            <a:avLst/>
          </a:prstGeom>
          <a:solidFill>
            <a:srgbClr val="162947"/>
          </a:solidFill>
          <a:ln/>
        </p:spPr>
      </p:sp>
      <p:sp>
        <p:nvSpPr>
          <p:cNvPr id="9" name="Text 7"/>
          <p:cNvSpPr txBox="1"/>
          <p:nvPr/>
        </p:nvSpPr>
        <p:spPr>
          <a:xfrm>
            <a:off x="4818888" y="1691640"/>
            <a:ext cx="2459736" cy="420624"/>
          </a:xfrm>
          <a:prstGeom prst="rect">
            <a:avLst/>
          </a:prstGeom>
          <a:noFill/>
          <a:ln/>
        </p:spPr>
        <p:txBody>
          <a:bodyPr wrap="square" lIns="0" tIns="0" rIns="0" bIns="0" rtlCol="0" anchor="ctr"/>
          <a:lstStyle/>
          <a:p>
            <a:pPr algn="l" indent="0" marL="0">
              <a:buNone/>
            </a:pPr>
            <a:r>
              <a:rPr lang="en-US" sz="1150" b="1" spc="60" kern="0" dirty="0">
                <a:solidFill>
                  <a:srgbClr val="F6F4EF"/>
                </a:solidFill>
                <a:latin typeface="Arial" pitchFamily="34" charset="0"/>
                <a:ea typeface="Arial" pitchFamily="34" charset="-122"/>
                <a:cs typeface="Arial" pitchFamily="34" charset="-120"/>
              </a:rPr>
              <a:t>Grade</a:t>
            </a:r>
            <a:endParaRPr lang="en-US" sz="1150" dirty="0"/>
          </a:p>
        </p:txBody>
      </p:sp>
      <p:sp>
        <p:nvSpPr>
          <p:cNvPr id="10" name="Text 8"/>
          <p:cNvSpPr txBox="1"/>
          <p:nvPr/>
        </p:nvSpPr>
        <p:spPr>
          <a:xfrm>
            <a:off x="7680960" y="1691640"/>
            <a:ext cx="1609344" cy="420624"/>
          </a:xfrm>
          <a:prstGeom prst="rect">
            <a:avLst/>
          </a:prstGeom>
          <a:noFill/>
          <a:ln/>
        </p:spPr>
        <p:txBody>
          <a:bodyPr wrap="square" lIns="0" tIns="0" rIns="0" bIns="0" rtlCol="0" anchor="ctr"/>
          <a:lstStyle/>
          <a:p>
            <a:pPr algn="ctr" indent="0" marL="0">
              <a:buNone/>
            </a:pPr>
            <a:r>
              <a:rPr lang="en-US" sz="1150" b="1" spc="60" kern="0" dirty="0">
                <a:solidFill>
                  <a:srgbClr val="F6F4EF"/>
                </a:solidFill>
                <a:latin typeface="Arial" pitchFamily="34" charset="0"/>
                <a:ea typeface="Arial" pitchFamily="34" charset="-122"/>
                <a:cs typeface="Arial" pitchFamily="34" charset="-120"/>
              </a:rPr>
              <a:t>Marks needed</a:t>
            </a:r>
            <a:endParaRPr lang="en-US" sz="1150" dirty="0"/>
          </a:p>
        </p:txBody>
      </p:sp>
      <p:sp>
        <p:nvSpPr>
          <p:cNvPr id="11" name="Text 9"/>
          <p:cNvSpPr txBox="1"/>
          <p:nvPr/>
        </p:nvSpPr>
        <p:spPr>
          <a:xfrm>
            <a:off x="9692640" y="1691640"/>
            <a:ext cx="1609344" cy="420624"/>
          </a:xfrm>
          <a:prstGeom prst="rect">
            <a:avLst/>
          </a:prstGeom>
          <a:noFill/>
          <a:ln/>
        </p:spPr>
        <p:txBody>
          <a:bodyPr wrap="square" lIns="0" tIns="0" rIns="0" bIns="0" rtlCol="0" anchor="ctr"/>
          <a:lstStyle/>
          <a:p>
            <a:pPr algn="ctr" indent="0" marL="0">
              <a:buNone/>
            </a:pPr>
            <a:r>
              <a:rPr lang="en-US" sz="1150" b="1" spc="60" kern="0" dirty="0">
                <a:solidFill>
                  <a:srgbClr val="F6F4EF"/>
                </a:solidFill>
                <a:latin typeface="Arial" pitchFamily="34" charset="0"/>
                <a:ea typeface="Arial" pitchFamily="34" charset="-122"/>
                <a:cs typeface="Arial" pitchFamily="34" charset="-120"/>
              </a:rPr>
              <a:t>Share of total</a:t>
            </a:r>
            <a:endParaRPr lang="en-US" sz="1150" dirty="0"/>
          </a:p>
        </p:txBody>
      </p:sp>
      <p:sp>
        <p:nvSpPr>
          <p:cNvPr id="12" name="Shape 10"/>
          <p:cNvSpPr/>
          <p:nvPr/>
        </p:nvSpPr>
        <p:spPr>
          <a:xfrm>
            <a:off x="4617720" y="2112264"/>
            <a:ext cx="6885432" cy="420624"/>
          </a:xfrm>
          <a:prstGeom prst="rect">
            <a:avLst/>
          </a:prstGeom>
          <a:solidFill>
            <a:srgbClr val="FFFFFF"/>
          </a:solidFill>
          <a:ln w="7620">
            <a:solidFill>
              <a:srgbClr val="E3DFD5"/>
            </a:solidFill>
            <a:prstDash val="solid"/>
          </a:ln>
        </p:spPr>
      </p:sp>
      <p:sp>
        <p:nvSpPr>
          <p:cNvPr id="13" name="Text 11"/>
          <p:cNvSpPr txBox="1"/>
          <p:nvPr/>
        </p:nvSpPr>
        <p:spPr>
          <a:xfrm>
            <a:off x="4818888" y="2112264"/>
            <a:ext cx="2459736" cy="420624"/>
          </a:xfrm>
          <a:prstGeom prst="rect">
            <a:avLst/>
          </a:prstGeom>
          <a:noFill/>
          <a:ln/>
        </p:spPr>
        <p:txBody>
          <a:bodyPr wrap="square" lIns="0" tIns="0" rIns="0" bIns="0" rtlCol="0" anchor="ctr"/>
          <a:lstStyle/>
          <a:p>
            <a:pPr algn="l" indent="0" marL="0">
              <a:buNone/>
            </a:pPr>
            <a:r>
              <a:rPr lang="en-US" sz="1250" dirty="0">
                <a:solidFill>
                  <a:srgbClr val="5D6471"/>
                </a:solidFill>
                <a:latin typeface="Arial" pitchFamily="34" charset="0"/>
                <a:ea typeface="Arial" pitchFamily="34" charset="-122"/>
                <a:cs typeface="Arial" pitchFamily="34" charset="-120"/>
              </a:rPr>
              <a:t>Grade 6</a:t>
            </a:r>
            <a:endParaRPr lang="en-US" sz="1250" dirty="0"/>
          </a:p>
        </p:txBody>
      </p:sp>
      <p:sp>
        <p:nvSpPr>
          <p:cNvPr id="14" name="Text 12"/>
          <p:cNvSpPr txBox="1"/>
          <p:nvPr/>
        </p:nvSpPr>
        <p:spPr>
          <a:xfrm>
            <a:off x="7680960" y="2112264"/>
            <a:ext cx="1609344" cy="420624"/>
          </a:xfrm>
          <a:prstGeom prst="rect">
            <a:avLst/>
          </a:prstGeom>
          <a:noFill/>
          <a:ln/>
        </p:spPr>
        <p:txBody>
          <a:bodyPr wrap="square" lIns="0" tIns="0" rIns="0" bIns="0" rtlCol="0" anchor="ctr"/>
          <a:lstStyle/>
          <a:p>
            <a:pPr algn="ctr" indent="0" marL="0">
              <a:buNone/>
            </a:pPr>
            <a:r>
              <a:rPr lang="en-US" sz="1250" dirty="0">
                <a:solidFill>
                  <a:srgbClr val="5D6471"/>
                </a:solidFill>
                <a:latin typeface="Arial" pitchFamily="34" charset="0"/>
                <a:ea typeface="Arial" pitchFamily="34" charset="-122"/>
                <a:cs typeface="Arial" pitchFamily="34" charset="-120"/>
              </a:rPr>
              <a:t>86 / 200</a:t>
            </a:r>
            <a:endParaRPr lang="en-US" sz="1250" dirty="0"/>
          </a:p>
        </p:txBody>
      </p:sp>
      <p:sp>
        <p:nvSpPr>
          <p:cNvPr id="15" name="Text 13"/>
          <p:cNvSpPr txBox="1"/>
          <p:nvPr/>
        </p:nvSpPr>
        <p:spPr>
          <a:xfrm>
            <a:off x="9692640" y="2112264"/>
            <a:ext cx="1609344" cy="420624"/>
          </a:xfrm>
          <a:prstGeom prst="rect">
            <a:avLst/>
          </a:prstGeom>
          <a:noFill/>
          <a:ln/>
        </p:spPr>
        <p:txBody>
          <a:bodyPr wrap="square" lIns="0" tIns="0" rIns="0" bIns="0" rtlCol="0" anchor="ctr"/>
          <a:lstStyle/>
          <a:p>
            <a:pPr algn="ctr" indent="0" marL="0">
              <a:buNone/>
            </a:pPr>
            <a:r>
              <a:rPr lang="en-US" sz="1250" dirty="0">
                <a:solidFill>
                  <a:srgbClr val="5D6471"/>
                </a:solidFill>
                <a:latin typeface="Arial" pitchFamily="34" charset="0"/>
                <a:ea typeface="Arial" pitchFamily="34" charset="-122"/>
                <a:cs typeface="Arial" pitchFamily="34" charset="-120"/>
              </a:rPr>
              <a:t>43%</a:t>
            </a:r>
            <a:endParaRPr lang="en-US" sz="1250" dirty="0"/>
          </a:p>
        </p:txBody>
      </p:sp>
      <p:sp>
        <p:nvSpPr>
          <p:cNvPr id="16" name="Shape 14"/>
          <p:cNvSpPr/>
          <p:nvPr/>
        </p:nvSpPr>
        <p:spPr>
          <a:xfrm>
            <a:off x="4617720" y="2532888"/>
            <a:ext cx="6885432" cy="420624"/>
          </a:xfrm>
          <a:prstGeom prst="rect">
            <a:avLst/>
          </a:prstGeom>
          <a:solidFill>
            <a:srgbClr val="EFEBE1"/>
          </a:solidFill>
          <a:ln w="7620">
            <a:solidFill>
              <a:srgbClr val="E3DFD5"/>
            </a:solidFill>
            <a:prstDash val="solid"/>
          </a:ln>
        </p:spPr>
      </p:sp>
      <p:sp>
        <p:nvSpPr>
          <p:cNvPr id="17" name="Text 15"/>
          <p:cNvSpPr txBox="1"/>
          <p:nvPr/>
        </p:nvSpPr>
        <p:spPr>
          <a:xfrm>
            <a:off x="4818888" y="2532888"/>
            <a:ext cx="2459736" cy="420624"/>
          </a:xfrm>
          <a:prstGeom prst="rect">
            <a:avLst/>
          </a:prstGeom>
          <a:noFill/>
          <a:ln/>
        </p:spPr>
        <p:txBody>
          <a:bodyPr wrap="square" lIns="0" tIns="0" rIns="0" bIns="0" rtlCol="0" anchor="ctr"/>
          <a:lstStyle/>
          <a:p>
            <a:pPr algn="l" indent="0" marL="0">
              <a:buNone/>
            </a:pPr>
            <a:r>
              <a:rPr lang="en-US" sz="1250" b="1" dirty="0">
                <a:solidFill>
                  <a:srgbClr val="162947"/>
                </a:solidFill>
                <a:latin typeface="Arial" pitchFamily="34" charset="0"/>
                <a:ea typeface="Arial" pitchFamily="34" charset="-122"/>
                <a:cs typeface="Arial" pitchFamily="34" charset="-120"/>
              </a:rPr>
              <a:t>Grade 5</a:t>
            </a:r>
            <a:endParaRPr lang="en-US" sz="1250" dirty="0"/>
          </a:p>
        </p:txBody>
      </p:sp>
      <p:sp>
        <p:nvSpPr>
          <p:cNvPr id="18" name="Text 16"/>
          <p:cNvSpPr txBox="1"/>
          <p:nvPr/>
        </p:nvSpPr>
        <p:spPr>
          <a:xfrm>
            <a:off x="7680960" y="2532888"/>
            <a:ext cx="1609344" cy="420624"/>
          </a:xfrm>
          <a:prstGeom prst="rect">
            <a:avLst/>
          </a:prstGeom>
          <a:noFill/>
          <a:ln/>
        </p:spPr>
        <p:txBody>
          <a:bodyPr wrap="square" lIns="0" tIns="0" rIns="0" bIns="0" rtlCol="0" anchor="ctr"/>
          <a:lstStyle/>
          <a:p>
            <a:pPr algn="ctr" indent="0" marL="0">
              <a:buNone/>
            </a:pPr>
            <a:r>
              <a:rPr lang="en-US" sz="1250" b="1" dirty="0">
                <a:solidFill>
                  <a:srgbClr val="162947"/>
                </a:solidFill>
                <a:latin typeface="Arial" pitchFamily="34" charset="0"/>
                <a:ea typeface="Arial" pitchFamily="34" charset="-122"/>
                <a:cs typeface="Arial" pitchFamily="34" charset="-120"/>
              </a:rPr>
              <a:t>65 / 200</a:t>
            </a:r>
            <a:endParaRPr lang="en-US" sz="1250" dirty="0"/>
          </a:p>
        </p:txBody>
      </p:sp>
      <p:sp>
        <p:nvSpPr>
          <p:cNvPr id="19" name="Text 17"/>
          <p:cNvSpPr txBox="1"/>
          <p:nvPr/>
        </p:nvSpPr>
        <p:spPr>
          <a:xfrm>
            <a:off x="9692640" y="2532888"/>
            <a:ext cx="1609344" cy="420624"/>
          </a:xfrm>
          <a:prstGeom prst="rect">
            <a:avLst/>
          </a:prstGeom>
          <a:noFill/>
          <a:ln/>
        </p:spPr>
        <p:txBody>
          <a:bodyPr wrap="square" lIns="0" tIns="0" rIns="0" bIns="0" rtlCol="0" anchor="ctr"/>
          <a:lstStyle/>
          <a:p>
            <a:pPr algn="ctr" indent="0" marL="0">
              <a:buNone/>
            </a:pPr>
            <a:r>
              <a:rPr lang="en-US" sz="1250" b="1" dirty="0">
                <a:solidFill>
                  <a:srgbClr val="162947"/>
                </a:solidFill>
                <a:latin typeface="Arial" pitchFamily="34" charset="0"/>
                <a:ea typeface="Arial" pitchFamily="34" charset="-122"/>
                <a:cs typeface="Arial" pitchFamily="34" charset="-120"/>
              </a:rPr>
              <a:t>33%</a:t>
            </a:r>
            <a:endParaRPr lang="en-US" sz="1250" dirty="0"/>
          </a:p>
        </p:txBody>
      </p:sp>
      <p:sp>
        <p:nvSpPr>
          <p:cNvPr id="20" name="Shape 18"/>
          <p:cNvSpPr/>
          <p:nvPr/>
        </p:nvSpPr>
        <p:spPr>
          <a:xfrm>
            <a:off x="4617720" y="2953512"/>
            <a:ext cx="6885432" cy="420624"/>
          </a:xfrm>
          <a:prstGeom prst="rect">
            <a:avLst/>
          </a:prstGeom>
          <a:solidFill>
            <a:srgbClr val="FFFFFF"/>
          </a:solidFill>
          <a:ln w="7620">
            <a:solidFill>
              <a:srgbClr val="E3DFD5"/>
            </a:solidFill>
            <a:prstDash val="solid"/>
          </a:ln>
        </p:spPr>
      </p:sp>
      <p:sp>
        <p:nvSpPr>
          <p:cNvPr id="21" name="Text 19"/>
          <p:cNvSpPr txBox="1"/>
          <p:nvPr/>
        </p:nvSpPr>
        <p:spPr>
          <a:xfrm>
            <a:off x="4818888" y="2953512"/>
            <a:ext cx="2459736" cy="420624"/>
          </a:xfrm>
          <a:prstGeom prst="rect">
            <a:avLst/>
          </a:prstGeom>
          <a:noFill/>
          <a:ln/>
        </p:spPr>
        <p:txBody>
          <a:bodyPr wrap="square" lIns="0" tIns="0" rIns="0" bIns="0" rtlCol="0" anchor="ctr"/>
          <a:lstStyle/>
          <a:p>
            <a:pPr algn="l" indent="0" marL="0">
              <a:buNone/>
            </a:pPr>
            <a:r>
              <a:rPr lang="en-US" sz="1250" dirty="0">
                <a:solidFill>
                  <a:srgbClr val="5D6471"/>
                </a:solidFill>
                <a:latin typeface="Arial" pitchFamily="34" charset="0"/>
                <a:ea typeface="Arial" pitchFamily="34" charset="-122"/>
                <a:cs typeface="Arial" pitchFamily="34" charset="-120"/>
              </a:rPr>
              <a:t>Grade 4</a:t>
            </a:r>
            <a:endParaRPr lang="en-US" sz="1250" dirty="0"/>
          </a:p>
        </p:txBody>
      </p:sp>
      <p:sp>
        <p:nvSpPr>
          <p:cNvPr id="22" name="Text 20"/>
          <p:cNvSpPr txBox="1"/>
          <p:nvPr/>
        </p:nvSpPr>
        <p:spPr>
          <a:xfrm>
            <a:off x="7680960" y="2953512"/>
            <a:ext cx="1609344" cy="420624"/>
          </a:xfrm>
          <a:prstGeom prst="rect">
            <a:avLst/>
          </a:prstGeom>
          <a:noFill/>
          <a:ln/>
        </p:spPr>
        <p:txBody>
          <a:bodyPr wrap="square" lIns="0" tIns="0" rIns="0" bIns="0" rtlCol="0" anchor="ctr"/>
          <a:lstStyle/>
          <a:p>
            <a:pPr algn="ctr" indent="0" marL="0">
              <a:buNone/>
            </a:pPr>
            <a:r>
              <a:rPr lang="en-US" sz="1250" dirty="0">
                <a:solidFill>
                  <a:srgbClr val="5D6471"/>
                </a:solidFill>
                <a:latin typeface="Arial" pitchFamily="34" charset="0"/>
                <a:ea typeface="Arial" pitchFamily="34" charset="-122"/>
                <a:cs typeface="Arial" pitchFamily="34" charset="-120"/>
              </a:rPr>
              <a:t>45 / 200</a:t>
            </a:r>
            <a:endParaRPr lang="en-US" sz="1250" dirty="0"/>
          </a:p>
        </p:txBody>
      </p:sp>
      <p:sp>
        <p:nvSpPr>
          <p:cNvPr id="23" name="Text 21"/>
          <p:cNvSpPr txBox="1"/>
          <p:nvPr/>
        </p:nvSpPr>
        <p:spPr>
          <a:xfrm>
            <a:off x="9692640" y="2953512"/>
            <a:ext cx="1609344" cy="420624"/>
          </a:xfrm>
          <a:prstGeom prst="rect">
            <a:avLst/>
          </a:prstGeom>
          <a:noFill/>
          <a:ln/>
        </p:spPr>
        <p:txBody>
          <a:bodyPr wrap="square" lIns="0" tIns="0" rIns="0" bIns="0" rtlCol="0" anchor="ctr"/>
          <a:lstStyle/>
          <a:p>
            <a:pPr algn="ctr" indent="0" marL="0">
              <a:buNone/>
            </a:pPr>
            <a:r>
              <a:rPr lang="en-US" sz="1250" dirty="0">
                <a:solidFill>
                  <a:srgbClr val="5D6471"/>
                </a:solidFill>
                <a:latin typeface="Arial" pitchFamily="34" charset="0"/>
                <a:ea typeface="Arial" pitchFamily="34" charset="-122"/>
                <a:cs typeface="Arial" pitchFamily="34" charset="-120"/>
              </a:rPr>
              <a:t>23%</a:t>
            </a:r>
            <a:endParaRPr lang="en-US" sz="1250" dirty="0"/>
          </a:p>
        </p:txBody>
      </p:sp>
      <p:sp>
        <p:nvSpPr>
          <p:cNvPr id="24" name="Shape 22"/>
          <p:cNvSpPr/>
          <p:nvPr/>
        </p:nvSpPr>
        <p:spPr>
          <a:xfrm>
            <a:off x="4617720" y="3675888"/>
            <a:ext cx="6885432" cy="1810512"/>
          </a:xfrm>
          <a:prstGeom prst="roundRect">
            <a:avLst>
              <a:gd name="adj" fmla="val 2020"/>
            </a:avLst>
          </a:prstGeom>
          <a:solidFill>
            <a:srgbClr val="FFFFFF"/>
          </a:solidFill>
          <a:ln w="9525">
            <a:solidFill>
              <a:srgbClr val="E3DFD5"/>
            </a:solidFill>
            <a:prstDash val="solid"/>
          </a:ln>
        </p:spPr>
      </p:sp>
      <p:sp>
        <p:nvSpPr>
          <p:cNvPr id="25" name="Text 23"/>
          <p:cNvSpPr txBox="1"/>
          <p:nvPr/>
        </p:nvSpPr>
        <p:spPr>
          <a:xfrm>
            <a:off x="4937760" y="3877056"/>
            <a:ext cx="6309360" cy="310896"/>
          </a:xfrm>
          <a:prstGeom prst="rect">
            <a:avLst/>
          </a:prstGeom>
          <a:noFill/>
          <a:ln/>
        </p:spPr>
        <p:txBody>
          <a:bodyPr wrap="square" lIns="0" tIns="0" rIns="0" bIns="0" rtlCol="0" anchor="t"/>
          <a:lstStyle/>
          <a:p>
            <a:pPr indent="0" marL="0">
              <a:buNone/>
            </a:pPr>
            <a:r>
              <a:rPr lang="en-US" sz="1900" dirty="0">
                <a:solidFill>
                  <a:srgbClr val="162947"/>
                </a:solidFill>
                <a:latin typeface="Cambria" pitchFamily="34" charset="0"/>
                <a:ea typeface="Cambria" pitchFamily="34" charset="-122"/>
                <a:cs typeface="Cambria" pitchFamily="34" charset="-120"/>
              </a:rPr>
              <a:t>We plan to 80 marks, not to 65</a:t>
            </a:r>
            <a:endParaRPr lang="en-US" sz="1900" dirty="0"/>
          </a:p>
        </p:txBody>
      </p:sp>
      <p:sp>
        <p:nvSpPr>
          <p:cNvPr id="26" name="Text 24"/>
          <p:cNvSpPr txBox="1"/>
          <p:nvPr/>
        </p:nvSpPr>
        <p:spPr>
          <a:xfrm>
            <a:off x="4937760" y="4279392"/>
            <a:ext cx="6309360" cy="1051560"/>
          </a:xfrm>
          <a:prstGeom prst="rect">
            <a:avLst/>
          </a:prstGeom>
          <a:noFill/>
          <a:ln/>
        </p:spPr>
        <p:txBody>
          <a:bodyPr wrap="square" lIns="0" tIns="0" rIns="0" bIns="0" rtlCol="0" anchor="t"/>
          <a:lstStyle/>
          <a:p>
            <a:pPr indent="0" marL="0">
              <a:lnSpc>
                <a:spcPts val="1700"/>
              </a:lnSpc>
              <a:buNone/>
            </a:pPr>
            <a:r>
              <a:rPr lang="en-US" sz="1200" dirty="0">
                <a:solidFill>
                  <a:srgbClr val="5D6471"/>
                </a:solidFill>
                <a:latin typeface="Arial" pitchFamily="34" charset="0"/>
                <a:ea typeface="Arial" pitchFamily="34" charset="-122"/>
                <a:cs typeface="Arial" pitchFamily="34" charset="-120"/>
              </a:rPr>
              <a:t>Two reasons. Boundaries move, so a plan that lands exactly on last year's number can still miss. More importantly, margin does not come from the target we set. It comes from the size of the pool of marks we teach, which is the next two slides.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THE TIER</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Why Higher, and when it is confirmed</a:t>
            </a:r>
            <a:endParaRPr lang="en-US" sz="3300" dirty="0"/>
          </a:p>
        </p:txBody>
      </p:sp>
      <p:sp>
        <p:nvSpPr>
          <p:cNvPr id="4" name="Shape 2"/>
          <p:cNvSpPr/>
          <p:nvPr/>
        </p:nvSpPr>
        <p:spPr>
          <a:xfrm>
            <a:off x="685800" y="1645920"/>
            <a:ext cx="5212080" cy="2578608"/>
          </a:xfrm>
          <a:prstGeom prst="roundRect">
            <a:avLst>
              <a:gd name="adj" fmla="val 1418"/>
            </a:avLst>
          </a:prstGeom>
          <a:solidFill>
            <a:srgbClr val="FFFFFF"/>
          </a:solidFill>
          <a:ln w="9525">
            <a:solidFill>
              <a:srgbClr val="C3A965"/>
            </a:solidFill>
            <a:prstDash val="solid"/>
          </a:ln>
        </p:spPr>
      </p:sp>
      <p:sp>
        <p:nvSpPr>
          <p:cNvPr id="5" name="Text 3"/>
          <p:cNvSpPr txBox="1"/>
          <p:nvPr/>
        </p:nvSpPr>
        <p:spPr>
          <a:xfrm>
            <a:off x="1005840" y="1847088"/>
            <a:ext cx="3108960" cy="310896"/>
          </a:xfrm>
          <a:prstGeom prst="rect">
            <a:avLst/>
          </a:prstGeom>
          <a:noFill/>
          <a:ln/>
        </p:spPr>
        <p:txBody>
          <a:bodyPr wrap="square" lIns="0" tIns="0" rIns="0" bIns="0" rtlCol="0" anchor="ctr"/>
          <a:lstStyle/>
          <a:p>
            <a:pPr indent="0" marL="0">
              <a:buNone/>
            </a:pPr>
            <a:r>
              <a:rPr lang="en-US" sz="2100" dirty="0">
                <a:solidFill>
                  <a:srgbClr val="162947"/>
                </a:solidFill>
                <a:latin typeface="Cambria" pitchFamily="34" charset="0"/>
                <a:ea typeface="Cambria" pitchFamily="34" charset="-122"/>
                <a:cs typeface="Cambria" pitchFamily="34" charset="-120"/>
              </a:rPr>
              <a:t>Higher tier</a:t>
            </a:r>
            <a:endParaRPr lang="en-US" sz="2100" dirty="0"/>
          </a:p>
        </p:txBody>
      </p:sp>
      <p:sp>
        <p:nvSpPr>
          <p:cNvPr id="6" name="Text 4"/>
          <p:cNvSpPr txBox="1"/>
          <p:nvPr/>
        </p:nvSpPr>
        <p:spPr>
          <a:xfrm>
            <a:off x="1005840" y="2194560"/>
            <a:ext cx="3108960" cy="237744"/>
          </a:xfrm>
          <a:prstGeom prst="rect">
            <a:avLst/>
          </a:prstGeom>
          <a:noFill/>
          <a:ln/>
        </p:spPr>
        <p:txBody>
          <a:bodyPr wrap="square" lIns="0" tIns="0" rIns="0" bIns="0" rtlCol="0" anchor="ctr"/>
          <a:lstStyle/>
          <a:p>
            <a:pPr indent="0" marL="0">
              <a:buNone/>
            </a:pPr>
            <a:r>
              <a:rPr lang="en-US" sz="1050" b="1" spc="140" kern="0" dirty="0">
                <a:solidFill>
                  <a:srgbClr val="C3A965"/>
                </a:solidFill>
                <a:latin typeface="Arial" pitchFamily="34" charset="0"/>
                <a:ea typeface="Arial" pitchFamily="34" charset="-122"/>
                <a:cs typeface="Arial" pitchFamily="34" charset="-120"/>
              </a:rPr>
              <a:t>Grades 4 to 9</a:t>
            </a:r>
            <a:endParaRPr lang="en-US" sz="1050" dirty="0"/>
          </a:p>
        </p:txBody>
      </p:sp>
      <p:sp>
        <p:nvSpPr>
          <p:cNvPr id="7" name="Shape 5"/>
          <p:cNvSpPr/>
          <p:nvPr/>
        </p:nvSpPr>
        <p:spPr>
          <a:xfrm>
            <a:off x="4389120" y="1874520"/>
            <a:ext cx="1188720" cy="347472"/>
          </a:xfrm>
          <a:prstGeom prst="roundRect">
            <a:avLst>
              <a:gd name="adj" fmla="val 50000"/>
            </a:avLst>
          </a:prstGeom>
          <a:solidFill>
            <a:srgbClr val="162947"/>
          </a:solidFill>
          <a:ln/>
        </p:spPr>
      </p:sp>
      <p:sp>
        <p:nvSpPr>
          <p:cNvPr id="8" name="Text 6"/>
          <p:cNvSpPr txBox="1"/>
          <p:nvPr/>
        </p:nvSpPr>
        <p:spPr>
          <a:xfrm>
            <a:off x="4389120" y="1874520"/>
            <a:ext cx="1188720" cy="347472"/>
          </a:xfrm>
          <a:prstGeom prst="rect">
            <a:avLst/>
          </a:prstGeom>
          <a:noFill/>
          <a:ln/>
        </p:spPr>
        <p:txBody>
          <a:bodyPr wrap="square" lIns="0" tIns="0" rIns="0" bIns="0" rtlCol="0" anchor="ctr"/>
          <a:lstStyle/>
          <a:p>
            <a:pPr algn="ctr" indent="0" marL="0">
              <a:buNone/>
            </a:pPr>
            <a:r>
              <a:rPr lang="en-US" sz="900" b="1" spc="140" kern="0" dirty="0">
                <a:solidFill>
                  <a:srgbClr val="C3A965"/>
                </a:solidFill>
                <a:latin typeface="Arial" pitchFamily="34" charset="0"/>
                <a:ea typeface="Arial" pitchFamily="34" charset="-122"/>
                <a:cs typeface="Arial" pitchFamily="34" charset="-120"/>
              </a:rPr>
              <a:t>CHOSEN</a:t>
            </a:r>
            <a:endParaRPr lang="en-US" sz="900" dirty="0"/>
          </a:p>
        </p:txBody>
      </p:sp>
      <p:sp>
        <p:nvSpPr>
          <p:cNvPr id="9" name="Text 7"/>
          <p:cNvSpPr txBox="1"/>
          <p:nvPr/>
        </p:nvSpPr>
        <p:spPr>
          <a:xfrm>
            <a:off x="1005840" y="2651760"/>
            <a:ext cx="4572000" cy="1097280"/>
          </a:xfrm>
          <a:prstGeom prst="rect">
            <a:avLst/>
          </a:prstGeom>
          <a:noFill/>
          <a:ln/>
        </p:spPr>
        <p:txBody>
          <a:bodyPr wrap="square" lIns="0" tIns="0" rIns="0" bIns="0" rtlCol="0" anchor="ctr"/>
          <a:lstStyle/>
          <a:p>
            <a:pPr marL="177800" indent="-177800">
              <a:lnSpc>
                <a:spcPts val="1464"/>
              </a:lnSpc>
              <a:spcAft>
                <a:spcPts val="500"/>
              </a:spcAft>
              <a:buSzPct val="100000"/>
              <a:buChar char="•"/>
            </a:pPr>
            <a:r>
              <a:rPr lang="en-US" sz="1200" dirty="0">
                <a:solidFill>
                  <a:srgbClr val="162947"/>
                </a:solidFill>
                <a:latin typeface="Arial" pitchFamily="34" charset="0"/>
                <a:ea typeface="Arial" pitchFamily="34" charset="-122"/>
                <a:cs typeface="Arial" pitchFamily="34" charset="-120"/>
              </a:rPr>
              <a:t>Grade 5 needs 65 of 200, which is 33%</a:t>
            </a:r>
            <a:endParaRPr lang="en-US" sz="1200" dirty="0"/>
          </a:p>
          <a:p>
            <a:pPr marL="177800" indent="-177800">
              <a:lnSpc>
                <a:spcPts val="1464"/>
              </a:lnSpc>
              <a:spcAft>
                <a:spcPts val="500"/>
              </a:spcAft>
              <a:buSzPct val="100000"/>
              <a:buChar char="•"/>
            </a:pPr>
            <a:r>
              <a:rPr lang="en-US" sz="1200" dirty="0">
                <a:solidFill>
                  <a:srgbClr val="162947"/>
                </a:solidFill>
                <a:latin typeface="Arial" pitchFamily="34" charset="0"/>
                <a:ea typeface="Arial" pitchFamily="34" charset="-122"/>
                <a:cs typeface="Arial" pitchFamily="34" charset="-120"/>
              </a:rPr>
              <a:t>She can leave two thirds of the paper and still reach the target</a:t>
            </a:r>
            <a:endParaRPr lang="en-US" sz="1200" dirty="0"/>
          </a:p>
          <a:p>
            <a:pPr marL="177800" indent="-177800">
              <a:lnSpc>
                <a:spcPts val="1464"/>
              </a:lnSpc>
              <a:spcAft>
                <a:spcPts val="500"/>
              </a:spcAft>
              <a:buSzPct val="100000"/>
              <a:buChar char="•"/>
            </a:pPr>
            <a:r>
              <a:rPr lang="en-US" sz="1200" dirty="0">
                <a:solidFill>
                  <a:srgbClr val="162947"/>
                </a:solidFill>
                <a:latin typeface="Arial" pitchFamily="34" charset="0"/>
                <a:ea typeface="Arial" pitchFamily="34" charset="-122"/>
                <a:cs typeface="Arial" pitchFamily="34" charset="-120"/>
              </a:rPr>
              <a:t>Roughly 60% of the content sits above her band</a:t>
            </a:r>
            <a:endParaRPr lang="en-US" sz="1200" dirty="0"/>
          </a:p>
          <a:p>
            <a:pPr marL="177800" indent="-177800">
              <a:lnSpc>
                <a:spcPts val="1464"/>
              </a:lnSpc>
              <a:spcAft>
                <a:spcPts val="500"/>
              </a:spcAft>
              <a:buSzPct val="100000"/>
              <a:buChar char="•"/>
            </a:pPr>
            <a:r>
              <a:rPr lang="en-US" sz="1200" dirty="0">
                <a:solidFill>
                  <a:srgbClr val="162947"/>
                </a:solidFill>
                <a:latin typeface="Arial" pitchFamily="34" charset="0"/>
                <a:ea typeface="Arial" pitchFamily="34" charset="-122"/>
                <a:cs typeface="Arial" pitchFamily="34" charset="-120"/>
              </a:rPr>
              <a:t>No cap on the grade if she outperforms</a:t>
            </a:r>
            <a:endParaRPr lang="en-US" sz="1200" dirty="0"/>
          </a:p>
        </p:txBody>
      </p:sp>
      <p:sp>
        <p:nvSpPr>
          <p:cNvPr id="10" name="Shape 8"/>
          <p:cNvSpPr/>
          <p:nvPr/>
        </p:nvSpPr>
        <p:spPr>
          <a:xfrm>
            <a:off x="6291072" y="1645920"/>
            <a:ext cx="5212080" cy="2578608"/>
          </a:xfrm>
          <a:prstGeom prst="roundRect">
            <a:avLst>
              <a:gd name="adj" fmla="val 1418"/>
            </a:avLst>
          </a:prstGeom>
          <a:solidFill>
            <a:srgbClr val="EFEBE1"/>
          </a:solidFill>
          <a:ln w="9525">
            <a:solidFill>
              <a:srgbClr val="E3DFD5"/>
            </a:solidFill>
            <a:prstDash val="solid"/>
          </a:ln>
        </p:spPr>
      </p:sp>
      <p:sp>
        <p:nvSpPr>
          <p:cNvPr id="11" name="Text 9"/>
          <p:cNvSpPr txBox="1"/>
          <p:nvPr/>
        </p:nvSpPr>
        <p:spPr>
          <a:xfrm>
            <a:off x="6611112" y="1847088"/>
            <a:ext cx="3108960" cy="310896"/>
          </a:xfrm>
          <a:prstGeom prst="rect">
            <a:avLst/>
          </a:prstGeom>
          <a:noFill/>
          <a:ln/>
        </p:spPr>
        <p:txBody>
          <a:bodyPr wrap="square" lIns="0" tIns="0" rIns="0" bIns="0" rtlCol="0" anchor="ctr"/>
          <a:lstStyle/>
          <a:p>
            <a:pPr indent="0" marL="0">
              <a:buNone/>
            </a:pPr>
            <a:r>
              <a:rPr lang="en-US" sz="2100" dirty="0">
                <a:solidFill>
                  <a:srgbClr val="162947"/>
                </a:solidFill>
                <a:latin typeface="Cambria" pitchFamily="34" charset="0"/>
                <a:ea typeface="Cambria" pitchFamily="34" charset="-122"/>
                <a:cs typeface="Cambria" pitchFamily="34" charset="-120"/>
              </a:rPr>
              <a:t>Foundation tier</a:t>
            </a:r>
            <a:endParaRPr lang="en-US" sz="2100" dirty="0"/>
          </a:p>
        </p:txBody>
      </p:sp>
      <p:sp>
        <p:nvSpPr>
          <p:cNvPr id="12" name="Text 10"/>
          <p:cNvSpPr txBox="1"/>
          <p:nvPr/>
        </p:nvSpPr>
        <p:spPr>
          <a:xfrm>
            <a:off x="6611112" y="2194560"/>
            <a:ext cx="3108960" cy="237744"/>
          </a:xfrm>
          <a:prstGeom prst="rect">
            <a:avLst/>
          </a:prstGeom>
          <a:noFill/>
          <a:ln/>
        </p:spPr>
        <p:txBody>
          <a:bodyPr wrap="square" lIns="0" tIns="0" rIns="0" bIns="0" rtlCol="0" anchor="ctr"/>
          <a:lstStyle/>
          <a:p>
            <a:pPr indent="0" marL="0">
              <a:buNone/>
            </a:pPr>
            <a:r>
              <a:rPr lang="en-US" sz="1050" b="1" spc="140" kern="0" dirty="0">
                <a:solidFill>
                  <a:srgbClr val="C3A965"/>
                </a:solidFill>
                <a:latin typeface="Arial" pitchFamily="34" charset="0"/>
                <a:ea typeface="Arial" pitchFamily="34" charset="-122"/>
                <a:cs typeface="Arial" pitchFamily="34" charset="-120"/>
              </a:rPr>
              <a:t>Grades 1 to 5</a:t>
            </a:r>
            <a:endParaRPr lang="en-US" sz="1050" dirty="0"/>
          </a:p>
        </p:txBody>
      </p:sp>
      <p:sp>
        <p:nvSpPr>
          <p:cNvPr id="13" name="Text 11"/>
          <p:cNvSpPr txBox="1"/>
          <p:nvPr/>
        </p:nvSpPr>
        <p:spPr>
          <a:xfrm>
            <a:off x="6611112" y="2651760"/>
            <a:ext cx="4572000" cy="1097280"/>
          </a:xfrm>
          <a:prstGeom prst="rect">
            <a:avLst/>
          </a:prstGeom>
          <a:noFill/>
          <a:ln/>
        </p:spPr>
        <p:txBody>
          <a:bodyPr wrap="square" lIns="0" tIns="0" rIns="0" bIns="0" rtlCol="0" anchor="ctr"/>
          <a:lstStyle/>
          <a:p>
            <a:pPr marL="177800" indent="-177800">
              <a:lnSpc>
                <a:spcPts val="1464"/>
              </a:lnSpc>
              <a:spcAft>
                <a:spcPts val="500"/>
              </a:spcAft>
              <a:buSzPct val="100000"/>
              <a:buChar char="•"/>
            </a:pPr>
            <a:r>
              <a:rPr lang="en-US" sz="1200" dirty="0">
                <a:solidFill>
                  <a:srgbClr val="5D6471"/>
                </a:solidFill>
                <a:latin typeface="Arial" pitchFamily="34" charset="0"/>
                <a:ea typeface="Arial" pitchFamily="34" charset="-122"/>
                <a:cs typeface="Arial" pitchFamily="34" charset="-120"/>
              </a:rPr>
              <a:t>Grade 5 needs roughly three quarters of the paper</a:t>
            </a:r>
            <a:endParaRPr lang="en-US" sz="1200" dirty="0"/>
          </a:p>
          <a:p>
            <a:pPr marL="177800" indent="-177800">
              <a:lnSpc>
                <a:spcPts val="1464"/>
              </a:lnSpc>
              <a:spcAft>
                <a:spcPts val="500"/>
              </a:spcAft>
              <a:buSzPct val="100000"/>
              <a:buChar char="•"/>
            </a:pPr>
            <a:r>
              <a:rPr lang="en-US" sz="1200" dirty="0">
                <a:solidFill>
                  <a:srgbClr val="5D6471"/>
                </a:solidFill>
                <a:latin typeface="Arial" pitchFamily="34" charset="0"/>
                <a:ea typeface="Arial" pitchFamily="34" charset="-122"/>
                <a:cs typeface="Arial" pitchFamily="34" charset="-120"/>
              </a:rPr>
              <a:t>Every topic sits inside our teach list, so nothing is wasted</a:t>
            </a:r>
            <a:endParaRPr lang="en-US" sz="1200" dirty="0"/>
          </a:p>
          <a:p>
            <a:pPr marL="177800" indent="-177800">
              <a:lnSpc>
                <a:spcPts val="1464"/>
              </a:lnSpc>
              <a:spcAft>
                <a:spcPts val="500"/>
              </a:spcAft>
              <a:buSzPct val="100000"/>
              <a:buChar char="•"/>
            </a:pPr>
            <a:r>
              <a:rPr lang="en-US" sz="1200" dirty="0">
                <a:solidFill>
                  <a:srgbClr val="5D6471"/>
                </a:solidFill>
                <a:latin typeface="Arial" pitchFamily="34" charset="0"/>
                <a:ea typeface="Arial" pitchFamily="34" charset="-122"/>
                <a:cs typeface="Arial" pitchFamily="34" charset="-120"/>
              </a:rPr>
              <a:t>Almost no room for error across 200 marks</a:t>
            </a:r>
            <a:endParaRPr lang="en-US" sz="1200" dirty="0"/>
          </a:p>
          <a:p>
            <a:pPr marL="177800" indent="-177800">
              <a:lnSpc>
                <a:spcPts val="1464"/>
              </a:lnSpc>
              <a:spcAft>
                <a:spcPts val="500"/>
              </a:spcAft>
              <a:buSzPct val="100000"/>
              <a:buChar char="•"/>
            </a:pPr>
            <a:r>
              <a:rPr lang="en-US" sz="1200" dirty="0">
                <a:solidFill>
                  <a:srgbClr val="5D6471"/>
                </a:solidFill>
                <a:latin typeface="Arial" pitchFamily="34" charset="0"/>
                <a:ea typeface="Arial" pitchFamily="34" charset="-122"/>
                <a:cs typeface="Arial" pitchFamily="34" charset="-120"/>
              </a:rPr>
              <a:t>Grade 5 is the ceiling, whatever she scores</a:t>
            </a:r>
            <a:endParaRPr lang="en-US" sz="1200" dirty="0"/>
          </a:p>
        </p:txBody>
      </p:sp>
      <p:sp>
        <p:nvSpPr>
          <p:cNvPr id="14" name="Shape 12"/>
          <p:cNvSpPr/>
          <p:nvPr/>
        </p:nvSpPr>
        <p:spPr>
          <a:xfrm>
            <a:off x="685800" y="4590288"/>
            <a:ext cx="10817352" cy="1463040"/>
          </a:xfrm>
          <a:prstGeom prst="roundRect">
            <a:avLst>
              <a:gd name="adj" fmla="val 2500"/>
            </a:avLst>
          </a:prstGeom>
          <a:solidFill>
            <a:srgbClr val="162947"/>
          </a:solidFill>
          <a:ln/>
        </p:spPr>
      </p:sp>
      <p:sp>
        <p:nvSpPr>
          <p:cNvPr id="15" name="Text 13"/>
          <p:cNvSpPr txBox="1"/>
          <p:nvPr/>
        </p:nvSpPr>
        <p:spPr>
          <a:xfrm>
            <a:off x="1005840" y="4809744"/>
            <a:ext cx="10149840" cy="274320"/>
          </a:xfrm>
          <a:prstGeom prst="rect">
            <a:avLst/>
          </a:prstGeom>
          <a:noFill/>
          <a:ln/>
        </p:spPr>
        <p:txBody>
          <a:bodyPr wrap="square" lIns="0" tIns="0" rIns="0" bIns="0" rtlCol="0" anchor="ctr"/>
          <a:lstStyle/>
          <a:p>
            <a:pPr indent="0" marL="0">
              <a:buNone/>
            </a:pPr>
            <a:r>
              <a:rPr lang="en-US" sz="1300" b="1" dirty="0">
                <a:solidFill>
                  <a:srgbClr val="C3A965"/>
                </a:solidFill>
                <a:latin typeface="Arial" pitchFamily="34" charset="0"/>
                <a:ea typeface="Arial" pitchFamily="34" charset="-122"/>
                <a:cs typeface="Arial" pitchFamily="34" charset="-120"/>
              </a:rPr>
              <a:t>Higher, because at 33% her mistakes are cheap.</a:t>
            </a:r>
            <a:endParaRPr lang="en-US" sz="1300" dirty="0"/>
          </a:p>
        </p:txBody>
      </p:sp>
      <p:sp>
        <p:nvSpPr>
          <p:cNvPr id="16" name="Text 14"/>
          <p:cNvSpPr txBox="1"/>
          <p:nvPr/>
        </p:nvSpPr>
        <p:spPr>
          <a:xfrm>
            <a:off x="1005840" y="5120640"/>
            <a:ext cx="10149840" cy="777240"/>
          </a:xfrm>
          <a:prstGeom prst="rect">
            <a:avLst/>
          </a:prstGeom>
          <a:noFill/>
          <a:ln/>
        </p:spPr>
        <p:txBody>
          <a:bodyPr wrap="square" lIns="0" tIns="0" rIns="0" bIns="0" rtlCol="0" anchor="t"/>
          <a:lstStyle/>
          <a:p>
            <a:pPr indent="0" marL="0">
              <a:lnSpc>
                <a:spcPts val="1600"/>
              </a:lnSpc>
              <a:buNone/>
            </a:pPr>
            <a:r>
              <a:rPr lang="en-US" sz="1150" dirty="0">
                <a:solidFill>
                  <a:srgbClr val="E8E4DA"/>
                </a:solidFill>
                <a:latin typeface="Arial" pitchFamily="34" charset="0"/>
                <a:ea typeface="Arial" pitchFamily="34" charset="-122"/>
                <a:cs typeface="Arial" pitchFamily="34" charset="-120"/>
              </a:rPr>
              <a:t>On Foundation the same grade asks for near accuracy on every question, which is the opposite of her profile. The school confirms the entry and tier in week one. Edexcel entry deadlines for the November series fall in early October, so this is the first action on the list, not an administrative detail to settle later.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WHERE THE MARKS ARE</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Number and algebra is 60% of the qualification</a:t>
            </a:r>
            <a:endParaRPr lang="en-US" sz="3300" dirty="0"/>
          </a:p>
        </p:txBody>
      </p:sp>
      <p:graphicFrame>
        <p:nvGraphicFramePr>
          <p:cNvPr id="4" name="Chart 0" descr=""/>
          <p:cNvGraphicFramePr/>
          <p:nvPr/>
        </p:nvGraphicFramePr>
        <p:xfrm>
          <a:off x="502920" y="1600200"/>
          <a:ext cx="5760720" cy="26517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92240" y="1645920"/>
            <a:ext cx="5010912" cy="1207008"/>
          </a:xfrm>
          <a:prstGeom prst="roundRect">
            <a:avLst>
              <a:gd name="adj" fmla="val 3030"/>
            </a:avLst>
          </a:prstGeom>
          <a:solidFill>
            <a:srgbClr val="FFFFFF"/>
          </a:solidFill>
          <a:ln w="9525">
            <a:solidFill>
              <a:srgbClr val="E3DFD5"/>
            </a:solidFill>
            <a:prstDash val="solid"/>
          </a:ln>
        </p:spPr>
      </p:sp>
      <p:sp>
        <p:nvSpPr>
          <p:cNvPr id="6" name="Text 3"/>
          <p:cNvSpPr txBox="1"/>
          <p:nvPr/>
        </p:nvSpPr>
        <p:spPr>
          <a:xfrm>
            <a:off x="6784848" y="1810512"/>
            <a:ext cx="4434840" cy="256032"/>
          </a:xfrm>
          <a:prstGeom prst="rect">
            <a:avLst/>
          </a:prstGeom>
          <a:noFill/>
          <a:ln/>
        </p:spPr>
        <p:txBody>
          <a:bodyPr wrap="square" lIns="0" tIns="0" rIns="0" bIns="0" rtlCol="0" anchor="ctr"/>
          <a:lstStyle/>
          <a:p>
            <a:pPr indent="0" marL="0">
              <a:buNone/>
            </a:pPr>
            <a:r>
              <a:rPr lang="en-US" sz="1250" b="1" dirty="0">
                <a:solidFill>
                  <a:srgbClr val="162947"/>
                </a:solidFill>
                <a:latin typeface="Arial" pitchFamily="34" charset="0"/>
                <a:ea typeface="Arial" pitchFamily="34" charset="-122"/>
                <a:cs typeface="Arial" pitchFamily="34" charset="-120"/>
              </a:rPr>
              <a:t>Her weakest area is also the largest</a:t>
            </a:r>
            <a:endParaRPr lang="en-US" sz="1250" dirty="0"/>
          </a:p>
        </p:txBody>
      </p:sp>
      <p:sp>
        <p:nvSpPr>
          <p:cNvPr id="7" name="Text 4"/>
          <p:cNvSpPr txBox="1"/>
          <p:nvPr/>
        </p:nvSpPr>
        <p:spPr>
          <a:xfrm>
            <a:off x="6784848" y="2103120"/>
            <a:ext cx="4434840" cy="640080"/>
          </a:xfrm>
          <a:prstGeom prst="rect">
            <a:avLst/>
          </a:prstGeom>
          <a:noFill/>
          <a:ln/>
        </p:spPr>
        <p:txBody>
          <a:bodyPr wrap="square" lIns="0" tIns="0" rIns="0" bIns="0" rtlCol="0" anchor="ctr"/>
          <a:lstStyle/>
          <a:p>
            <a:pPr indent="0" marL="0">
              <a:lnSpc>
                <a:spcPts val="1500"/>
              </a:lnSpc>
              <a:buNone/>
            </a:pPr>
            <a:r>
              <a:rPr lang="en-US" sz="1100" dirty="0">
                <a:solidFill>
                  <a:srgbClr val="5D6471"/>
                </a:solidFill>
                <a:latin typeface="Arial" pitchFamily="34" charset="0"/>
                <a:ea typeface="Arial" pitchFamily="34" charset="-122"/>
                <a:cs typeface="Arial" pitchFamily="34" charset="-120"/>
              </a:rPr>
              <a:t>The Year 9 gaps sit in number and algebra. Fixing them pays out across 120 marks rather than 20, so the first three weeks go there and nowhere else.</a:t>
            </a:r>
            <a:endParaRPr lang="en-US" sz="1100" dirty="0"/>
          </a:p>
        </p:txBody>
      </p:sp>
      <p:sp>
        <p:nvSpPr>
          <p:cNvPr id="8" name="Shape 5"/>
          <p:cNvSpPr/>
          <p:nvPr/>
        </p:nvSpPr>
        <p:spPr>
          <a:xfrm>
            <a:off x="6492240" y="3017520"/>
            <a:ext cx="5010912" cy="1207008"/>
          </a:xfrm>
          <a:prstGeom prst="roundRect">
            <a:avLst>
              <a:gd name="adj" fmla="val 3030"/>
            </a:avLst>
          </a:prstGeom>
          <a:solidFill>
            <a:srgbClr val="FFFFFF"/>
          </a:solidFill>
          <a:ln w="9525">
            <a:solidFill>
              <a:srgbClr val="E3DFD5"/>
            </a:solidFill>
            <a:prstDash val="solid"/>
          </a:ln>
        </p:spPr>
      </p:sp>
      <p:sp>
        <p:nvSpPr>
          <p:cNvPr id="9" name="Text 6"/>
          <p:cNvSpPr txBox="1"/>
          <p:nvPr/>
        </p:nvSpPr>
        <p:spPr>
          <a:xfrm>
            <a:off x="6784848" y="3182112"/>
            <a:ext cx="4434840" cy="256032"/>
          </a:xfrm>
          <a:prstGeom prst="rect">
            <a:avLst/>
          </a:prstGeom>
          <a:noFill/>
          <a:ln/>
        </p:spPr>
        <p:txBody>
          <a:bodyPr wrap="square" lIns="0" tIns="0" rIns="0" bIns="0" rtlCol="0" anchor="ctr"/>
          <a:lstStyle/>
          <a:p>
            <a:pPr indent="0" marL="0">
              <a:buNone/>
            </a:pPr>
            <a:r>
              <a:rPr lang="en-US" sz="1250" b="1" dirty="0">
                <a:solidFill>
                  <a:srgbClr val="162947"/>
                </a:solidFill>
                <a:latin typeface="Arial" pitchFamily="34" charset="0"/>
                <a:ea typeface="Arial" pitchFamily="34" charset="-122"/>
                <a:cs typeface="Arial" pitchFamily="34" charset="-120"/>
              </a:rPr>
              <a:t>Handling data needs very little algebra</a:t>
            </a:r>
            <a:endParaRPr lang="en-US" sz="1250" dirty="0"/>
          </a:p>
        </p:txBody>
      </p:sp>
      <p:sp>
        <p:nvSpPr>
          <p:cNvPr id="10" name="Text 7"/>
          <p:cNvSpPr txBox="1"/>
          <p:nvPr/>
        </p:nvSpPr>
        <p:spPr>
          <a:xfrm>
            <a:off x="6784848" y="3474720"/>
            <a:ext cx="4434840" cy="640080"/>
          </a:xfrm>
          <a:prstGeom prst="rect">
            <a:avLst/>
          </a:prstGeom>
          <a:noFill/>
          <a:ln/>
        </p:spPr>
        <p:txBody>
          <a:bodyPr wrap="square" lIns="0" tIns="0" rIns="0" bIns="0" rtlCol="0" anchor="ctr"/>
          <a:lstStyle/>
          <a:p>
            <a:pPr indent="0" marL="0">
              <a:lnSpc>
                <a:spcPts val="1500"/>
              </a:lnSpc>
              <a:buNone/>
            </a:pPr>
            <a:r>
              <a:rPr lang="en-US" sz="1100" dirty="0">
                <a:solidFill>
                  <a:srgbClr val="5D6471"/>
                </a:solidFill>
                <a:latin typeface="Arial" pitchFamily="34" charset="0"/>
                <a:ea typeface="Arial" pitchFamily="34" charset="-122"/>
                <a:cs typeface="Arial" pitchFamily="34" charset="-120"/>
              </a:rPr>
              <a:t>Averages, tables, probability and Venn diagrams are 30 marks that weak algebra does not block. They are taught in week 4, once the algebra spine is in place.</a:t>
            </a:r>
            <a:endParaRPr lang="en-US" sz="1100" dirty="0"/>
          </a:p>
        </p:txBody>
      </p:sp>
      <p:sp>
        <p:nvSpPr>
          <p:cNvPr id="11" name="Shape 8"/>
          <p:cNvSpPr/>
          <p:nvPr/>
        </p:nvSpPr>
        <p:spPr>
          <a:xfrm>
            <a:off x="685800" y="4526280"/>
            <a:ext cx="10817352" cy="1600200"/>
          </a:xfrm>
          <a:prstGeom prst="roundRect">
            <a:avLst>
              <a:gd name="adj" fmla="val 2286"/>
            </a:avLst>
          </a:prstGeom>
          <a:solidFill>
            <a:srgbClr val="162947"/>
          </a:solidFill>
          <a:ln/>
        </p:spPr>
      </p:sp>
      <p:sp>
        <p:nvSpPr>
          <p:cNvPr id="12" name="Text 9"/>
          <p:cNvSpPr txBox="1"/>
          <p:nvPr/>
        </p:nvSpPr>
        <p:spPr>
          <a:xfrm>
            <a:off x="1005840" y="4709160"/>
            <a:ext cx="10149840" cy="292608"/>
          </a:xfrm>
          <a:prstGeom prst="rect">
            <a:avLst/>
          </a:prstGeom>
          <a:noFill/>
          <a:ln/>
        </p:spPr>
        <p:txBody>
          <a:bodyPr wrap="square" lIns="0" tIns="0" rIns="0" bIns="0" rtlCol="0" anchor="ctr"/>
          <a:lstStyle/>
          <a:p>
            <a:pPr indent="0" marL="0">
              <a:buNone/>
            </a:pPr>
            <a:r>
              <a:rPr lang="en-US" sz="1900" dirty="0">
                <a:solidFill>
                  <a:srgbClr val="C3A965"/>
                </a:solidFill>
                <a:latin typeface="Cambria" pitchFamily="34" charset="0"/>
                <a:ea typeface="Cambria" pitchFamily="34" charset="-122"/>
                <a:cs typeface="Cambria" pitchFamily="34" charset="-120"/>
              </a:rPr>
              <a:t>The pool, and why it decides the plan</a:t>
            </a:r>
            <a:endParaRPr lang="en-US" sz="1900" dirty="0"/>
          </a:p>
        </p:txBody>
      </p:sp>
      <p:sp>
        <p:nvSpPr>
          <p:cNvPr id="13" name="Text 10"/>
          <p:cNvSpPr txBox="1"/>
          <p:nvPr/>
        </p:nvSpPr>
        <p:spPr>
          <a:xfrm>
            <a:off x="1005840" y="5056632"/>
            <a:ext cx="1600200" cy="365760"/>
          </a:xfrm>
          <a:prstGeom prst="rect">
            <a:avLst/>
          </a:prstGeom>
          <a:noFill/>
          <a:ln/>
        </p:spPr>
        <p:txBody>
          <a:bodyPr wrap="square" lIns="0" tIns="0" rIns="0" bIns="0" rtlCol="0" anchor="t"/>
          <a:lstStyle/>
          <a:p>
            <a:pPr indent="0" marL="0">
              <a:buNone/>
            </a:pPr>
            <a:r>
              <a:rPr lang="en-US" sz="2300" dirty="0">
                <a:solidFill>
                  <a:srgbClr val="F6F4EF"/>
                </a:solidFill>
                <a:latin typeface="Cambria" pitchFamily="34" charset="0"/>
                <a:ea typeface="Cambria" pitchFamily="34" charset="-122"/>
                <a:cs typeface="Cambria" pitchFamily="34" charset="-120"/>
              </a:rPr>
              <a:t>about 80</a:t>
            </a:r>
            <a:endParaRPr lang="en-US" sz="2300" dirty="0"/>
          </a:p>
        </p:txBody>
      </p:sp>
      <p:sp>
        <p:nvSpPr>
          <p:cNvPr id="14" name="Text 11"/>
          <p:cNvSpPr txBox="1"/>
          <p:nvPr/>
        </p:nvSpPr>
        <p:spPr>
          <a:xfrm>
            <a:off x="2670048" y="5120640"/>
            <a:ext cx="3154680" cy="310896"/>
          </a:xfrm>
          <a:prstGeom prst="rect">
            <a:avLst/>
          </a:prstGeom>
          <a:noFill/>
          <a:ln/>
        </p:spPr>
        <p:txBody>
          <a:bodyPr wrap="square" lIns="0" tIns="0" rIns="0" bIns="0" rtlCol="0" anchor="t"/>
          <a:lstStyle/>
          <a:p>
            <a:pPr indent="0" marL="0">
              <a:lnSpc>
                <a:spcPts val="1400"/>
              </a:lnSpc>
              <a:buNone/>
            </a:pPr>
            <a:r>
              <a:rPr lang="en-US" sz="1100" b="1" dirty="0">
                <a:solidFill>
                  <a:srgbClr val="E8E4DA"/>
                </a:solidFill>
                <a:latin typeface="Arial" pitchFamily="34" charset="0"/>
                <a:ea typeface="Arial" pitchFamily="34" charset="-122"/>
                <a:cs typeface="Arial" pitchFamily="34" charset="-120"/>
              </a:rPr>
              <a:t>marks are pitched at grades 4 and 5</a:t>
            </a:r>
            <a:endParaRPr lang="en-US" sz="1100" dirty="0"/>
          </a:p>
        </p:txBody>
      </p:sp>
      <p:sp>
        <p:nvSpPr>
          <p:cNvPr id="15" name="Text 12"/>
          <p:cNvSpPr txBox="1"/>
          <p:nvPr/>
        </p:nvSpPr>
        <p:spPr>
          <a:xfrm>
            <a:off x="1005840" y="5486400"/>
            <a:ext cx="4846320" cy="548640"/>
          </a:xfrm>
          <a:prstGeom prst="rect">
            <a:avLst/>
          </a:prstGeom>
          <a:noFill/>
          <a:ln/>
        </p:spPr>
        <p:txBody>
          <a:bodyPr wrap="square" lIns="0" tIns="0" rIns="0" bIns="0" rtlCol="0" anchor="t"/>
          <a:lstStyle/>
          <a:p>
            <a:pPr indent="0" marL="0">
              <a:lnSpc>
                <a:spcPts val="1450"/>
              </a:lnSpc>
              <a:buNone/>
            </a:pPr>
            <a:r>
              <a:rPr lang="en-US" sz="1050" dirty="0">
                <a:solidFill>
                  <a:srgbClr val="A8B2C2"/>
                </a:solidFill>
                <a:latin typeface="Arial" pitchFamily="34" charset="0"/>
                <a:ea typeface="Arial" pitchFamily="34" charset="-122"/>
                <a:cs typeface="Arial" pitchFamily="34" charset="-120"/>
              </a:rPr>
              <a:t>Teach only this band and she must convert 65 of 80, so she can afford to drop 15 marks in two hours.</a:t>
            </a:r>
            <a:endParaRPr lang="en-US" sz="1050" dirty="0"/>
          </a:p>
        </p:txBody>
      </p:sp>
      <p:sp>
        <p:nvSpPr>
          <p:cNvPr id="16" name="Text 13"/>
          <p:cNvSpPr txBox="1"/>
          <p:nvPr/>
        </p:nvSpPr>
        <p:spPr>
          <a:xfrm>
            <a:off x="6126480" y="5056632"/>
            <a:ext cx="1600200" cy="365760"/>
          </a:xfrm>
          <a:prstGeom prst="rect">
            <a:avLst/>
          </a:prstGeom>
          <a:noFill/>
          <a:ln/>
        </p:spPr>
        <p:txBody>
          <a:bodyPr wrap="square" lIns="0" tIns="0" rIns="0" bIns="0" rtlCol="0" anchor="t"/>
          <a:lstStyle/>
          <a:p>
            <a:pPr indent="0" marL="0">
              <a:buNone/>
            </a:pPr>
            <a:r>
              <a:rPr lang="en-US" sz="2300" dirty="0">
                <a:solidFill>
                  <a:srgbClr val="F6F4EF"/>
                </a:solidFill>
                <a:latin typeface="Cambria" pitchFamily="34" charset="0"/>
                <a:ea typeface="Cambria" pitchFamily="34" charset="-122"/>
                <a:cs typeface="Cambria" pitchFamily="34" charset="-120"/>
              </a:rPr>
              <a:t>about 105</a:t>
            </a:r>
            <a:endParaRPr lang="en-US" sz="2300" dirty="0"/>
          </a:p>
        </p:txBody>
      </p:sp>
      <p:sp>
        <p:nvSpPr>
          <p:cNvPr id="17" name="Text 14"/>
          <p:cNvSpPr txBox="1"/>
          <p:nvPr/>
        </p:nvSpPr>
        <p:spPr>
          <a:xfrm>
            <a:off x="7790688" y="5120640"/>
            <a:ext cx="3154680" cy="310896"/>
          </a:xfrm>
          <a:prstGeom prst="rect">
            <a:avLst/>
          </a:prstGeom>
          <a:noFill/>
          <a:ln/>
        </p:spPr>
        <p:txBody>
          <a:bodyPr wrap="square" lIns="0" tIns="0" rIns="0" bIns="0" rtlCol="0" anchor="t"/>
          <a:lstStyle/>
          <a:p>
            <a:pPr indent="0" marL="0">
              <a:lnSpc>
                <a:spcPts val="1400"/>
              </a:lnSpc>
              <a:buNone/>
            </a:pPr>
            <a:r>
              <a:rPr lang="en-US" sz="1100" b="1" dirty="0">
                <a:solidFill>
                  <a:srgbClr val="E8E4DA"/>
                </a:solidFill>
                <a:latin typeface="Arial" pitchFamily="34" charset="0"/>
                <a:ea typeface="Arial" pitchFamily="34" charset="-122"/>
                <a:cs typeface="Arial" pitchFamily="34" charset="-120"/>
              </a:rPr>
              <a:t>marks once we add single-step grade 6 work</a:t>
            </a:r>
            <a:endParaRPr lang="en-US" sz="1100" dirty="0"/>
          </a:p>
        </p:txBody>
      </p:sp>
      <p:sp>
        <p:nvSpPr>
          <p:cNvPr id="18" name="Text 15"/>
          <p:cNvSpPr txBox="1"/>
          <p:nvPr/>
        </p:nvSpPr>
        <p:spPr>
          <a:xfrm>
            <a:off x="6126480" y="5486400"/>
            <a:ext cx="4846320" cy="548640"/>
          </a:xfrm>
          <a:prstGeom prst="rect">
            <a:avLst/>
          </a:prstGeom>
          <a:noFill/>
          <a:ln/>
        </p:spPr>
        <p:txBody>
          <a:bodyPr wrap="square" lIns="0" tIns="0" rIns="0" bIns="0" rtlCol="0" anchor="t"/>
          <a:lstStyle/>
          <a:p>
            <a:pPr indent="0" marL="0">
              <a:lnSpc>
                <a:spcPts val="1450"/>
              </a:lnSpc>
              <a:buNone/>
            </a:pPr>
            <a:r>
              <a:rPr lang="en-US" sz="1050" dirty="0">
                <a:solidFill>
                  <a:srgbClr val="A8B2C2"/>
                </a:solidFill>
                <a:latin typeface="Arial" pitchFamily="34" charset="0"/>
                <a:ea typeface="Arial" pitchFamily="34" charset="-122"/>
                <a:cs typeface="Arial" pitchFamily="34" charset="-120"/>
              </a:rPr>
              <a:t>Same target of 65 to pass, but now she can afford to drop 40 marks and still get there.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THE ROUTE</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Six weeks, at a glance</a:t>
            </a:r>
            <a:endParaRPr lang="en-US" sz="3300" dirty="0"/>
          </a:p>
        </p:txBody>
      </p:sp>
      <p:sp>
        <p:nvSpPr>
          <p:cNvPr id="4" name="Shape 2"/>
          <p:cNvSpPr/>
          <p:nvPr/>
        </p:nvSpPr>
        <p:spPr>
          <a:xfrm>
            <a:off x="1115568" y="2048256"/>
            <a:ext cx="10469880" cy="0"/>
          </a:xfrm>
          <a:prstGeom prst="line">
            <a:avLst/>
          </a:prstGeom>
          <a:noFill/>
          <a:ln w="15875">
            <a:solidFill>
              <a:srgbClr val="C9CEDB"/>
            </a:solidFill>
            <a:prstDash val="solid"/>
          </a:ln>
        </p:spPr>
      </p:sp>
      <p:sp>
        <p:nvSpPr>
          <p:cNvPr id="5" name="Shape 3"/>
          <p:cNvSpPr/>
          <p:nvPr/>
        </p:nvSpPr>
        <p:spPr>
          <a:xfrm>
            <a:off x="868680" y="1847088"/>
            <a:ext cx="402336" cy="402336"/>
          </a:xfrm>
          <a:prstGeom prst="ellipse">
            <a:avLst/>
          </a:prstGeom>
          <a:solidFill>
            <a:srgbClr val="162947"/>
          </a:solidFill>
          <a:ln/>
        </p:spPr>
      </p:sp>
      <p:sp>
        <p:nvSpPr>
          <p:cNvPr id="6" name="Text 4"/>
          <p:cNvSpPr txBox="1"/>
          <p:nvPr/>
        </p:nvSpPr>
        <p:spPr>
          <a:xfrm>
            <a:off x="868680" y="1847088"/>
            <a:ext cx="402336" cy="402336"/>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301752" y="2395728"/>
            <a:ext cx="1554480" cy="219456"/>
          </a:xfrm>
          <a:prstGeom prst="rect">
            <a:avLst/>
          </a:prstGeom>
          <a:noFill/>
          <a:ln/>
        </p:spPr>
        <p:txBody>
          <a:bodyPr wrap="square" lIns="0" tIns="0" rIns="0" bIns="0" rtlCol="0" anchor="ctr"/>
          <a:lstStyle/>
          <a:p>
            <a:pPr algn="ctr" indent="0" marL="0">
              <a:buNone/>
            </a:pPr>
            <a:r>
              <a:rPr lang="en-US" sz="950" dirty="0">
                <a:solidFill>
                  <a:srgbClr val="5D6471"/>
                </a:solidFill>
                <a:latin typeface="Arial" pitchFamily="34" charset="0"/>
                <a:ea typeface="Arial" pitchFamily="34" charset="-122"/>
                <a:cs typeface="Arial" pitchFamily="34" charset="-120"/>
              </a:rPr>
              <a:t>21-27 Sep</a:t>
            </a:r>
            <a:endParaRPr lang="en-US" sz="950" dirty="0"/>
          </a:p>
        </p:txBody>
      </p:sp>
      <p:sp>
        <p:nvSpPr>
          <p:cNvPr id="8" name="Text 6"/>
          <p:cNvSpPr txBox="1"/>
          <p:nvPr/>
        </p:nvSpPr>
        <p:spPr>
          <a:xfrm>
            <a:off x="301752" y="2633472"/>
            <a:ext cx="1554480" cy="457200"/>
          </a:xfrm>
          <a:prstGeom prst="rect">
            <a:avLst/>
          </a:prstGeom>
          <a:noFill/>
          <a:ln/>
        </p:spPr>
        <p:txBody>
          <a:bodyPr wrap="square" lIns="0" tIns="0" rIns="0" bIns="0" rtlCol="0" anchor="ctr"/>
          <a:lstStyle/>
          <a:p>
            <a:pPr algn="ctr" indent="0" marL="0">
              <a:lnSpc>
                <a:spcPts val="1400"/>
              </a:lnSpc>
              <a:buNone/>
            </a:pPr>
            <a:r>
              <a:rPr lang="en-US" sz="1200" b="1" dirty="0">
                <a:solidFill>
                  <a:srgbClr val="162947"/>
                </a:solidFill>
                <a:latin typeface="Arial" pitchFamily="34" charset="0"/>
                <a:ea typeface="Arial" pitchFamily="34" charset="-122"/>
                <a:cs typeface="Arial" pitchFamily="34" charset="-120"/>
              </a:rPr>
              <a:t>Diagnose</a:t>
            </a:r>
            <a:endParaRPr lang="en-US" sz="1200" dirty="0"/>
          </a:p>
        </p:txBody>
      </p:sp>
      <p:sp>
        <p:nvSpPr>
          <p:cNvPr id="9" name="Shape 7"/>
          <p:cNvSpPr/>
          <p:nvPr/>
        </p:nvSpPr>
        <p:spPr>
          <a:xfrm>
            <a:off x="2613660" y="1847088"/>
            <a:ext cx="402336" cy="402336"/>
          </a:xfrm>
          <a:prstGeom prst="ellipse">
            <a:avLst/>
          </a:prstGeom>
          <a:solidFill>
            <a:srgbClr val="162947"/>
          </a:solidFill>
          <a:ln/>
        </p:spPr>
      </p:sp>
      <p:sp>
        <p:nvSpPr>
          <p:cNvPr id="10" name="Text 8"/>
          <p:cNvSpPr txBox="1"/>
          <p:nvPr/>
        </p:nvSpPr>
        <p:spPr>
          <a:xfrm>
            <a:off x="2613660" y="1847088"/>
            <a:ext cx="402336" cy="402336"/>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2046732" y="2395728"/>
            <a:ext cx="1554480" cy="219456"/>
          </a:xfrm>
          <a:prstGeom prst="rect">
            <a:avLst/>
          </a:prstGeom>
          <a:noFill/>
          <a:ln/>
        </p:spPr>
        <p:txBody>
          <a:bodyPr wrap="square" lIns="0" tIns="0" rIns="0" bIns="0" rtlCol="0" anchor="ctr"/>
          <a:lstStyle/>
          <a:p>
            <a:pPr algn="ctr" indent="0" marL="0">
              <a:buNone/>
            </a:pPr>
            <a:r>
              <a:rPr lang="en-US" sz="950" dirty="0">
                <a:solidFill>
                  <a:srgbClr val="5D6471"/>
                </a:solidFill>
                <a:latin typeface="Arial" pitchFamily="34" charset="0"/>
                <a:ea typeface="Arial" pitchFamily="34" charset="-122"/>
                <a:cs typeface="Arial" pitchFamily="34" charset="-120"/>
              </a:rPr>
              <a:t>28 Sep-4 Oct</a:t>
            </a:r>
            <a:endParaRPr lang="en-US" sz="950" dirty="0"/>
          </a:p>
        </p:txBody>
      </p:sp>
      <p:sp>
        <p:nvSpPr>
          <p:cNvPr id="12" name="Text 10"/>
          <p:cNvSpPr txBox="1"/>
          <p:nvPr/>
        </p:nvSpPr>
        <p:spPr>
          <a:xfrm>
            <a:off x="2046732" y="2633472"/>
            <a:ext cx="1554480" cy="457200"/>
          </a:xfrm>
          <a:prstGeom prst="rect">
            <a:avLst/>
          </a:prstGeom>
          <a:noFill/>
          <a:ln/>
        </p:spPr>
        <p:txBody>
          <a:bodyPr wrap="square" lIns="0" tIns="0" rIns="0" bIns="0" rtlCol="0" anchor="ctr"/>
          <a:lstStyle/>
          <a:p>
            <a:pPr algn="ctr" indent="0" marL="0">
              <a:lnSpc>
                <a:spcPts val="1400"/>
              </a:lnSpc>
              <a:buNone/>
            </a:pPr>
            <a:r>
              <a:rPr lang="en-US" sz="1200" b="1" dirty="0">
                <a:solidFill>
                  <a:srgbClr val="162947"/>
                </a:solidFill>
                <a:latin typeface="Arial" pitchFamily="34" charset="0"/>
                <a:ea typeface="Arial" pitchFamily="34" charset="-122"/>
                <a:cs typeface="Arial" pitchFamily="34" charset="-120"/>
              </a:rPr>
              <a:t>Number</a:t>
            </a:r>
            <a:endParaRPr lang="en-US" sz="1200" dirty="0"/>
          </a:p>
        </p:txBody>
      </p:sp>
      <p:sp>
        <p:nvSpPr>
          <p:cNvPr id="13" name="Shape 11"/>
          <p:cNvSpPr/>
          <p:nvPr/>
        </p:nvSpPr>
        <p:spPr>
          <a:xfrm>
            <a:off x="4358640" y="1847088"/>
            <a:ext cx="402336" cy="402336"/>
          </a:xfrm>
          <a:prstGeom prst="ellipse">
            <a:avLst/>
          </a:prstGeom>
          <a:solidFill>
            <a:srgbClr val="162947"/>
          </a:solidFill>
          <a:ln/>
        </p:spPr>
      </p:sp>
      <p:sp>
        <p:nvSpPr>
          <p:cNvPr id="14" name="Text 12"/>
          <p:cNvSpPr txBox="1"/>
          <p:nvPr/>
        </p:nvSpPr>
        <p:spPr>
          <a:xfrm>
            <a:off x="4358640" y="1847088"/>
            <a:ext cx="402336" cy="402336"/>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3</a:t>
            </a:r>
            <a:endParaRPr lang="en-US" sz="1500" dirty="0"/>
          </a:p>
        </p:txBody>
      </p:sp>
      <p:sp>
        <p:nvSpPr>
          <p:cNvPr id="15" name="Text 13"/>
          <p:cNvSpPr txBox="1"/>
          <p:nvPr/>
        </p:nvSpPr>
        <p:spPr>
          <a:xfrm>
            <a:off x="3791712" y="2395728"/>
            <a:ext cx="1554480" cy="219456"/>
          </a:xfrm>
          <a:prstGeom prst="rect">
            <a:avLst/>
          </a:prstGeom>
          <a:noFill/>
          <a:ln/>
        </p:spPr>
        <p:txBody>
          <a:bodyPr wrap="square" lIns="0" tIns="0" rIns="0" bIns="0" rtlCol="0" anchor="ctr"/>
          <a:lstStyle/>
          <a:p>
            <a:pPr algn="ctr" indent="0" marL="0">
              <a:buNone/>
            </a:pPr>
            <a:r>
              <a:rPr lang="en-US" sz="950" dirty="0">
                <a:solidFill>
                  <a:srgbClr val="5D6471"/>
                </a:solidFill>
                <a:latin typeface="Arial" pitchFamily="34" charset="0"/>
                <a:ea typeface="Arial" pitchFamily="34" charset="-122"/>
                <a:cs typeface="Arial" pitchFamily="34" charset="-120"/>
              </a:rPr>
              <a:t>5-11 Oct</a:t>
            </a:r>
            <a:endParaRPr lang="en-US" sz="950" dirty="0"/>
          </a:p>
        </p:txBody>
      </p:sp>
      <p:sp>
        <p:nvSpPr>
          <p:cNvPr id="16" name="Text 14"/>
          <p:cNvSpPr txBox="1"/>
          <p:nvPr/>
        </p:nvSpPr>
        <p:spPr>
          <a:xfrm>
            <a:off x="3791712" y="2633472"/>
            <a:ext cx="1554480" cy="457200"/>
          </a:xfrm>
          <a:prstGeom prst="rect">
            <a:avLst/>
          </a:prstGeom>
          <a:noFill/>
          <a:ln/>
        </p:spPr>
        <p:txBody>
          <a:bodyPr wrap="square" lIns="0" tIns="0" rIns="0" bIns="0" rtlCol="0" anchor="ctr"/>
          <a:lstStyle/>
          <a:p>
            <a:pPr algn="ctr" indent="0" marL="0">
              <a:lnSpc>
                <a:spcPts val="1400"/>
              </a:lnSpc>
              <a:buNone/>
            </a:pPr>
            <a:r>
              <a:rPr lang="en-US" sz="1200" b="1" dirty="0">
                <a:solidFill>
                  <a:srgbClr val="162947"/>
                </a:solidFill>
                <a:latin typeface="Arial" pitchFamily="34" charset="0"/>
                <a:ea typeface="Arial" pitchFamily="34" charset="-122"/>
                <a:cs typeface="Arial" pitchFamily="34" charset="-120"/>
              </a:rPr>
              <a:t>Algebra</a:t>
            </a:r>
            <a:endParaRPr lang="en-US" sz="1200" dirty="0"/>
          </a:p>
        </p:txBody>
      </p:sp>
      <p:sp>
        <p:nvSpPr>
          <p:cNvPr id="17" name="Shape 15"/>
          <p:cNvSpPr/>
          <p:nvPr/>
        </p:nvSpPr>
        <p:spPr>
          <a:xfrm>
            <a:off x="6103620" y="1847088"/>
            <a:ext cx="402336" cy="402336"/>
          </a:xfrm>
          <a:prstGeom prst="ellipse">
            <a:avLst/>
          </a:prstGeom>
          <a:solidFill>
            <a:srgbClr val="162947"/>
          </a:solidFill>
          <a:ln/>
        </p:spPr>
      </p:sp>
      <p:sp>
        <p:nvSpPr>
          <p:cNvPr id="18" name="Text 16"/>
          <p:cNvSpPr txBox="1"/>
          <p:nvPr/>
        </p:nvSpPr>
        <p:spPr>
          <a:xfrm>
            <a:off x="6103620" y="1847088"/>
            <a:ext cx="402336" cy="402336"/>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4</a:t>
            </a:r>
            <a:endParaRPr lang="en-US" sz="1500" dirty="0"/>
          </a:p>
        </p:txBody>
      </p:sp>
      <p:sp>
        <p:nvSpPr>
          <p:cNvPr id="19" name="Text 17"/>
          <p:cNvSpPr txBox="1"/>
          <p:nvPr/>
        </p:nvSpPr>
        <p:spPr>
          <a:xfrm>
            <a:off x="5536692" y="2395728"/>
            <a:ext cx="1554480" cy="219456"/>
          </a:xfrm>
          <a:prstGeom prst="rect">
            <a:avLst/>
          </a:prstGeom>
          <a:noFill/>
          <a:ln/>
        </p:spPr>
        <p:txBody>
          <a:bodyPr wrap="square" lIns="0" tIns="0" rIns="0" bIns="0" rtlCol="0" anchor="ctr"/>
          <a:lstStyle/>
          <a:p>
            <a:pPr algn="ctr" indent="0" marL="0">
              <a:buNone/>
            </a:pPr>
            <a:r>
              <a:rPr lang="en-US" sz="950" dirty="0">
                <a:solidFill>
                  <a:srgbClr val="5D6471"/>
                </a:solidFill>
                <a:latin typeface="Arial" pitchFamily="34" charset="0"/>
                <a:ea typeface="Arial" pitchFamily="34" charset="-122"/>
                <a:cs typeface="Arial" pitchFamily="34" charset="-120"/>
              </a:rPr>
              <a:t>12-18 Oct</a:t>
            </a:r>
            <a:endParaRPr lang="en-US" sz="950" dirty="0"/>
          </a:p>
        </p:txBody>
      </p:sp>
      <p:sp>
        <p:nvSpPr>
          <p:cNvPr id="20" name="Text 18"/>
          <p:cNvSpPr txBox="1"/>
          <p:nvPr/>
        </p:nvSpPr>
        <p:spPr>
          <a:xfrm>
            <a:off x="5536692" y="2633472"/>
            <a:ext cx="1554480" cy="457200"/>
          </a:xfrm>
          <a:prstGeom prst="rect">
            <a:avLst/>
          </a:prstGeom>
          <a:noFill/>
          <a:ln/>
        </p:spPr>
        <p:txBody>
          <a:bodyPr wrap="square" lIns="0" tIns="0" rIns="0" bIns="0" rtlCol="0" anchor="ctr"/>
          <a:lstStyle/>
          <a:p>
            <a:pPr algn="ctr" indent="0" marL="0">
              <a:lnSpc>
                <a:spcPts val="1400"/>
              </a:lnSpc>
              <a:buNone/>
            </a:pPr>
            <a:r>
              <a:rPr lang="en-US" sz="1200" b="1" dirty="0">
                <a:solidFill>
                  <a:srgbClr val="162947"/>
                </a:solidFill>
                <a:latin typeface="Arial" pitchFamily="34" charset="0"/>
                <a:ea typeface="Arial" pitchFamily="34" charset="-122"/>
                <a:cs typeface="Arial" pitchFamily="34" charset="-120"/>
              </a:rPr>
              <a:t>Ratio and data</a:t>
            </a:r>
            <a:endParaRPr lang="en-US" sz="1200" dirty="0"/>
          </a:p>
        </p:txBody>
      </p:sp>
      <p:sp>
        <p:nvSpPr>
          <p:cNvPr id="21" name="Shape 19"/>
          <p:cNvSpPr/>
          <p:nvPr/>
        </p:nvSpPr>
        <p:spPr>
          <a:xfrm>
            <a:off x="7848600" y="1847088"/>
            <a:ext cx="402336" cy="402336"/>
          </a:xfrm>
          <a:prstGeom prst="ellipse">
            <a:avLst/>
          </a:prstGeom>
          <a:solidFill>
            <a:srgbClr val="162947"/>
          </a:solidFill>
          <a:ln/>
        </p:spPr>
      </p:sp>
      <p:sp>
        <p:nvSpPr>
          <p:cNvPr id="22" name="Text 20"/>
          <p:cNvSpPr txBox="1"/>
          <p:nvPr/>
        </p:nvSpPr>
        <p:spPr>
          <a:xfrm>
            <a:off x="7848600" y="1847088"/>
            <a:ext cx="402336" cy="402336"/>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5</a:t>
            </a:r>
            <a:endParaRPr lang="en-US" sz="1500" dirty="0"/>
          </a:p>
        </p:txBody>
      </p:sp>
      <p:sp>
        <p:nvSpPr>
          <p:cNvPr id="23" name="Text 21"/>
          <p:cNvSpPr txBox="1"/>
          <p:nvPr/>
        </p:nvSpPr>
        <p:spPr>
          <a:xfrm>
            <a:off x="7281672" y="2395728"/>
            <a:ext cx="1554480" cy="219456"/>
          </a:xfrm>
          <a:prstGeom prst="rect">
            <a:avLst/>
          </a:prstGeom>
          <a:noFill/>
          <a:ln/>
        </p:spPr>
        <p:txBody>
          <a:bodyPr wrap="square" lIns="0" tIns="0" rIns="0" bIns="0" rtlCol="0" anchor="ctr"/>
          <a:lstStyle/>
          <a:p>
            <a:pPr algn="ctr" indent="0" marL="0">
              <a:buNone/>
            </a:pPr>
            <a:r>
              <a:rPr lang="en-US" sz="950" dirty="0">
                <a:solidFill>
                  <a:srgbClr val="5D6471"/>
                </a:solidFill>
                <a:latin typeface="Arial" pitchFamily="34" charset="0"/>
                <a:ea typeface="Arial" pitchFamily="34" charset="-122"/>
                <a:cs typeface="Arial" pitchFamily="34" charset="-120"/>
              </a:rPr>
              <a:t>19-25 Oct</a:t>
            </a:r>
            <a:endParaRPr lang="en-US" sz="950" dirty="0"/>
          </a:p>
        </p:txBody>
      </p:sp>
      <p:sp>
        <p:nvSpPr>
          <p:cNvPr id="24" name="Text 22"/>
          <p:cNvSpPr txBox="1"/>
          <p:nvPr/>
        </p:nvSpPr>
        <p:spPr>
          <a:xfrm>
            <a:off x="7281672" y="2633472"/>
            <a:ext cx="1554480" cy="457200"/>
          </a:xfrm>
          <a:prstGeom prst="rect">
            <a:avLst/>
          </a:prstGeom>
          <a:noFill/>
          <a:ln/>
        </p:spPr>
        <p:txBody>
          <a:bodyPr wrap="square" lIns="0" tIns="0" rIns="0" bIns="0" rtlCol="0" anchor="ctr"/>
          <a:lstStyle/>
          <a:p>
            <a:pPr algn="ctr" indent="0" marL="0">
              <a:lnSpc>
                <a:spcPts val="1400"/>
              </a:lnSpc>
              <a:buNone/>
            </a:pPr>
            <a:r>
              <a:rPr lang="en-US" sz="1200" b="1" dirty="0">
                <a:solidFill>
                  <a:srgbClr val="162947"/>
                </a:solidFill>
                <a:latin typeface="Arial" pitchFamily="34" charset="0"/>
                <a:ea typeface="Arial" pitchFamily="34" charset="-122"/>
                <a:cs typeface="Arial" pitchFamily="34" charset="-120"/>
              </a:rPr>
              <a:t>Shape</a:t>
            </a:r>
            <a:endParaRPr lang="en-US" sz="1200" dirty="0"/>
          </a:p>
        </p:txBody>
      </p:sp>
      <p:sp>
        <p:nvSpPr>
          <p:cNvPr id="25" name="Shape 23"/>
          <p:cNvSpPr/>
          <p:nvPr/>
        </p:nvSpPr>
        <p:spPr>
          <a:xfrm>
            <a:off x="9593580" y="1847088"/>
            <a:ext cx="402336" cy="402336"/>
          </a:xfrm>
          <a:prstGeom prst="ellipse">
            <a:avLst/>
          </a:prstGeom>
          <a:solidFill>
            <a:srgbClr val="162947"/>
          </a:solidFill>
          <a:ln/>
        </p:spPr>
      </p:sp>
      <p:sp>
        <p:nvSpPr>
          <p:cNvPr id="26" name="Text 24"/>
          <p:cNvSpPr txBox="1"/>
          <p:nvPr/>
        </p:nvSpPr>
        <p:spPr>
          <a:xfrm>
            <a:off x="9593580" y="1847088"/>
            <a:ext cx="402336" cy="402336"/>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6</a:t>
            </a:r>
            <a:endParaRPr lang="en-US" sz="1500" dirty="0"/>
          </a:p>
        </p:txBody>
      </p:sp>
      <p:sp>
        <p:nvSpPr>
          <p:cNvPr id="27" name="Text 25"/>
          <p:cNvSpPr txBox="1"/>
          <p:nvPr/>
        </p:nvSpPr>
        <p:spPr>
          <a:xfrm>
            <a:off x="9026652" y="2395728"/>
            <a:ext cx="1554480" cy="219456"/>
          </a:xfrm>
          <a:prstGeom prst="rect">
            <a:avLst/>
          </a:prstGeom>
          <a:noFill/>
          <a:ln/>
        </p:spPr>
        <p:txBody>
          <a:bodyPr wrap="square" lIns="0" tIns="0" rIns="0" bIns="0" rtlCol="0" anchor="ctr"/>
          <a:lstStyle/>
          <a:p>
            <a:pPr algn="ctr" indent="0" marL="0">
              <a:buNone/>
            </a:pPr>
            <a:r>
              <a:rPr lang="en-US" sz="950" dirty="0">
                <a:solidFill>
                  <a:srgbClr val="5D6471"/>
                </a:solidFill>
                <a:latin typeface="Arial" pitchFamily="34" charset="0"/>
                <a:ea typeface="Arial" pitchFamily="34" charset="-122"/>
                <a:cs typeface="Arial" pitchFamily="34" charset="-120"/>
              </a:rPr>
              <a:t>26 Oct-1 Nov</a:t>
            </a:r>
            <a:endParaRPr lang="en-US" sz="950" dirty="0"/>
          </a:p>
        </p:txBody>
      </p:sp>
      <p:sp>
        <p:nvSpPr>
          <p:cNvPr id="28" name="Text 26"/>
          <p:cNvSpPr txBox="1"/>
          <p:nvPr/>
        </p:nvSpPr>
        <p:spPr>
          <a:xfrm>
            <a:off x="9026652" y="2633472"/>
            <a:ext cx="1554480" cy="457200"/>
          </a:xfrm>
          <a:prstGeom prst="rect">
            <a:avLst/>
          </a:prstGeom>
          <a:noFill/>
          <a:ln/>
        </p:spPr>
        <p:txBody>
          <a:bodyPr wrap="square" lIns="0" tIns="0" rIns="0" bIns="0" rtlCol="0" anchor="ctr"/>
          <a:lstStyle/>
          <a:p>
            <a:pPr algn="ctr" indent="0" marL="0">
              <a:lnSpc>
                <a:spcPts val="1400"/>
              </a:lnSpc>
              <a:buNone/>
            </a:pPr>
            <a:r>
              <a:rPr lang="en-US" sz="1200" b="1" dirty="0">
                <a:solidFill>
                  <a:srgbClr val="162947"/>
                </a:solidFill>
                <a:latin typeface="Arial" pitchFamily="34" charset="0"/>
                <a:ea typeface="Arial" pitchFamily="34" charset="-122"/>
                <a:cs typeface="Arial" pitchFamily="34" charset="-120"/>
              </a:rPr>
              <a:t>Papers</a:t>
            </a:r>
            <a:endParaRPr lang="en-US" sz="1200" dirty="0"/>
          </a:p>
        </p:txBody>
      </p:sp>
      <p:sp>
        <p:nvSpPr>
          <p:cNvPr id="29" name="Shape 27"/>
          <p:cNvSpPr/>
          <p:nvPr/>
        </p:nvSpPr>
        <p:spPr>
          <a:xfrm>
            <a:off x="11338560" y="1847088"/>
            <a:ext cx="402336" cy="402336"/>
          </a:xfrm>
          <a:prstGeom prst="ellipse">
            <a:avLst/>
          </a:prstGeom>
          <a:solidFill>
            <a:srgbClr val="C3A965"/>
          </a:solidFill>
          <a:ln/>
        </p:spPr>
      </p:sp>
      <p:sp>
        <p:nvSpPr>
          <p:cNvPr id="30" name="Text 28"/>
          <p:cNvSpPr txBox="1"/>
          <p:nvPr/>
        </p:nvSpPr>
        <p:spPr>
          <a:xfrm>
            <a:off x="11338560" y="1847088"/>
            <a:ext cx="402336" cy="402336"/>
          </a:xfrm>
          <a:prstGeom prst="rect">
            <a:avLst/>
          </a:prstGeom>
          <a:noFill/>
          <a:ln/>
        </p:spPr>
        <p:txBody>
          <a:bodyPr wrap="square" lIns="0" tIns="0" rIns="0" bIns="0" rtlCol="0" anchor="ctr"/>
          <a:lstStyle/>
          <a:p>
            <a:pPr algn="ctr" indent="0" marL="0">
              <a:buNone/>
            </a:pPr>
            <a:r>
              <a:rPr lang="en-US" sz="1500" b="1" dirty="0">
                <a:solidFill>
                  <a:srgbClr val="162947"/>
                </a:solidFill>
                <a:latin typeface="Cambria" pitchFamily="34" charset="0"/>
                <a:ea typeface="Cambria" pitchFamily="34" charset="-122"/>
                <a:cs typeface="Cambria" pitchFamily="34" charset="-120"/>
              </a:rPr>
              <a:t>★</a:t>
            </a:r>
            <a:endParaRPr lang="en-US" sz="1500" dirty="0"/>
          </a:p>
        </p:txBody>
      </p:sp>
      <p:sp>
        <p:nvSpPr>
          <p:cNvPr id="31" name="Text 29"/>
          <p:cNvSpPr txBox="1"/>
          <p:nvPr/>
        </p:nvSpPr>
        <p:spPr>
          <a:xfrm>
            <a:off x="10771632" y="2395728"/>
            <a:ext cx="1554480" cy="219456"/>
          </a:xfrm>
          <a:prstGeom prst="rect">
            <a:avLst/>
          </a:prstGeom>
          <a:noFill/>
          <a:ln/>
        </p:spPr>
        <p:txBody>
          <a:bodyPr wrap="square" lIns="0" tIns="0" rIns="0" bIns="0" rtlCol="0" anchor="ctr"/>
          <a:lstStyle/>
          <a:p>
            <a:pPr algn="ctr" indent="0" marL="0">
              <a:buNone/>
            </a:pPr>
            <a:r>
              <a:rPr lang="en-US" sz="950" dirty="0">
                <a:solidFill>
                  <a:srgbClr val="C3A965"/>
                </a:solidFill>
                <a:latin typeface="Arial" pitchFamily="34" charset="0"/>
                <a:ea typeface="Arial" pitchFamily="34" charset="-122"/>
                <a:cs typeface="Arial" pitchFamily="34" charset="-120"/>
              </a:rPr>
              <a:t>4 and 6 Nov</a:t>
            </a:r>
            <a:endParaRPr lang="en-US" sz="950" dirty="0"/>
          </a:p>
        </p:txBody>
      </p:sp>
      <p:sp>
        <p:nvSpPr>
          <p:cNvPr id="32" name="Text 30"/>
          <p:cNvSpPr txBox="1"/>
          <p:nvPr/>
        </p:nvSpPr>
        <p:spPr>
          <a:xfrm>
            <a:off x="10771632" y="2633472"/>
            <a:ext cx="1554480" cy="457200"/>
          </a:xfrm>
          <a:prstGeom prst="rect">
            <a:avLst/>
          </a:prstGeom>
          <a:noFill/>
          <a:ln/>
        </p:spPr>
        <p:txBody>
          <a:bodyPr wrap="square" lIns="0" tIns="0" rIns="0" bIns="0" rtlCol="0" anchor="ctr"/>
          <a:lstStyle/>
          <a:p>
            <a:pPr algn="ctr" indent="0" marL="0">
              <a:lnSpc>
                <a:spcPts val="1400"/>
              </a:lnSpc>
              <a:buNone/>
            </a:pPr>
            <a:r>
              <a:rPr lang="en-US" sz="1200" b="1" dirty="0">
                <a:solidFill>
                  <a:srgbClr val="162947"/>
                </a:solidFill>
                <a:latin typeface="Arial" pitchFamily="34" charset="0"/>
                <a:ea typeface="Arial" pitchFamily="34" charset="-122"/>
                <a:cs typeface="Arial" pitchFamily="34" charset="-120"/>
              </a:rPr>
              <a:t>Exams</a:t>
            </a:r>
            <a:endParaRPr lang="en-US" sz="1200" dirty="0"/>
          </a:p>
        </p:txBody>
      </p:sp>
      <p:sp>
        <p:nvSpPr>
          <p:cNvPr id="33" name="Text 31"/>
          <p:cNvSpPr txBox="1"/>
          <p:nvPr/>
        </p:nvSpPr>
        <p:spPr>
          <a:xfrm>
            <a:off x="685800" y="3383280"/>
            <a:ext cx="5486400" cy="274320"/>
          </a:xfrm>
          <a:prstGeom prst="rect">
            <a:avLst/>
          </a:prstGeom>
          <a:noFill/>
          <a:ln/>
        </p:spPr>
        <p:txBody>
          <a:bodyPr wrap="square" lIns="0" tIns="0" rIns="0" bIns="0" rtlCol="0" anchor="ctr"/>
          <a:lstStyle/>
          <a:p>
            <a:pPr indent="0" marL="0">
              <a:buNone/>
            </a:pPr>
            <a:r>
              <a:rPr lang="en-US" sz="1800" dirty="0">
                <a:solidFill>
                  <a:srgbClr val="162947"/>
                </a:solidFill>
                <a:latin typeface="Cambria" pitchFamily="34" charset="0"/>
                <a:ea typeface="Cambria" pitchFamily="34" charset="-122"/>
                <a:cs typeface="Cambria" pitchFamily="34" charset="-120"/>
              </a:rPr>
              <a:t>The balance shifts as we go</a:t>
            </a:r>
            <a:endParaRPr lang="en-US" sz="1800" dirty="0"/>
          </a:p>
        </p:txBody>
      </p:sp>
      <p:sp>
        <p:nvSpPr>
          <p:cNvPr id="34" name="Shape 32"/>
          <p:cNvSpPr/>
          <p:nvPr/>
        </p:nvSpPr>
        <p:spPr>
          <a:xfrm>
            <a:off x="685800" y="3749040"/>
            <a:ext cx="3502152" cy="1170432"/>
          </a:xfrm>
          <a:prstGeom prst="roundRect">
            <a:avLst>
              <a:gd name="adj" fmla="val 3125"/>
            </a:avLst>
          </a:prstGeom>
          <a:solidFill>
            <a:srgbClr val="FFFFFF"/>
          </a:solidFill>
          <a:ln w="9525">
            <a:solidFill>
              <a:srgbClr val="E3DFD5"/>
            </a:solidFill>
            <a:prstDash val="solid"/>
          </a:ln>
        </p:spPr>
      </p:sp>
      <p:sp>
        <p:nvSpPr>
          <p:cNvPr id="35" name="Text 33"/>
          <p:cNvSpPr txBox="1"/>
          <p:nvPr/>
        </p:nvSpPr>
        <p:spPr>
          <a:xfrm>
            <a:off x="941832" y="3913632"/>
            <a:ext cx="3017520" cy="237744"/>
          </a:xfrm>
          <a:prstGeom prst="rect">
            <a:avLst/>
          </a:prstGeom>
          <a:noFill/>
          <a:ln/>
        </p:spPr>
        <p:txBody>
          <a:bodyPr wrap="square" lIns="0" tIns="0" rIns="0" bIns="0" rtlCol="0" anchor="ctr"/>
          <a:lstStyle/>
          <a:p>
            <a:pPr indent="0" marL="0">
              <a:buNone/>
            </a:pPr>
            <a:r>
              <a:rPr lang="en-US" sz="1100" b="1" spc="120" kern="0" dirty="0">
                <a:solidFill>
                  <a:srgbClr val="C3A965"/>
                </a:solidFill>
                <a:latin typeface="Arial" pitchFamily="34" charset="0"/>
                <a:ea typeface="Arial" pitchFamily="34" charset="-122"/>
                <a:cs typeface="Arial" pitchFamily="34" charset="-120"/>
              </a:rPr>
              <a:t>Weeks 1 and 2</a:t>
            </a:r>
            <a:endParaRPr lang="en-US" sz="1100" dirty="0"/>
          </a:p>
        </p:txBody>
      </p:sp>
      <p:sp>
        <p:nvSpPr>
          <p:cNvPr id="36" name="Text 34"/>
          <p:cNvSpPr txBox="1"/>
          <p:nvPr/>
        </p:nvSpPr>
        <p:spPr>
          <a:xfrm>
            <a:off x="941832" y="4169664"/>
            <a:ext cx="3017520" cy="402336"/>
          </a:xfrm>
          <a:prstGeom prst="rect">
            <a:avLst/>
          </a:prstGeom>
          <a:noFill/>
          <a:ln/>
        </p:spPr>
        <p:txBody>
          <a:bodyPr wrap="square" lIns="0" tIns="0" rIns="0" bIns="0" rtlCol="0" anchor="ctr"/>
          <a:lstStyle/>
          <a:p>
            <a:pPr indent="0" marL="0">
              <a:lnSpc>
                <a:spcPts val="1500"/>
              </a:lnSpc>
              <a:buNone/>
            </a:pPr>
            <a:r>
              <a:rPr lang="en-US" sz="1150" b="1" dirty="0">
                <a:solidFill>
                  <a:srgbClr val="162947"/>
                </a:solidFill>
                <a:latin typeface="Arial" pitchFamily="34" charset="0"/>
                <a:ea typeface="Arial" pitchFamily="34" charset="-122"/>
                <a:cs typeface="Arial" pitchFamily="34" charset="-120"/>
              </a:rPr>
              <a:t>80% teaching  ·  20% exam questions</a:t>
            </a:r>
            <a:endParaRPr lang="en-US" sz="1150" dirty="0"/>
          </a:p>
        </p:txBody>
      </p:sp>
      <p:sp>
        <p:nvSpPr>
          <p:cNvPr id="37" name="Text 35"/>
          <p:cNvSpPr txBox="1"/>
          <p:nvPr/>
        </p:nvSpPr>
        <p:spPr>
          <a:xfrm>
            <a:off x="941832" y="4572000"/>
            <a:ext cx="3017520" cy="256032"/>
          </a:xfrm>
          <a:prstGeom prst="rect">
            <a:avLst/>
          </a:prstGeom>
          <a:noFill/>
          <a:ln/>
        </p:spPr>
        <p:txBody>
          <a:bodyPr wrap="square" lIns="0" tIns="0" rIns="0" bIns="0" rtlCol="0" anchor="ctr"/>
          <a:lstStyle/>
          <a:p>
            <a:pPr indent="0" marL="0">
              <a:buNone/>
            </a:pPr>
            <a:r>
              <a:rPr lang="en-US" sz="1000" dirty="0">
                <a:solidFill>
                  <a:srgbClr val="5D6471"/>
                </a:solidFill>
                <a:latin typeface="Arial" pitchFamily="34" charset="0"/>
                <a:ea typeface="Arial" pitchFamily="34" charset="-122"/>
                <a:cs typeface="Arial" pitchFamily="34" charset="-120"/>
              </a:rPr>
              <a:t>Content is broken, so content comes first.</a:t>
            </a:r>
            <a:endParaRPr lang="en-US" sz="1000" dirty="0"/>
          </a:p>
        </p:txBody>
      </p:sp>
      <p:sp>
        <p:nvSpPr>
          <p:cNvPr id="38" name="Shape 36"/>
          <p:cNvSpPr/>
          <p:nvPr/>
        </p:nvSpPr>
        <p:spPr>
          <a:xfrm>
            <a:off x="4343400" y="3749040"/>
            <a:ext cx="3502152" cy="1170432"/>
          </a:xfrm>
          <a:prstGeom prst="roundRect">
            <a:avLst>
              <a:gd name="adj" fmla="val 3125"/>
            </a:avLst>
          </a:prstGeom>
          <a:solidFill>
            <a:srgbClr val="FFFFFF"/>
          </a:solidFill>
          <a:ln w="9525">
            <a:solidFill>
              <a:srgbClr val="E3DFD5"/>
            </a:solidFill>
            <a:prstDash val="solid"/>
          </a:ln>
        </p:spPr>
      </p:sp>
      <p:sp>
        <p:nvSpPr>
          <p:cNvPr id="39" name="Text 37"/>
          <p:cNvSpPr txBox="1"/>
          <p:nvPr/>
        </p:nvSpPr>
        <p:spPr>
          <a:xfrm>
            <a:off x="4599432" y="3913632"/>
            <a:ext cx="3017520" cy="237744"/>
          </a:xfrm>
          <a:prstGeom prst="rect">
            <a:avLst/>
          </a:prstGeom>
          <a:noFill/>
          <a:ln/>
        </p:spPr>
        <p:txBody>
          <a:bodyPr wrap="square" lIns="0" tIns="0" rIns="0" bIns="0" rtlCol="0" anchor="ctr"/>
          <a:lstStyle/>
          <a:p>
            <a:pPr indent="0" marL="0">
              <a:buNone/>
            </a:pPr>
            <a:r>
              <a:rPr lang="en-US" sz="1100" b="1" spc="120" kern="0" dirty="0">
                <a:solidFill>
                  <a:srgbClr val="C3A965"/>
                </a:solidFill>
                <a:latin typeface="Arial" pitchFamily="34" charset="0"/>
                <a:ea typeface="Arial" pitchFamily="34" charset="-122"/>
                <a:cs typeface="Arial" pitchFamily="34" charset="-120"/>
              </a:rPr>
              <a:t>Weeks 3 to 5</a:t>
            </a:r>
            <a:endParaRPr lang="en-US" sz="1100" dirty="0"/>
          </a:p>
        </p:txBody>
      </p:sp>
      <p:sp>
        <p:nvSpPr>
          <p:cNvPr id="40" name="Text 38"/>
          <p:cNvSpPr txBox="1"/>
          <p:nvPr/>
        </p:nvSpPr>
        <p:spPr>
          <a:xfrm>
            <a:off x="4599432" y="4169664"/>
            <a:ext cx="3017520" cy="402336"/>
          </a:xfrm>
          <a:prstGeom prst="rect">
            <a:avLst/>
          </a:prstGeom>
          <a:noFill/>
          <a:ln/>
        </p:spPr>
        <p:txBody>
          <a:bodyPr wrap="square" lIns="0" tIns="0" rIns="0" bIns="0" rtlCol="0" anchor="ctr"/>
          <a:lstStyle/>
          <a:p>
            <a:pPr indent="0" marL="0">
              <a:lnSpc>
                <a:spcPts val="1500"/>
              </a:lnSpc>
              <a:buNone/>
            </a:pPr>
            <a:r>
              <a:rPr lang="en-US" sz="1150" b="1" dirty="0">
                <a:solidFill>
                  <a:srgbClr val="162947"/>
                </a:solidFill>
                <a:latin typeface="Arial" pitchFamily="34" charset="0"/>
                <a:ea typeface="Arial" pitchFamily="34" charset="-122"/>
                <a:cs typeface="Arial" pitchFamily="34" charset="-120"/>
              </a:rPr>
              <a:t>Roughly half teaching, half timed work</a:t>
            </a:r>
            <a:endParaRPr lang="en-US" sz="1150" dirty="0"/>
          </a:p>
        </p:txBody>
      </p:sp>
      <p:sp>
        <p:nvSpPr>
          <p:cNvPr id="41" name="Text 39"/>
          <p:cNvSpPr txBox="1"/>
          <p:nvPr/>
        </p:nvSpPr>
        <p:spPr>
          <a:xfrm>
            <a:off x="4599432" y="4572000"/>
            <a:ext cx="3017520" cy="256032"/>
          </a:xfrm>
          <a:prstGeom prst="rect">
            <a:avLst/>
          </a:prstGeom>
          <a:noFill/>
          <a:ln/>
        </p:spPr>
        <p:txBody>
          <a:bodyPr wrap="square" lIns="0" tIns="0" rIns="0" bIns="0" rtlCol="0" anchor="ctr"/>
          <a:lstStyle/>
          <a:p>
            <a:pPr indent="0" marL="0">
              <a:buNone/>
            </a:pPr>
            <a:r>
              <a:rPr lang="en-US" sz="1000" dirty="0">
                <a:solidFill>
                  <a:srgbClr val="5D6471"/>
                </a:solidFill>
                <a:latin typeface="Arial" pitchFamily="34" charset="0"/>
                <a:ea typeface="Arial" pitchFamily="34" charset="-122"/>
                <a:cs typeface="Arial" pitchFamily="34" charset="-120"/>
              </a:rPr>
              <a:t>Timed sections start short and lengthen.</a:t>
            </a:r>
            <a:endParaRPr lang="en-US" sz="1000" dirty="0"/>
          </a:p>
        </p:txBody>
      </p:sp>
      <p:sp>
        <p:nvSpPr>
          <p:cNvPr id="42" name="Shape 40"/>
          <p:cNvSpPr/>
          <p:nvPr/>
        </p:nvSpPr>
        <p:spPr>
          <a:xfrm>
            <a:off x="8001000" y="3749040"/>
            <a:ext cx="3502152" cy="1170432"/>
          </a:xfrm>
          <a:prstGeom prst="roundRect">
            <a:avLst>
              <a:gd name="adj" fmla="val 3125"/>
            </a:avLst>
          </a:prstGeom>
          <a:solidFill>
            <a:srgbClr val="FFFFFF"/>
          </a:solidFill>
          <a:ln w="9525">
            <a:solidFill>
              <a:srgbClr val="E3DFD5"/>
            </a:solidFill>
            <a:prstDash val="solid"/>
          </a:ln>
        </p:spPr>
      </p:sp>
      <p:sp>
        <p:nvSpPr>
          <p:cNvPr id="43" name="Text 41"/>
          <p:cNvSpPr txBox="1"/>
          <p:nvPr/>
        </p:nvSpPr>
        <p:spPr>
          <a:xfrm>
            <a:off x="8257032" y="3913632"/>
            <a:ext cx="3017520" cy="237744"/>
          </a:xfrm>
          <a:prstGeom prst="rect">
            <a:avLst/>
          </a:prstGeom>
          <a:noFill/>
          <a:ln/>
        </p:spPr>
        <p:txBody>
          <a:bodyPr wrap="square" lIns="0" tIns="0" rIns="0" bIns="0" rtlCol="0" anchor="ctr"/>
          <a:lstStyle/>
          <a:p>
            <a:pPr indent="0" marL="0">
              <a:buNone/>
            </a:pPr>
            <a:r>
              <a:rPr lang="en-US" sz="1100" b="1" spc="120" kern="0" dirty="0">
                <a:solidFill>
                  <a:srgbClr val="C3A965"/>
                </a:solidFill>
                <a:latin typeface="Arial" pitchFamily="34" charset="0"/>
                <a:ea typeface="Arial" pitchFamily="34" charset="-122"/>
                <a:cs typeface="Arial" pitchFamily="34" charset="-120"/>
              </a:rPr>
              <a:t>Week 6</a:t>
            </a:r>
            <a:endParaRPr lang="en-US" sz="1100" dirty="0"/>
          </a:p>
        </p:txBody>
      </p:sp>
      <p:sp>
        <p:nvSpPr>
          <p:cNvPr id="44" name="Text 42"/>
          <p:cNvSpPr txBox="1"/>
          <p:nvPr/>
        </p:nvSpPr>
        <p:spPr>
          <a:xfrm>
            <a:off x="8257032" y="4169664"/>
            <a:ext cx="3017520" cy="402336"/>
          </a:xfrm>
          <a:prstGeom prst="rect">
            <a:avLst/>
          </a:prstGeom>
          <a:noFill/>
          <a:ln/>
        </p:spPr>
        <p:txBody>
          <a:bodyPr wrap="square" lIns="0" tIns="0" rIns="0" bIns="0" rtlCol="0" anchor="ctr"/>
          <a:lstStyle/>
          <a:p>
            <a:pPr indent="0" marL="0">
              <a:lnSpc>
                <a:spcPts val="1500"/>
              </a:lnSpc>
              <a:buNone/>
            </a:pPr>
            <a:r>
              <a:rPr lang="en-US" sz="1150" b="1" dirty="0">
                <a:solidFill>
                  <a:srgbClr val="162947"/>
                </a:solidFill>
                <a:latin typeface="Arial" pitchFamily="34" charset="0"/>
                <a:ea typeface="Arial" pitchFamily="34" charset="-122"/>
                <a:cs typeface="Arial" pitchFamily="34" charset="-120"/>
              </a:rPr>
              <a:t>Full papers only, no new content</a:t>
            </a:r>
            <a:endParaRPr lang="en-US" sz="1150" dirty="0"/>
          </a:p>
        </p:txBody>
      </p:sp>
      <p:sp>
        <p:nvSpPr>
          <p:cNvPr id="45" name="Text 43"/>
          <p:cNvSpPr txBox="1"/>
          <p:nvPr/>
        </p:nvSpPr>
        <p:spPr>
          <a:xfrm>
            <a:off x="8257032" y="4572000"/>
            <a:ext cx="3017520" cy="256032"/>
          </a:xfrm>
          <a:prstGeom prst="rect">
            <a:avLst/>
          </a:prstGeom>
          <a:noFill/>
          <a:ln/>
        </p:spPr>
        <p:txBody>
          <a:bodyPr wrap="square" lIns="0" tIns="0" rIns="0" bIns="0" rtlCol="0" anchor="ctr"/>
          <a:lstStyle/>
          <a:p>
            <a:pPr indent="0" marL="0">
              <a:buNone/>
            </a:pPr>
            <a:r>
              <a:rPr lang="en-US" sz="1000" dirty="0">
                <a:solidFill>
                  <a:srgbClr val="5D6471"/>
                </a:solidFill>
                <a:latin typeface="Arial" pitchFamily="34" charset="0"/>
                <a:ea typeface="Arial" pitchFamily="34" charset="-122"/>
                <a:cs typeface="Arial" pitchFamily="34" charset="-120"/>
              </a:rPr>
              <a:t>Two full papers, marked and patched.</a:t>
            </a:r>
            <a:endParaRPr lang="en-US" sz="1000" dirty="0"/>
          </a:p>
        </p:txBody>
      </p:sp>
      <p:sp>
        <p:nvSpPr>
          <p:cNvPr id="46" name="Shape 44"/>
          <p:cNvSpPr/>
          <p:nvPr/>
        </p:nvSpPr>
        <p:spPr>
          <a:xfrm>
            <a:off x="685800" y="5138928"/>
            <a:ext cx="10817352" cy="987552"/>
          </a:xfrm>
          <a:prstGeom prst="roundRect">
            <a:avLst>
              <a:gd name="adj" fmla="val 3704"/>
            </a:avLst>
          </a:prstGeom>
          <a:solidFill>
            <a:srgbClr val="EFEBE1"/>
          </a:solidFill>
          <a:ln/>
        </p:spPr>
      </p:sp>
      <p:sp>
        <p:nvSpPr>
          <p:cNvPr id="47" name="Text 45"/>
          <p:cNvSpPr txBox="1"/>
          <p:nvPr/>
        </p:nvSpPr>
        <p:spPr>
          <a:xfrm>
            <a:off x="1005840" y="5321808"/>
            <a:ext cx="10149840" cy="256032"/>
          </a:xfrm>
          <a:prstGeom prst="rect">
            <a:avLst/>
          </a:prstGeom>
          <a:noFill/>
          <a:ln/>
        </p:spPr>
        <p:txBody>
          <a:bodyPr wrap="square" lIns="0" tIns="0" rIns="0" bIns="0" rtlCol="0" anchor="ctr"/>
          <a:lstStyle/>
          <a:p>
            <a:pPr indent="0" marL="0">
              <a:buNone/>
            </a:pPr>
            <a:r>
              <a:rPr lang="en-US" sz="1200" b="1" dirty="0">
                <a:solidFill>
                  <a:srgbClr val="162947"/>
                </a:solidFill>
                <a:latin typeface="Arial" pitchFamily="34" charset="0"/>
                <a:ea typeface="Arial" pitchFamily="34" charset="-122"/>
                <a:cs typeface="Arial" pitchFamily="34" charset="-120"/>
              </a:rPr>
              <a:t>Full papers are sat in weeks 1, 5 and twice in week 6, with timed sections in weeks 3 and 4.</a:t>
            </a:r>
            <a:endParaRPr lang="en-US" sz="1200" dirty="0"/>
          </a:p>
        </p:txBody>
      </p:sp>
      <p:sp>
        <p:nvSpPr>
          <p:cNvPr id="48" name="Text 46"/>
          <p:cNvSpPr txBox="1"/>
          <p:nvPr/>
        </p:nvSpPr>
        <p:spPr>
          <a:xfrm>
            <a:off x="1005840" y="5614416"/>
            <a:ext cx="10149840" cy="274320"/>
          </a:xfrm>
          <a:prstGeom prst="rect">
            <a:avLst/>
          </a:prstGeom>
          <a:noFill/>
          <a:ln/>
        </p:spPr>
        <p:txBody>
          <a:bodyPr wrap="square" lIns="0" tIns="0" rIns="0" bIns="0" rtlCol="0" anchor="ctr"/>
          <a:lstStyle/>
          <a:p>
            <a:pPr indent="0" marL="0">
              <a:buNone/>
            </a:pPr>
            <a:r>
              <a:rPr lang="en-US" sz="1100" dirty="0">
                <a:solidFill>
                  <a:srgbClr val="5D6471"/>
                </a:solidFill>
                <a:latin typeface="Arial" pitchFamily="34" charset="0"/>
                <a:ea typeface="Arial" pitchFamily="34" charset="-122"/>
                <a:cs typeface="Arial" pitchFamily="34" charset="-120"/>
              </a:rPr>
              <a:t>Five timed pieces gives three rounds of feedback that can still change the plan. A first full paper in week 5 would leave only one.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WEEKS 1 AND 2</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Fix the foundations first</a:t>
            </a:r>
            <a:endParaRPr lang="en-US" sz="3300" dirty="0"/>
          </a:p>
        </p:txBody>
      </p:sp>
      <p:sp>
        <p:nvSpPr>
          <p:cNvPr id="4" name="Shape 2"/>
          <p:cNvSpPr/>
          <p:nvPr/>
        </p:nvSpPr>
        <p:spPr>
          <a:xfrm>
            <a:off x="685800" y="1572768"/>
            <a:ext cx="5212080" cy="4553712"/>
          </a:xfrm>
          <a:prstGeom prst="roundRect">
            <a:avLst>
              <a:gd name="adj" fmla="val 803"/>
            </a:avLst>
          </a:prstGeom>
          <a:solidFill>
            <a:srgbClr val="FFFFFF"/>
          </a:solidFill>
          <a:ln w="9525">
            <a:solidFill>
              <a:srgbClr val="E3DFD5"/>
            </a:solidFill>
            <a:prstDash val="solid"/>
          </a:ln>
        </p:spPr>
      </p:sp>
      <p:sp>
        <p:nvSpPr>
          <p:cNvPr id="5" name="Shape 3"/>
          <p:cNvSpPr/>
          <p:nvPr/>
        </p:nvSpPr>
        <p:spPr>
          <a:xfrm>
            <a:off x="1005840" y="1810512"/>
            <a:ext cx="420624" cy="420624"/>
          </a:xfrm>
          <a:prstGeom prst="ellipse">
            <a:avLst/>
          </a:prstGeom>
          <a:solidFill>
            <a:srgbClr val="162947"/>
          </a:solidFill>
          <a:ln/>
        </p:spPr>
      </p:sp>
      <p:sp>
        <p:nvSpPr>
          <p:cNvPr id="6" name="Text 4"/>
          <p:cNvSpPr txBox="1"/>
          <p:nvPr/>
        </p:nvSpPr>
        <p:spPr>
          <a:xfrm>
            <a:off x="1005840" y="1810512"/>
            <a:ext cx="420624" cy="420624"/>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554480" y="1828800"/>
            <a:ext cx="411480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WEEK 1  ·  21-27 Sep</a:t>
            </a:r>
            <a:endParaRPr lang="en-US" sz="950" dirty="0"/>
          </a:p>
        </p:txBody>
      </p:sp>
      <p:sp>
        <p:nvSpPr>
          <p:cNvPr id="8" name="Text 6"/>
          <p:cNvSpPr txBox="1"/>
          <p:nvPr/>
        </p:nvSpPr>
        <p:spPr>
          <a:xfrm>
            <a:off x="1554480" y="2048256"/>
            <a:ext cx="4114800" cy="310896"/>
          </a:xfrm>
          <a:prstGeom prst="rect">
            <a:avLst/>
          </a:prstGeom>
          <a:noFill/>
          <a:ln/>
        </p:spPr>
        <p:txBody>
          <a:bodyPr wrap="square" lIns="0" tIns="0" rIns="0" bIns="0" rtlCol="0" anchor="ctr"/>
          <a:lstStyle/>
          <a:p>
            <a:pPr indent="0" marL="0">
              <a:buNone/>
            </a:pPr>
            <a:r>
              <a:rPr lang="en-US" sz="2000" dirty="0">
                <a:solidFill>
                  <a:srgbClr val="162947"/>
                </a:solidFill>
                <a:latin typeface="Cambria" pitchFamily="34" charset="0"/>
                <a:ea typeface="Cambria" pitchFamily="34" charset="-122"/>
                <a:cs typeface="Cambria" pitchFamily="34" charset="-120"/>
              </a:rPr>
              <a:t>Diagnose and set up</a:t>
            </a:r>
            <a:endParaRPr lang="en-US" sz="2000" dirty="0"/>
          </a:p>
        </p:txBody>
      </p:sp>
      <p:sp>
        <p:nvSpPr>
          <p:cNvPr id="9" name="Text 7"/>
          <p:cNvSpPr txBox="1"/>
          <p:nvPr/>
        </p:nvSpPr>
        <p:spPr>
          <a:xfrm>
            <a:off x="1005840" y="2578608"/>
            <a:ext cx="4572000" cy="1371600"/>
          </a:xfrm>
          <a:prstGeom prst="rect">
            <a:avLst/>
          </a:prstGeom>
          <a:noFill/>
          <a:ln/>
        </p:spPr>
        <p:txBody>
          <a:bodyPr wrap="square" lIns="0" tIns="0" rIns="0" bIns="0" rtlCol="0" anchor="ctr"/>
          <a:lstStyle/>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Fluency audit: 35 questions, 50 minutes</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Calculator setup: fraction key, ANS and STO, standard form, table mode, degree mode</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The formula sheet: what is given, so we do not drill it</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Method marks: the working rules, applied from day one</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Set up the error log</a:t>
            </a:r>
            <a:endParaRPr lang="en-US" sz="1150" dirty="0"/>
          </a:p>
        </p:txBody>
      </p:sp>
      <p:sp>
        <p:nvSpPr>
          <p:cNvPr id="10" name="Shape 8"/>
          <p:cNvSpPr/>
          <p:nvPr/>
        </p:nvSpPr>
        <p:spPr>
          <a:xfrm>
            <a:off x="1005840" y="4443984"/>
            <a:ext cx="4572000" cy="0"/>
          </a:xfrm>
          <a:prstGeom prst="line">
            <a:avLst/>
          </a:prstGeom>
          <a:noFill/>
          <a:ln w="9525">
            <a:solidFill>
              <a:srgbClr val="E3DFD5"/>
            </a:solidFill>
            <a:prstDash val="solid"/>
          </a:ln>
        </p:spPr>
      </p:sp>
      <p:sp>
        <p:nvSpPr>
          <p:cNvPr id="11" name="Text 9"/>
          <p:cNvSpPr txBox="1"/>
          <p:nvPr/>
        </p:nvSpPr>
        <p:spPr>
          <a:xfrm>
            <a:off x="1005840" y="4572000"/>
            <a:ext cx="4572000" cy="182880"/>
          </a:xfrm>
          <a:prstGeom prst="rect">
            <a:avLst/>
          </a:prstGeom>
          <a:noFill/>
          <a:ln/>
        </p:spPr>
        <p:txBody>
          <a:bodyPr wrap="square" lIns="0" tIns="0" rIns="0" bIns="0" rtlCol="0" anchor="ctr"/>
          <a:lstStyle/>
          <a:p>
            <a:pPr indent="0" marL="0">
              <a:buNone/>
            </a:pPr>
            <a:r>
              <a:rPr lang="en-US" sz="850" b="1" spc="180" kern="0" dirty="0">
                <a:solidFill>
                  <a:srgbClr val="9AA0A8"/>
                </a:solidFill>
                <a:latin typeface="Arial" pitchFamily="34" charset="0"/>
                <a:ea typeface="Arial" pitchFamily="34" charset="-122"/>
                <a:cs typeface="Arial" pitchFamily="34" charset="-120"/>
              </a:rPr>
              <a:t>AT HOME</a:t>
            </a:r>
            <a:endParaRPr lang="en-US" sz="850" dirty="0"/>
          </a:p>
        </p:txBody>
      </p:sp>
      <p:sp>
        <p:nvSpPr>
          <p:cNvPr id="12" name="Text 10"/>
          <p:cNvSpPr txBox="1"/>
          <p:nvPr/>
        </p:nvSpPr>
        <p:spPr>
          <a:xfrm>
            <a:off x="1005840" y="4754880"/>
            <a:ext cx="4572000" cy="566928"/>
          </a:xfrm>
          <a:prstGeom prst="rect">
            <a:avLst/>
          </a:prstGeom>
          <a:noFill/>
          <a:ln/>
        </p:spPr>
        <p:txBody>
          <a:bodyPr wrap="square" lIns="0" tIns="0" rIns="0" bIns="0" rtlCol="0" anchor="t"/>
          <a:lstStyle/>
          <a:p>
            <a:pPr indent="0" marL="0">
              <a:lnSpc>
                <a:spcPts val="1450"/>
              </a:lnSpc>
              <a:buNone/>
            </a:pPr>
            <a:r>
              <a:rPr lang="en-US" sz="1100" b="1" dirty="0">
                <a:solidFill>
                  <a:srgbClr val="162947"/>
                </a:solidFill>
                <a:latin typeface="Arial" pitchFamily="34" charset="0"/>
                <a:ea typeface="Arial" pitchFamily="34" charset="-122"/>
                <a:cs typeface="Arial" pitchFamily="34" charset="-120"/>
              </a:rPr>
              <a:t>Baseline paper at home, 2 hours, timed. Daily drill: negatives inside algebra.</a:t>
            </a:r>
            <a:endParaRPr lang="en-US" sz="1100" dirty="0"/>
          </a:p>
        </p:txBody>
      </p:sp>
      <p:sp>
        <p:nvSpPr>
          <p:cNvPr id="13" name="Text 11"/>
          <p:cNvSpPr txBox="1"/>
          <p:nvPr/>
        </p:nvSpPr>
        <p:spPr>
          <a:xfrm>
            <a:off x="1005840" y="5340096"/>
            <a:ext cx="4572000" cy="182880"/>
          </a:xfrm>
          <a:prstGeom prst="rect">
            <a:avLst/>
          </a:prstGeom>
          <a:noFill/>
          <a:ln/>
        </p:spPr>
        <p:txBody>
          <a:bodyPr wrap="square" lIns="0" tIns="0" rIns="0" bIns="0" rtlCol="0" anchor="ctr"/>
          <a:lstStyle/>
          <a:p>
            <a:pPr indent="0" marL="0">
              <a:buNone/>
            </a:pPr>
            <a:r>
              <a:rPr lang="en-US" sz="850" b="1" spc="180" kern="0" dirty="0">
                <a:solidFill>
                  <a:srgbClr val="9AA0A8"/>
                </a:solidFill>
                <a:latin typeface="Arial" pitchFamily="34" charset="0"/>
                <a:ea typeface="Arial" pitchFamily="34" charset="-122"/>
                <a:cs typeface="Arial" pitchFamily="34" charset="-120"/>
              </a:rPr>
              <a:t>PAPER WORK</a:t>
            </a:r>
            <a:endParaRPr lang="en-US" sz="850" dirty="0"/>
          </a:p>
        </p:txBody>
      </p:sp>
      <p:sp>
        <p:nvSpPr>
          <p:cNvPr id="14" name="Text 12"/>
          <p:cNvSpPr txBox="1"/>
          <p:nvPr/>
        </p:nvSpPr>
        <p:spPr>
          <a:xfrm>
            <a:off x="1005840" y="5522976"/>
            <a:ext cx="4572000" cy="566928"/>
          </a:xfrm>
          <a:prstGeom prst="rect">
            <a:avLst/>
          </a:prstGeom>
          <a:noFill/>
          <a:ln/>
        </p:spPr>
        <p:txBody>
          <a:bodyPr wrap="square" lIns="0" tIns="0" rIns="0" bIns="0" rtlCol="0" anchor="t"/>
          <a:lstStyle/>
          <a:p>
            <a:pPr indent="0" marL="0">
              <a:lnSpc>
                <a:spcPts val="1450"/>
              </a:lnSpc>
              <a:buNone/>
            </a:pPr>
            <a:r>
              <a:rPr lang="en-US" sz="1100" b="1" dirty="0">
                <a:solidFill>
                  <a:srgbClr val="C3A965"/>
                </a:solidFill>
                <a:latin typeface="Arial" pitchFamily="34" charset="0"/>
                <a:ea typeface="Arial" pitchFamily="34" charset="-122"/>
                <a:cs typeface="Arial" pitchFamily="34" charset="-120"/>
              </a:rPr>
              <a:t>Baseline Paper 1H, marked together in session two</a:t>
            </a:r>
            <a:endParaRPr lang="en-US" sz="1100" dirty="0"/>
          </a:p>
        </p:txBody>
      </p:sp>
      <p:sp>
        <p:nvSpPr>
          <p:cNvPr id="15" name="Shape 13"/>
          <p:cNvSpPr/>
          <p:nvPr/>
        </p:nvSpPr>
        <p:spPr>
          <a:xfrm>
            <a:off x="6291072" y="1572768"/>
            <a:ext cx="5212080" cy="4553712"/>
          </a:xfrm>
          <a:prstGeom prst="roundRect">
            <a:avLst>
              <a:gd name="adj" fmla="val 803"/>
            </a:avLst>
          </a:prstGeom>
          <a:solidFill>
            <a:srgbClr val="FFFFFF"/>
          </a:solidFill>
          <a:ln w="9525">
            <a:solidFill>
              <a:srgbClr val="E3DFD5"/>
            </a:solidFill>
            <a:prstDash val="solid"/>
          </a:ln>
        </p:spPr>
      </p:sp>
      <p:sp>
        <p:nvSpPr>
          <p:cNvPr id="16" name="Shape 14"/>
          <p:cNvSpPr/>
          <p:nvPr/>
        </p:nvSpPr>
        <p:spPr>
          <a:xfrm>
            <a:off x="6611112" y="1810512"/>
            <a:ext cx="420624" cy="420624"/>
          </a:xfrm>
          <a:prstGeom prst="ellipse">
            <a:avLst/>
          </a:prstGeom>
          <a:solidFill>
            <a:srgbClr val="162947"/>
          </a:solidFill>
          <a:ln/>
        </p:spPr>
      </p:sp>
      <p:sp>
        <p:nvSpPr>
          <p:cNvPr id="17" name="Text 15"/>
          <p:cNvSpPr txBox="1"/>
          <p:nvPr/>
        </p:nvSpPr>
        <p:spPr>
          <a:xfrm>
            <a:off x="6611112" y="1810512"/>
            <a:ext cx="420624" cy="420624"/>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2</a:t>
            </a:r>
            <a:endParaRPr lang="en-US" sz="1500" dirty="0"/>
          </a:p>
        </p:txBody>
      </p:sp>
      <p:sp>
        <p:nvSpPr>
          <p:cNvPr id="18" name="Text 16"/>
          <p:cNvSpPr txBox="1"/>
          <p:nvPr/>
        </p:nvSpPr>
        <p:spPr>
          <a:xfrm>
            <a:off x="7159752" y="1828800"/>
            <a:ext cx="411480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WEEK 2  ·  28 Sep-4 Oct</a:t>
            </a:r>
            <a:endParaRPr lang="en-US" sz="950" dirty="0"/>
          </a:p>
        </p:txBody>
      </p:sp>
      <p:sp>
        <p:nvSpPr>
          <p:cNvPr id="19" name="Text 17"/>
          <p:cNvSpPr txBox="1"/>
          <p:nvPr/>
        </p:nvSpPr>
        <p:spPr>
          <a:xfrm>
            <a:off x="7159752" y="2048256"/>
            <a:ext cx="4114800" cy="310896"/>
          </a:xfrm>
          <a:prstGeom prst="rect">
            <a:avLst/>
          </a:prstGeom>
          <a:noFill/>
          <a:ln/>
        </p:spPr>
        <p:txBody>
          <a:bodyPr wrap="square" lIns="0" tIns="0" rIns="0" bIns="0" rtlCol="0" anchor="ctr"/>
          <a:lstStyle/>
          <a:p>
            <a:pPr indent="0" marL="0">
              <a:buNone/>
            </a:pPr>
            <a:r>
              <a:rPr lang="en-US" sz="2000" dirty="0">
                <a:solidFill>
                  <a:srgbClr val="162947"/>
                </a:solidFill>
                <a:latin typeface="Cambria" pitchFamily="34" charset="0"/>
                <a:ea typeface="Cambria" pitchFamily="34" charset="-122"/>
                <a:cs typeface="Cambria" pitchFamily="34" charset="-120"/>
              </a:rPr>
              <a:t>The number engine</a:t>
            </a:r>
            <a:endParaRPr lang="en-US" sz="2000" dirty="0"/>
          </a:p>
        </p:txBody>
      </p:sp>
      <p:sp>
        <p:nvSpPr>
          <p:cNvPr id="20" name="Text 18"/>
          <p:cNvSpPr txBox="1"/>
          <p:nvPr/>
        </p:nvSpPr>
        <p:spPr>
          <a:xfrm>
            <a:off x="6611112" y="2578608"/>
            <a:ext cx="4572000" cy="1371600"/>
          </a:xfrm>
          <a:prstGeom prst="rect">
            <a:avLst/>
          </a:prstGeom>
          <a:noFill/>
          <a:ln/>
        </p:spPr>
        <p:txBody>
          <a:bodyPr wrap="square" lIns="0" tIns="0" rIns="0" bIns="0" rtlCol="0" anchor="ctr"/>
          <a:lstStyle/>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Fractions: all four operations</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Percentage multipliers, increase and decrease</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Reverse percentages</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Standard form and index laws</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One method per topic, used every time</a:t>
            </a:r>
            <a:endParaRPr lang="en-US" sz="1150" dirty="0"/>
          </a:p>
        </p:txBody>
      </p:sp>
      <p:sp>
        <p:nvSpPr>
          <p:cNvPr id="21" name="Shape 19"/>
          <p:cNvSpPr/>
          <p:nvPr/>
        </p:nvSpPr>
        <p:spPr>
          <a:xfrm>
            <a:off x="6611112" y="4443984"/>
            <a:ext cx="4572000" cy="0"/>
          </a:xfrm>
          <a:prstGeom prst="line">
            <a:avLst/>
          </a:prstGeom>
          <a:noFill/>
          <a:ln w="9525">
            <a:solidFill>
              <a:srgbClr val="E3DFD5"/>
            </a:solidFill>
            <a:prstDash val="solid"/>
          </a:ln>
        </p:spPr>
      </p:sp>
      <p:sp>
        <p:nvSpPr>
          <p:cNvPr id="22" name="Text 20"/>
          <p:cNvSpPr txBox="1"/>
          <p:nvPr/>
        </p:nvSpPr>
        <p:spPr>
          <a:xfrm>
            <a:off x="6611112" y="4572000"/>
            <a:ext cx="4572000" cy="182880"/>
          </a:xfrm>
          <a:prstGeom prst="rect">
            <a:avLst/>
          </a:prstGeom>
          <a:noFill/>
          <a:ln/>
        </p:spPr>
        <p:txBody>
          <a:bodyPr wrap="square" lIns="0" tIns="0" rIns="0" bIns="0" rtlCol="0" anchor="ctr"/>
          <a:lstStyle/>
          <a:p>
            <a:pPr indent="0" marL="0">
              <a:buNone/>
            </a:pPr>
            <a:r>
              <a:rPr lang="en-US" sz="850" b="1" spc="180" kern="0" dirty="0">
                <a:solidFill>
                  <a:srgbClr val="9AA0A8"/>
                </a:solidFill>
                <a:latin typeface="Arial" pitchFamily="34" charset="0"/>
                <a:ea typeface="Arial" pitchFamily="34" charset="-122"/>
                <a:cs typeface="Arial" pitchFamily="34" charset="-120"/>
              </a:rPr>
              <a:t>AT HOME</a:t>
            </a:r>
            <a:endParaRPr lang="en-US" sz="850" dirty="0"/>
          </a:p>
        </p:txBody>
      </p:sp>
      <p:sp>
        <p:nvSpPr>
          <p:cNvPr id="23" name="Text 21"/>
          <p:cNvSpPr txBox="1"/>
          <p:nvPr/>
        </p:nvSpPr>
        <p:spPr>
          <a:xfrm>
            <a:off x="6611112" y="4754880"/>
            <a:ext cx="4572000" cy="566928"/>
          </a:xfrm>
          <a:prstGeom prst="rect">
            <a:avLst/>
          </a:prstGeom>
          <a:noFill/>
          <a:ln/>
        </p:spPr>
        <p:txBody>
          <a:bodyPr wrap="square" lIns="0" tIns="0" rIns="0" bIns="0" rtlCol="0" anchor="t"/>
          <a:lstStyle/>
          <a:p>
            <a:pPr indent="0" marL="0">
              <a:lnSpc>
                <a:spcPts val="1450"/>
              </a:lnSpc>
              <a:buNone/>
            </a:pPr>
            <a:r>
              <a:rPr lang="en-US" sz="1100" b="1" dirty="0">
                <a:solidFill>
                  <a:srgbClr val="162947"/>
                </a:solidFill>
                <a:latin typeface="Arial" pitchFamily="34" charset="0"/>
                <a:ea typeface="Arial" pitchFamily="34" charset="-122"/>
                <a:cs typeface="Arial" pitchFamily="34" charset="-120"/>
              </a:rPr>
              <a:t>Daily drill: negatives and fractions.</a:t>
            </a:r>
            <a:endParaRPr lang="en-US" sz="1100" dirty="0"/>
          </a:p>
        </p:txBody>
      </p:sp>
      <p:sp>
        <p:nvSpPr>
          <p:cNvPr id="24" name="Text 22"/>
          <p:cNvSpPr txBox="1"/>
          <p:nvPr/>
        </p:nvSpPr>
        <p:spPr>
          <a:xfrm>
            <a:off x="6611112" y="5340096"/>
            <a:ext cx="4572000" cy="182880"/>
          </a:xfrm>
          <a:prstGeom prst="rect">
            <a:avLst/>
          </a:prstGeom>
          <a:noFill/>
          <a:ln/>
        </p:spPr>
        <p:txBody>
          <a:bodyPr wrap="square" lIns="0" tIns="0" rIns="0" bIns="0" rtlCol="0" anchor="ctr"/>
          <a:lstStyle/>
          <a:p>
            <a:pPr indent="0" marL="0">
              <a:buNone/>
            </a:pPr>
            <a:r>
              <a:rPr lang="en-US" sz="850" b="1" spc="180" kern="0" dirty="0">
                <a:solidFill>
                  <a:srgbClr val="9AA0A8"/>
                </a:solidFill>
                <a:latin typeface="Arial" pitchFamily="34" charset="0"/>
                <a:ea typeface="Arial" pitchFamily="34" charset="-122"/>
                <a:cs typeface="Arial" pitchFamily="34" charset="-120"/>
              </a:rPr>
              <a:t>PAPER WORK</a:t>
            </a:r>
            <a:endParaRPr lang="en-US" sz="850" dirty="0"/>
          </a:p>
        </p:txBody>
      </p:sp>
      <p:sp>
        <p:nvSpPr>
          <p:cNvPr id="25" name="Text 23"/>
          <p:cNvSpPr txBox="1"/>
          <p:nvPr/>
        </p:nvSpPr>
        <p:spPr>
          <a:xfrm>
            <a:off x="6611112" y="5522976"/>
            <a:ext cx="4572000" cy="566928"/>
          </a:xfrm>
          <a:prstGeom prst="rect">
            <a:avLst/>
          </a:prstGeom>
          <a:noFill/>
          <a:ln/>
        </p:spPr>
        <p:txBody>
          <a:bodyPr wrap="square" lIns="0" tIns="0" rIns="0" bIns="0" rtlCol="0" anchor="t"/>
          <a:lstStyle/>
          <a:p>
            <a:pPr indent="0" marL="0">
              <a:lnSpc>
                <a:spcPts val="1450"/>
              </a:lnSpc>
              <a:buNone/>
            </a:pPr>
            <a:r>
              <a:rPr lang="en-US" sz="1100" b="1" dirty="0">
                <a:solidFill>
                  <a:srgbClr val="C3A965"/>
                </a:solidFill>
                <a:latin typeface="Arial" pitchFamily="34" charset="0"/>
                <a:ea typeface="Arial" pitchFamily="34" charset="-122"/>
                <a:cs typeface="Arial" pitchFamily="34" charset="-120"/>
              </a:rPr>
              <a:t>Six past paper percentage questions, untimed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WEEKS 3 AND 4</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The biggest block of marks</a:t>
            </a:r>
            <a:endParaRPr lang="en-US" sz="3300" dirty="0"/>
          </a:p>
        </p:txBody>
      </p:sp>
      <p:sp>
        <p:nvSpPr>
          <p:cNvPr id="4" name="Shape 2"/>
          <p:cNvSpPr/>
          <p:nvPr/>
        </p:nvSpPr>
        <p:spPr>
          <a:xfrm>
            <a:off x="685800" y="1572768"/>
            <a:ext cx="5212080" cy="4553712"/>
          </a:xfrm>
          <a:prstGeom prst="roundRect">
            <a:avLst>
              <a:gd name="adj" fmla="val 803"/>
            </a:avLst>
          </a:prstGeom>
          <a:solidFill>
            <a:srgbClr val="FFFFFF"/>
          </a:solidFill>
          <a:ln w="9525">
            <a:solidFill>
              <a:srgbClr val="E3DFD5"/>
            </a:solidFill>
            <a:prstDash val="solid"/>
          </a:ln>
        </p:spPr>
      </p:sp>
      <p:sp>
        <p:nvSpPr>
          <p:cNvPr id="5" name="Shape 3"/>
          <p:cNvSpPr/>
          <p:nvPr/>
        </p:nvSpPr>
        <p:spPr>
          <a:xfrm>
            <a:off x="1005840" y="1810512"/>
            <a:ext cx="420624" cy="420624"/>
          </a:xfrm>
          <a:prstGeom prst="ellipse">
            <a:avLst/>
          </a:prstGeom>
          <a:solidFill>
            <a:srgbClr val="162947"/>
          </a:solidFill>
          <a:ln/>
        </p:spPr>
      </p:sp>
      <p:sp>
        <p:nvSpPr>
          <p:cNvPr id="6" name="Text 4"/>
          <p:cNvSpPr txBox="1"/>
          <p:nvPr/>
        </p:nvSpPr>
        <p:spPr>
          <a:xfrm>
            <a:off x="1005840" y="1810512"/>
            <a:ext cx="420624" cy="420624"/>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3</a:t>
            </a:r>
            <a:endParaRPr lang="en-US" sz="1500" dirty="0"/>
          </a:p>
        </p:txBody>
      </p:sp>
      <p:sp>
        <p:nvSpPr>
          <p:cNvPr id="7" name="Text 5"/>
          <p:cNvSpPr txBox="1"/>
          <p:nvPr/>
        </p:nvSpPr>
        <p:spPr>
          <a:xfrm>
            <a:off x="1554480" y="1828800"/>
            <a:ext cx="411480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WEEK 3  ·  5-11 Oct</a:t>
            </a:r>
            <a:endParaRPr lang="en-US" sz="950" dirty="0"/>
          </a:p>
        </p:txBody>
      </p:sp>
      <p:sp>
        <p:nvSpPr>
          <p:cNvPr id="8" name="Text 6"/>
          <p:cNvSpPr txBox="1"/>
          <p:nvPr/>
        </p:nvSpPr>
        <p:spPr>
          <a:xfrm>
            <a:off x="1554480" y="2048256"/>
            <a:ext cx="4114800" cy="310896"/>
          </a:xfrm>
          <a:prstGeom prst="rect">
            <a:avLst/>
          </a:prstGeom>
          <a:noFill/>
          <a:ln/>
        </p:spPr>
        <p:txBody>
          <a:bodyPr wrap="square" lIns="0" tIns="0" rIns="0" bIns="0" rtlCol="0" anchor="ctr"/>
          <a:lstStyle/>
          <a:p>
            <a:pPr indent="0" marL="0">
              <a:buNone/>
            </a:pPr>
            <a:r>
              <a:rPr lang="en-US" sz="2000" dirty="0">
                <a:solidFill>
                  <a:srgbClr val="162947"/>
                </a:solidFill>
                <a:latin typeface="Cambria" pitchFamily="34" charset="0"/>
                <a:ea typeface="Cambria" pitchFamily="34" charset="-122"/>
                <a:cs typeface="Cambria" pitchFamily="34" charset="-120"/>
              </a:rPr>
              <a:t>The algebra spine</a:t>
            </a:r>
            <a:endParaRPr lang="en-US" sz="2000" dirty="0"/>
          </a:p>
        </p:txBody>
      </p:sp>
      <p:sp>
        <p:nvSpPr>
          <p:cNvPr id="9" name="Text 7"/>
          <p:cNvSpPr txBox="1"/>
          <p:nvPr/>
        </p:nvSpPr>
        <p:spPr>
          <a:xfrm>
            <a:off x="1005840" y="2578608"/>
            <a:ext cx="4572000" cy="1371600"/>
          </a:xfrm>
          <a:prstGeom prst="rect">
            <a:avLst/>
          </a:prstGeom>
          <a:noFill/>
          <a:ln/>
        </p:spPr>
        <p:txBody>
          <a:bodyPr wrap="square" lIns="0" tIns="0" rIns="0" bIns="0" rtlCol="0" anchor="ctr"/>
          <a:lstStyle/>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Collecting terms and expanding brackets</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Solving with x on both sides</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Substitution and rearranging formulae</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Linear simultaneous equations</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Re-run the audit: checkpoint 1</a:t>
            </a:r>
            <a:endParaRPr lang="en-US" sz="1150" dirty="0"/>
          </a:p>
        </p:txBody>
      </p:sp>
      <p:sp>
        <p:nvSpPr>
          <p:cNvPr id="10" name="Shape 8"/>
          <p:cNvSpPr/>
          <p:nvPr/>
        </p:nvSpPr>
        <p:spPr>
          <a:xfrm>
            <a:off x="1005840" y="4443984"/>
            <a:ext cx="4572000" cy="0"/>
          </a:xfrm>
          <a:prstGeom prst="line">
            <a:avLst/>
          </a:prstGeom>
          <a:noFill/>
          <a:ln w="9525">
            <a:solidFill>
              <a:srgbClr val="E3DFD5"/>
            </a:solidFill>
            <a:prstDash val="solid"/>
          </a:ln>
        </p:spPr>
      </p:sp>
      <p:sp>
        <p:nvSpPr>
          <p:cNvPr id="11" name="Text 9"/>
          <p:cNvSpPr txBox="1"/>
          <p:nvPr/>
        </p:nvSpPr>
        <p:spPr>
          <a:xfrm>
            <a:off x="1005840" y="4572000"/>
            <a:ext cx="4572000" cy="182880"/>
          </a:xfrm>
          <a:prstGeom prst="rect">
            <a:avLst/>
          </a:prstGeom>
          <a:noFill/>
          <a:ln/>
        </p:spPr>
        <p:txBody>
          <a:bodyPr wrap="square" lIns="0" tIns="0" rIns="0" bIns="0" rtlCol="0" anchor="ctr"/>
          <a:lstStyle/>
          <a:p>
            <a:pPr indent="0" marL="0">
              <a:buNone/>
            </a:pPr>
            <a:r>
              <a:rPr lang="en-US" sz="850" b="1" spc="180" kern="0" dirty="0">
                <a:solidFill>
                  <a:srgbClr val="9AA0A8"/>
                </a:solidFill>
                <a:latin typeface="Arial" pitchFamily="34" charset="0"/>
                <a:ea typeface="Arial" pitchFamily="34" charset="-122"/>
                <a:cs typeface="Arial" pitchFamily="34" charset="-120"/>
              </a:rPr>
              <a:t>AT HOME</a:t>
            </a:r>
            <a:endParaRPr lang="en-US" sz="850" dirty="0"/>
          </a:p>
        </p:txBody>
      </p:sp>
      <p:sp>
        <p:nvSpPr>
          <p:cNvPr id="12" name="Text 10"/>
          <p:cNvSpPr txBox="1"/>
          <p:nvPr/>
        </p:nvSpPr>
        <p:spPr>
          <a:xfrm>
            <a:off x="1005840" y="4754880"/>
            <a:ext cx="4572000" cy="566928"/>
          </a:xfrm>
          <a:prstGeom prst="rect">
            <a:avLst/>
          </a:prstGeom>
          <a:noFill/>
          <a:ln/>
        </p:spPr>
        <p:txBody>
          <a:bodyPr wrap="square" lIns="0" tIns="0" rIns="0" bIns="0" rtlCol="0" anchor="t"/>
          <a:lstStyle/>
          <a:p>
            <a:pPr indent="0" marL="0">
              <a:lnSpc>
                <a:spcPts val="1450"/>
              </a:lnSpc>
              <a:buNone/>
            </a:pPr>
            <a:r>
              <a:rPr lang="en-US" sz="1100" b="1" dirty="0">
                <a:solidFill>
                  <a:srgbClr val="162947"/>
                </a:solidFill>
                <a:latin typeface="Arial" pitchFamily="34" charset="0"/>
                <a:ea typeface="Arial" pitchFamily="34" charset="-122"/>
                <a:cs typeface="Arial" pitchFamily="34" charset="-120"/>
              </a:rPr>
              <a:t>Daily drill: fractions and percentages.</a:t>
            </a:r>
            <a:endParaRPr lang="en-US" sz="1100" dirty="0"/>
          </a:p>
        </p:txBody>
      </p:sp>
      <p:sp>
        <p:nvSpPr>
          <p:cNvPr id="13" name="Text 11"/>
          <p:cNvSpPr txBox="1"/>
          <p:nvPr/>
        </p:nvSpPr>
        <p:spPr>
          <a:xfrm>
            <a:off x="1005840" y="5340096"/>
            <a:ext cx="4572000" cy="182880"/>
          </a:xfrm>
          <a:prstGeom prst="rect">
            <a:avLst/>
          </a:prstGeom>
          <a:noFill/>
          <a:ln/>
        </p:spPr>
        <p:txBody>
          <a:bodyPr wrap="square" lIns="0" tIns="0" rIns="0" bIns="0" rtlCol="0" anchor="ctr"/>
          <a:lstStyle/>
          <a:p>
            <a:pPr indent="0" marL="0">
              <a:buNone/>
            </a:pPr>
            <a:r>
              <a:rPr lang="en-US" sz="850" b="1" spc="180" kern="0" dirty="0">
                <a:solidFill>
                  <a:srgbClr val="9AA0A8"/>
                </a:solidFill>
                <a:latin typeface="Arial" pitchFamily="34" charset="0"/>
                <a:ea typeface="Arial" pitchFamily="34" charset="-122"/>
                <a:cs typeface="Arial" pitchFamily="34" charset="-120"/>
              </a:rPr>
              <a:t>PAPER WORK</a:t>
            </a:r>
            <a:endParaRPr lang="en-US" sz="850" dirty="0"/>
          </a:p>
        </p:txBody>
      </p:sp>
      <p:sp>
        <p:nvSpPr>
          <p:cNvPr id="14" name="Text 12"/>
          <p:cNvSpPr txBox="1"/>
          <p:nvPr/>
        </p:nvSpPr>
        <p:spPr>
          <a:xfrm>
            <a:off x="1005840" y="5522976"/>
            <a:ext cx="4572000" cy="566928"/>
          </a:xfrm>
          <a:prstGeom prst="rect">
            <a:avLst/>
          </a:prstGeom>
          <a:noFill/>
          <a:ln/>
        </p:spPr>
        <p:txBody>
          <a:bodyPr wrap="square" lIns="0" tIns="0" rIns="0" bIns="0" rtlCol="0" anchor="t"/>
          <a:lstStyle/>
          <a:p>
            <a:pPr indent="0" marL="0">
              <a:lnSpc>
                <a:spcPts val="1450"/>
              </a:lnSpc>
              <a:buNone/>
            </a:pPr>
            <a:r>
              <a:rPr lang="en-US" sz="1100" b="1" dirty="0">
                <a:solidFill>
                  <a:srgbClr val="C3A965"/>
                </a:solidFill>
                <a:latin typeface="Arial" pitchFamily="34" charset="0"/>
                <a:ea typeface="Arial" pitchFamily="34" charset="-122"/>
                <a:cs typeface="Arial" pitchFamily="34" charset="-120"/>
              </a:rPr>
              <a:t>First timed section, 25 minutes, two-pass rule applied</a:t>
            </a:r>
            <a:endParaRPr lang="en-US" sz="1100" dirty="0"/>
          </a:p>
        </p:txBody>
      </p:sp>
      <p:sp>
        <p:nvSpPr>
          <p:cNvPr id="15" name="Shape 13"/>
          <p:cNvSpPr/>
          <p:nvPr/>
        </p:nvSpPr>
        <p:spPr>
          <a:xfrm>
            <a:off x="6291072" y="1572768"/>
            <a:ext cx="5212080" cy="4553712"/>
          </a:xfrm>
          <a:prstGeom prst="roundRect">
            <a:avLst>
              <a:gd name="adj" fmla="val 803"/>
            </a:avLst>
          </a:prstGeom>
          <a:solidFill>
            <a:srgbClr val="FFFFFF"/>
          </a:solidFill>
          <a:ln w="9525">
            <a:solidFill>
              <a:srgbClr val="E3DFD5"/>
            </a:solidFill>
            <a:prstDash val="solid"/>
          </a:ln>
        </p:spPr>
      </p:sp>
      <p:sp>
        <p:nvSpPr>
          <p:cNvPr id="16" name="Shape 14"/>
          <p:cNvSpPr/>
          <p:nvPr/>
        </p:nvSpPr>
        <p:spPr>
          <a:xfrm>
            <a:off x="6611112" y="1810512"/>
            <a:ext cx="420624" cy="420624"/>
          </a:xfrm>
          <a:prstGeom prst="ellipse">
            <a:avLst/>
          </a:prstGeom>
          <a:solidFill>
            <a:srgbClr val="162947"/>
          </a:solidFill>
          <a:ln/>
        </p:spPr>
      </p:sp>
      <p:sp>
        <p:nvSpPr>
          <p:cNvPr id="17" name="Text 15"/>
          <p:cNvSpPr txBox="1"/>
          <p:nvPr/>
        </p:nvSpPr>
        <p:spPr>
          <a:xfrm>
            <a:off x="6611112" y="1810512"/>
            <a:ext cx="420624" cy="420624"/>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7159752" y="1828800"/>
            <a:ext cx="411480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WEEK 4  ·  12-18 Oct</a:t>
            </a:r>
            <a:endParaRPr lang="en-US" sz="950" dirty="0"/>
          </a:p>
        </p:txBody>
      </p:sp>
      <p:sp>
        <p:nvSpPr>
          <p:cNvPr id="19" name="Text 17"/>
          <p:cNvSpPr txBox="1"/>
          <p:nvPr/>
        </p:nvSpPr>
        <p:spPr>
          <a:xfrm>
            <a:off x="7159752" y="2048256"/>
            <a:ext cx="4114800" cy="310896"/>
          </a:xfrm>
          <a:prstGeom prst="rect">
            <a:avLst/>
          </a:prstGeom>
          <a:noFill/>
          <a:ln/>
        </p:spPr>
        <p:txBody>
          <a:bodyPr wrap="square" lIns="0" tIns="0" rIns="0" bIns="0" rtlCol="0" anchor="ctr"/>
          <a:lstStyle/>
          <a:p>
            <a:pPr indent="0" marL="0">
              <a:buNone/>
            </a:pPr>
            <a:r>
              <a:rPr lang="en-US" sz="2000" dirty="0">
                <a:solidFill>
                  <a:srgbClr val="162947"/>
                </a:solidFill>
                <a:latin typeface="Cambria" pitchFamily="34" charset="0"/>
                <a:ea typeface="Cambria" pitchFamily="34" charset="-122"/>
                <a:cs typeface="Cambria" pitchFamily="34" charset="-120"/>
              </a:rPr>
              <a:t>The low-cost marks</a:t>
            </a:r>
            <a:endParaRPr lang="en-US" sz="2000" dirty="0"/>
          </a:p>
        </p:txBody>
      </p:sp>
      <p:sp>
        <p:nvSpPr>
          <p:cNvPr id="20" name="Text 18"/>
          <p:cNvSpPr txBox="1"/>
          <p:nvPr/>
        </p:nvSpPr>
        <p:spPr>
          <a:xfrm>
            <a:off x="6611112" y="2578608"/>
            <a:ext cx="4572000" cy="1371600"/>
          </a:xfrm>
          <a:prstGeom prst="rect">
            <a:avLst/>
          </a:prstGeom>
          <a:noFill/>
          <a:ln/>
        </p:spPr>
        <p:txBody>
          <a:bodyPr wrap="square" lIns="0" tIns="0" rIns="0" bIns="0" rtlCol="0" anchor="ctr"/>
          <a:lstStyle/>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Ratio and proportion by the unitary method</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Averages and frequency tables</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Estimated mean from grouped data</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Probability, tree diagrams and Venn diagrams</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Sequences and straight-line graphs</a:t>
            </a:r>
            <a:endParaRPr lang="en-US" sz="1150" dirty="0"/>
          </a:p>
        </p:txBody>
      </p:sp>
      <p:sp>
        <p:nvSpPr>
          <p:cNvPr id="21" name="Shape 19"/>
          <p:cNvSpPr/>
          <p:nvPr/>
        </p:nvSpPr>
        <p:spPr>
          <a:xfrm>
            <a:off x="6611112" y="4443984"/>
            <a:ext cx="4572000" cy="0"/>
          </a:xfrm>
          <a:prstGeom prst="line">
            <a:avLst/>
          </a:prstGeom>
          <a:noFill/>
          <a:ln w="9525">
            <a:solidFill>
              <a:srgbClr val="E3DFD5"/>
            </a:solidFill>
            <a:prstDash val="solid"/>
          </a:ln>
        </p:spPr>
      </p:sp>
      <p:sp>
        <p:nvSpPr>
          <p:cNvPr id="22" name="Text 20"/>
          <p:cNvSpPr txBox="1"/>
          <p:nvPr/>
        </p:nvSpPr>
        <p:spPr>
          <a:xfrm>
            <a:off x="6611112" y="4572000"/>
            <a:ext cx="4572000" cy="182880"/>
          </a:xfrm>
          <a:prstGeom prst="rect">
            <a:avLst/>
          </a:prstGeom>
          <a:noFill/>
          <a:ln/>
        </p:spPr>
        <p:txBody>
          <a:bodyPr wrap="square" lIns="0" tIns="0" rIns="0" bIns="0" rtlCol="0" anchor="ctr"/>
          <a:lstStyle/>
          <a:p>
            <a:pPr indent="0" marL="0">
              <a:buNone/>
            </a:pPr>
            <a:r>
              <a:rPr lang="en-US" sz="850" b="1" spc="180" kern="0" dirty="0">
                <a:solidFill>
                  <a:srgbClr val="9AA0A8"/>
                </a:solidFill>
                <a:latin typeface="Arial" pitchFamily="34" charset="0"/>
                <a:ea typeface="Arial" pitchFamily="34" charset="-122"/>
                <a:cs typeface="Arial" pitchFamily="34" charset="-120"/>
              </a:rPr>
              <a:t>AT HOME</a:t>
            </a:r>
            <a:endParaRPr lang="en-US" sz="850" dirty="0"/>
          </a:p>
        </p:txBody>
      </p:sp>
      <p:sp>
        <p:nvSpPr>
          <p:cNvPr id="23" name="Text 21"/>
          <p:cNvSpPr txBox="1"/>
          <p:nvPr/>
        </p:nvSpPr>
        <p:spPr>
          <a:xfrm>
            <a:off x="6611112" y="4754880"/>
            <a:ext cx="4572000" cy="566928"/>
          </a:xfrm>
          <a:prstGeom prst="rect">
            <a:avLst/>
          </a:prstGeom>
          <a:noFill/>
          <a:ln/>
        </p:spPr>
        <p:txBody>
          <a:bodyPr wrap="square" lIns="0" tIns="0" rIns="0" bIns="0" rtlCol="0" anchor="t"/>
          <a:lstStyle/>
          <a:p>
            <a:pPr indent="0" marL="0">
              <a:lnSpc>
                <a:spcPts val="1450"/>
              </a:lnSpc>
              <a:buNone/>
            </a:pPr>
            <a:r>
              <a:rPr lang="en-US" sz="1100" b="1" dirty="0">
                <a:solidFill>
                  <a:srgbClr val="162947"/>
                </a:solidFill>
                <a:latin typeface="Arial" pitchFamily="34" charset="0"/>
                <a:ea typeface="Arial" pitchFamily="34" charset="-122"/>
                <a:cs typeface="Arial" pitchFamily="34" charset="-120"/>
              </a:rPr>
              <a:t>Daily drill: solving and ratio.</a:t>
            </a:r>
            <a:endParaRPr lang="en-US" sz="1100" dirty="0"/>
          </a:p>
        </p:txBody>
      </p:sp>
      <p:sp>
        <p:nvSpPr>
          <p:cNvPr id="24" name="Text 22"/>
          <p:cNvSpPr txBox="1"/>
          <p:nvPr/>
        </p:nvSpPr>
        <p:spPr>
          <a:xfrm>
            <a:off x="6611112" y="5340096"/>
            <a:ext cx="4572000" cy="182880"/>
          </a:xfrm>
          <a:prstGeom prst="rect">
            <a:avLst/>
          </a:prstGeom>
          <a:noFill/>
          <a:ln/>
        </p:spPr>
        <p:txBody>
          <a:bodyPr wrap="square" lIns="0" tIns="0" rIns="0" bIns="0" rtlCol="0" anchor="ctr"/>
          <a:lstStyle/>
          <a:p>
            <a:pPr indent="0" marL="0">
              <a:buNone/>
            </a:pPr>
            <a:r>
              <a:rPr lang="en-US" sz="850" b="1" spc="180" kern="0" dirty="0">
                <a:solidFill>
                  <a:srgbClr val="9AA0A8"/>
                </a:solidFill>
                <a:latin typeface="Arial" pitchFamily="34" charset="0"/>
                <a:ea typeface="Arial" pitchFamily="34" charset="-122"/>
                <a:cs typeface="Arial" pitchFamily="34" charset="-120"/>
              </a:rPr>
              <a:t>PAPER WORK</a:t>
            </a:r>
            <a:endParaRPr lang="en-US" sz="850" dirty="0"/>
          </a:p>
        </p:txBody>
      </p:sp>
      <p:sp>
        <p:nvSpPr>
          <p:cNvPr id="25" name="Text 23"/>
          <p:cNvSpPr txBox="1"/>
          <p:nvPr/>
        </p:nvSpPr>
        <p:spPr>
          <a:xfrm>
            <a:off x="6611112" y="5522976"/>
            <a:ext cx="4572000" cy="566928"/>
          </a:xfrm>
          <a:prstGeom prst="rect">
            <a:avLst/>
          </a:prstGeom>
          <a:noFill/>
          <a:ln/>
        </p:spPr>
        <p:txBody>
          <a:bodyPr wrap="square" lIns="0" tIns="0" rIns="0" bIns="0" rtlCol="0" anchor="t"/>
          <a:lstStyle/>
          <a:p>
            <a:pPr indent="0" marL="0">
              <a:lnSpc>
                <a:spcPts val="1450"/>
              </a:lnSpc>
              <a:buNone/>
            </a:pPr>
            <a:r>
              <a:rPr lang="en-US" sz="1100" b="1" dirty="0">
                <a:solidFill>
                  <a:srgbClr val="C3A965"/>
                </a:solidFill>
                <a:latin typeface="Arial" pitchFamily="34" charset="0"/>
                <a:ea typeface="Arial" pitchFamily="34" charset="-122"/>
                <a:cs typeface="Arial" pitchFamily="34" charset="-120"/>
              </a:rPr>
              <a:t>Timed section, 40 minutes, marked against the mark scheme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WEEKS 5 AND 6</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Shape, then papers only</a:t>
            </a:r>
            <a:endParaRPr lang="en-US" sz="3300" dirty="0"/>
          </a:p>
        </p:txBody>
      </p:sp>
      <p:sp>
        <p:nvSpPr>
          <p:cNvPr id="4" name="Shape 2"/>
          <p:cNvSpPr/>
          <p:nvPr/>
        </p:nvSpPr>
        <p:spPr>
          <a:xfrm>
            <a:off x="685800" y="1572768"/>
            <a:ext cx="5212080" cy="4553712"/>
          </a:xfrm>
          <a:prstGeom prst="roundRect">
            <a:avLst>
              <a:gd name="adj" fmla="val 803"/>
            </a:avLst>
          </a:prstGeom>
          <a:solidFill>
            <a:srgbClr val="FFFFFF"/>
          </a:solidFill>
          <a:ln w="9525">
            <a:solidFill>
              <a:srgbClr val="E3DFD5"/>
            </a:solidFill>
            <a:prstDash val="solid"/>
          </a:ln>
        </p:spPr>
      </p:sp>
      <p:sp>
        <p:nvSpPr>
          <p:cNvPr id="5" name="Shape 3"/>
          <p:cNvSpPr/>
          <p:nvPr/>
        </p:nvSpPr>
        <p:spPr>
          <a:xfrm>
            <a:off x="1005840" y="1810512"/>
            <a:ext cx="420624" cy="420624"/>
          </a:xfrm>
          <a:prstGeom prst="ellipse">
            <a:avLst/>
          </a:prstGeom>
          <a:solidFill>
            <a:srgbClr val="162947"/>
          </a:solidFill>
          <a:ln/>
        </p:spPr>
      </p:sp>
      <p:sp>
        <p:nvSpPr>
          <p:cNvPr id="6" name="Text 4"/>
          <p:cNvSpPr txBox="1"/>
          <p:nvPr/>
        </p:nvSpPr>
        <p:spPr>
          <a:xfrm>
            <a:off x="1005840" y="1810512"/>
            <a:ext cx="420624" cy="420624"/>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5</a:t>
            </a:r>
            <a:endParaRPr lang="en-US" sz="1500" dirty="0"/>
          </a:p>
        </p:txBody>
      </p:sp>
      <p:sp>
        <p:nvSpPr>
          <p:cNvPr id="7" name="Text 5"/>
          <p:cNvSpPr txBox="1"/>
          <p:nvPr/>
        </p:nvSpPr>
        <p:spPr>
          <a:xfrm>
            <a:off x="1554480" y="1828800"/>
            <a:ext cx="411480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WEEK 5  ·  19-25 Oct</a:t>
            </a:r>
            <a:endParaRPr lang="en-US" sz="950" dirty="0"/>
          </a:p>
        </p:txBody>
      </p:sp>
      <p:sp>
        <p:nvSpPr>
          <p:cNvPr id="8" name="Text 6"/>
          <p:cNvSpPr txBox="1"/>
          <p:nvPr/>
        </p:nvSpPr>
        <p:spPr>
          <a:xfrm>
            <a:off x="1554480" y="2048256"/>
            <a:ext cx="4114800" cy="310896"/>
          </a:xfrm>
          <a:prstGeom prst="rect">
            <a:avLst/>
          </a:prstGeom>
          <a:noFill/>
          <a:ln/>
        </p:spPr>
        <p:txBody>
          <a:bodyPr wrap="square" lIns="0" tIns="0" rIns="0" bIns="0" rtlCol="0" anchor="ctr"/>
          <a:lstStyle/>
          <a:p>
            <a:pPr indent="0" marL="0">
              <a:buNone/>
            </a:pPr>
            <a:r>
              <a:rPr lang="en-US" sz="2000" dirty="0">
                <a:solidFill>
                  <a:srgbClr val="162947"/>
                </a:solidFill>
                <a:latin typeface="Cambria" pitchFamily="34" charset="0"/>
                <a:ea typeface="Cambria" pitchFamily="34" charset="-122"/>
                <a:cs typeface="Cambria" pitchFamily="34" charset="-120"/>
              </a:rPr>
              <a:t>Shape and space</a:t>
            </a:r>
            <a:endParaRPr lang="en-US" sz="2000" dirty="0"/>
          </a:p>
        </p:txBody>
      </p:sp>
      <p:sp>
        <p:nvSpPr>
          <p:cNvPr id="9" name="Text 7"/>
          <p:cNvSpPr txBox="1"/>
          <p:nvPr/>
        </p:nvSpPr>
        <p:spPr>
          <a:xfrm>
            <a:off x="1005840" y="2578608"/>
            <a:ext cx="4572000" cy="1371600"/>
          </a:xfrm>
          <a:prstGeom prst="rect">
            <a:avLst/>
          </a:prstGeom>
          <a:noFill/>
          <a:ln/>
        </p:spPr>
        <p:txBody>
          <a:bodyPr wrap="square" lIns="0" tIns="0" rIns="0" bIns="0" rtlCol="0" anchor="ctr"/>
          <a:lstStyle/>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Angle facts, area and perimeter</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Circles, prisms and cylinders</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Pythagoras and right-angled trigonometry</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Length, area and volume scale factors</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Re-run the audit: checkpoint 2</a:t>
            </a:r>
            <a:endParaRPr lang="en-US" sz="1150" dirty="0"/>
          </a:p>
        </p:txBody>
      </p:sp>
      <p:sp>
        <p:nvSpPr>
          <p:cNvPr id="10" name="Shape 8"/>
          <p:cNvSpPr/>
          <p:nvPr/>
        </p:nvSpPr>
        <p:spPr>
          <a:xfrm>
            <a:off x="1005840" y="4443984"/>
            <a:ext cx="4572000" cy="0"/>
          </a:xfrm>
          <a:prstGeom prst="line">
            <a:avLst/>
          </a:prstGeom>
          <a:noFill/>
          <a:ln w="9525">
            <a:solidFill>
              <a:srgbClr val="E3DFD5"/>
            </a:solidFill>
            <a:prstDash val="solid"/>
          </a:ln>
        </p:spPr>
      </p:sp>
      <p:sp>
        <p:nvSpPr>
          <p:cNvPr id="11" name="Text 9"/>
          <p:cNvSpPr txBox="1"/>
          <p:nvPr/>
        </p:nvSpPr>
        <p:spPr>
          <a:xfrm>
            <a:off x="1005840" y="4572000"/>
            <a:ext cx="4572000" cy="182880"/>
          </a:xfrm>
          <a:prstGeom prst="rect">
            <a:avLst/>
          </a:prstGeom>
          <a:noFill/>
          <a:ln/>
        </p:spPr>
        <p:txBody>
          <a:bodyPr wrap="square" lIns="0" tIns="0" rIns="0" bIns="0" rtlCol="0" anchor="ctr"/>
          <a:lstStyle/>
          <a:p>
            <a:pPr indent="0" marL="0">
              <a:buNone/>
            </a:pPr>
            <a:r>
              <a:rPr lang="en-US" sz="850" b="1" spc="180" kern="0" dirty="0">
                <a:solidFill>
                  <a:srgbClr val="9AA0A8"/>
                </a:solidFill>
                <a:latin typeface="Arial" pitchFamily="34" charset="0"/>
                <a:ea typeface="Arial" pitchFamily="34" charset="-122"/>
                <a:cs typeface="Arial" pitchFamily="34" charset="-120"/>
              </a:rPr>
              <a:t>AT HOME</a:t>
            </a:r>
            <a:endParaRPr lang="en-US" sz="850" dirty="0"/>
          </a:p>
        </p:txBody>
      </p:sp>
      <p:sp>
        <p:nvSpPr>
          <p:cNvPr id="12" name="Text 10"/>
          <p:cNvSpPr txBox="1"/>
          <p:nvPr/>
        </p:nvSpPr>
        <p:spPr>
          <a:xfrm>
            <a:off x="1005840" y="4754880"/>
            <a:ext cx="4572000" cy="566928"/>
          </a:xfrm>
          <a:prstGeom prst="rect">
            <a:avLst/>
          </a:prstGeom>
          <a:noFill/>
          <a:ln/>
        </p:spPr>
        <p:txBody>
          <a:bodyPr wrap="square" lIns="0" tIns="0" rIns="0" bIns="0" rtlCol="0" anchor="t"/>
          <a:lstStyle/>
          <a:p>
            <a:pPr indent="0" marL="0">
              <a:lnSpc>
                <a:spcPts val="1450"/>
              </a:lnSpc>
              <a:buNone/>
            </a:pPr>
            <a:r>
              <a:rPr lang="en-US" sz="1100" b="1" dirty="0">
                <a:solidFill>
                  <a:srgbClr val="162947"/>
                </a:solidFill>
                <a:latin typeface="Arial" pitchFamily="34" charset="0"/>
                <a:ea typeface="Arial" pitchFamily="34" charset="-122"/>
                <a:cs typeface="Arial" pitchFamily="34" charset="-120"/>
              </a:rPr>
              <a:t>Daily drill: all six bottleneck skills, mixed.</a:t>
            </a:r>
            <a:endParaRPr lang="en-US" sz="1100" dirty="0"/>
          </a:p>
        </p:txBody>
      </p:sp>
      <p:sp>
        <p:nvSpPr>
          <p:cNvPr id="13" name="Text 11"/>
          <p:cNvSpPr txBox="1"/>
          <p:nvPr/>
        </p:nvSpPr>
        <p:spPr>
          <a:xfrm>
            <a:off x="1005840" y="5340096"/>
            <a:ext cx="4572000" cy="182880"/>
          </a:xfrm>
          <a:prstGeom prst="rect">
            <a:avLst/>
          </a:prstGeom>
          <a:noFill/>
          <a:ln/>
        </p:spPr>
        <p:txBody>
          <a:bodyPr wrap="square" lIns="0" tIns="0" rIns="0" bIns="0" rtlCol="0" anchor="ctr"/>
          <a:lstStyle/>
          <a:p>
            <a:pPr indent="0" marL="0">
              <a:buNone/>
            </a:pPr>
            <a:r>
              <a:rPr lang="en-US" sz="850" b="1" spc="180" kern="0" dirty="0">
                <a:solidFill>
                  <a:srgbClr val="9AA0A8"/>
                </a:solidFill>
                <a:latin typeface="Arial" pitchFamily="34" charset="0"/>
                <a:ea typeface="Arial" pitchFamily="34" charset="-122"/>
                <a:cs typeface="Arial" pitchFamily="34" charset="-120"/>
              </a:rPr>
              <a:t>PAPER WORK</a:t>
            </a:r>
            <a:endParaRPr lang="en-US" sz="850" dirty="0"/>
          </a:p>
        </p:txBody>
      </p:sp>
      <p:sp>
        <p:nvSpPr>
          <p:cNvPr id="14" name="Text 12"/>
          <p:cNvSpPr txBox="1"/>
          <p:nvPr/>
        </p:nvSpPr>
        <p:spPr>
          <a:xfrm>
            <a:off x="1005840" y="5522976"/>
            <a:ext cx="4572000" cy="566928"/>
          </a:xfrm>
          <a:prstGeom prst="rect">
            <a:avLst/>
          </a:prstGeom>
          <a:noFill/>
          <a:ln/>
        </p:spPr>
        <p:txBody>
          <a:bodyPr wrap="square" lIns="0" tIns="0" rIns="0" bIns="0" rtlCol="0" anchor="t"/>
          <a:lstStyle/>
          <a:p>
            <a:pPr indent="0" marL="0">
              <a:lnSpc>
                <a:spcPts val="1450"/>
              </a:lnSpc>
              <a:buNone/>
            </a:pPr>
            <a:r>
              <a:rPr lang="en-US" sz="1100" b="1" dirty="0">
                <a:solidFill>
                  <a:srgbClr val="C3A965"/>
                </a:solidFill>
                <a:latin typeface="Arial" pitchFamily="34" charset="0"/>
                <a:ea typeface="Arial" pitchFamily="34" charset="-122"/>
                <a:cs typeface="Arial" pitchFamily="34" charset="-120"/>
              </a:rPr>
              <a:t>First full paper, 2 hours, exam conditions</a:t>
            </a:r>
            <a:endParaRPr lang="en-US" sz="1100" dirty="0"/>
          </a:p>
        </p:txBody>
      </p:sp>
      <p:sp>
        <p:nvSpPr>
          <p:cNvPr id="15" name="Shape 13"/>
          <p:cNvSpPr/>
          <p:nvPr/>
        </p:nvSpPr>
        <p:spPr>
          <a:xfrm>
            <a:off x="6291072" y="1572768"/>
            <a:ext cx="5212080" cy="4553712"/>
          </a:xfrm>
          <a:prstGeom prst="roundRect">
            <a:avLst>
              <a:gd name="adj" fmla="val 803"/>
            </a:avLst>
          </a:prstGeom>
          <a:solidFill>
            <a:srgbClr val="FFFFFF"/>
          </a:solidFill>
          <a:ln w="9525">
            <a:solidFill>
              <a:srgbClr val="E3DFD5"/>
            </a:solidFill>
            <a:prstDash val="solid"/>
          </a:ln>
        </p:spPr>
      </p:sp>
      <p:sp>
        <p:nvSpPr>
          <p:cNvPr id="16" name="Shape 14"/>
          <p:cNvSpPr/>
          <p:nvPr/>
        </p:nvSpPr>
        <p:spPr>
          <a:xfrm>
            <a:off x="6611112" y="1810512"/>
            <a:ext cx="420624" cy="420624"/>
          </a:xfrm>
          <a:prstGeom prst="ellipse">
            <a:avLst/>
          </a:prstGeom>
          <a:solidFill>
            <a:srgbClr val="162947"/>
          </a:solidFill>
          <a:ln/>
        </p:spPr>
      </p:sp>
      <p:sp>
        <p:nvSpPr>
          <p:cNvPr id="17" name="Text 15"/>
          <p:cNvSpPr txBox="1"/>
          <p:nvPr/>
        </p:nvSpPr>
        <p:spPr>
          <a:xfrm>
            <a:off x="6611112" y="1810512"/>
            <a:ext cx="420624" cy="420624"/>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6</a:t>
            </a:r>
            <a:endParaRPr lang="en-US" sz="1500" dirty="0"/>
          </a:p>
        </p:txBody>
      </p:sp>
      <p:sp>
        <p:nvSpPr>
          <p:cNvPr id="18" name="Text 16"/>
          <p:cNvSpPr txBox="1"/>
          <p:nvPr/>
        </p:nvSpPr>
        <p:spPr>
          <a:xfrm>
            <a:off x="7159752" y="1828800"/>
            <a:ext cx="411480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WEEK 6  ·  26 Oct-1 Nov</a:t>
            </a:r>
            <a:endParaRPr lang="en-US" sz="950" dirty="0"/>
          </a:p>
        </p:txBody>
      </p:sp>
      <p:sp>
        <p:nvSpPr>
          <p:cNvPr id="19" name="Text 17"/>
          <p:cNvSpPr txBox="1"/>
          <p:nvPr/>
        </p:nvSpPr>
        <p:spPr>
          <a:xfrm>
            <a:off x="7159752" y="2048256"/>
            <a:ext cx="4114800" cy="310896"/>
          </a:xfrm>
          <a:prstGeom prst="rect">
            <a:avLst/>
          </a:prstGeom>
          <a:noFill/>
          <a:ln/>
        </p:spPr>
        <p:txBody>
          <a:bodyPr wrap="square" lIns="0" tIns="0" rIns="0" bIns="0" rtlCol="0" anchor="ctr"/>
          <a:lstStyle/>
          <a:p>
            <a:pPr indent="0" marL="0">
              <a:buNone/>
            </a:pPr>
            <a:r>
              <a:rPr lang="en-US" sz="2000" dirty="0">
                <a:solidFill>
                  <a:srgbClr val="162947"/>
                </a:solidFill>
                <a:latin typeface="Cambria" pitchFamily="34" charset="0"/>
                <a:ea typeface="Cambria" pitchFamily="34" charset="-122"/>
                <a:cs typeface="Cambria" pitchFamily="34" charset="-120"/>
              </a:rPr>
              <a:t>Half term: papers</a:t>
            </a:r>
            <a:endParaRPr lang="en-US" sz="2000" dirty="0"/>
          </a:p>
        </p:txBody>
      </p:sp>
      <p:sp>
        <p:nvSpPr>
          <p:cNvPr id="20" name="Text 18"/>
          <p:cNvSpPr txBox="1"/>
          <p:nvPr/>
        </p:nvSpPr>
        <p:spPr>
          <a:xfrm>
            <a:off x="6611112" y="2578608"/>
            <a:ext cx="4572000" cy="1371600"/>
          </a:xfrm>
          <a:prstGeom prst="rect">
            <a:avLst/>
          </a:prstGeom>
          <a:noFill/>
          <a:ln/>
        </p:spPr>
        <p:txBody>
          <a:bodyPr wrap="square" lIns="0" tIns="0" rIns="0" bIns="0" rtlCol="0" anchor="ctr"/>
          <a:lstStyle/>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Mark and patch the week 5 paper</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Second full paper, then patch the top five losses</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Third full paper if the first two are on target</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Exam technique and pacing session</a:t>
            </a:r>
            <a:endParaRPr lang="en-US" sz="1150" dirty="0"/>
          </a:p>
          <a:p>
            <a:pPr marL="177800" indent="-177800">
              <a:lnSpc>
                <a:spcPts val="1403"/>
              </a:lnSpc>
              <a:spcAft>
                <a:spcPts val="500"/>
              </a:spcAft>
              <a:buSzPct val="100000"/>
              <a:buChar char="•"/>
            </a:pPr>
            <a:r>
              <a:rPr lang="en-US" sz="1150" dirty="0">
                <a:solidFill>
                  <a:srgbClr val="5D6471"/>
                </a:solidFill>
                <a:latin typeface="Arial" pitchFamily="34" charset="0"/>
                <a:ea typeface="Arial" pitchFamily="34" charset="-122"/>
                <a:cs typeface="Arial" pitchFamily="34" charset="-120"/>
              </a:rPr>
              <a:t>No new content after 25 October</a:t>
            </a:r>
            <a:endParaRPr lang="en-US" sz="1150" dirty="0"/>
          </a:p>
        </p:txBody>
      </p:sp>
      <p:sp>
        <p:nvSpPr>
          <p:cNvPr id="21" name="Shape 19"/>
          <p:cNvSpPr/>
          <p:nvPr/>
        </p:nvSpPr>
        <p:spPr>
          <a:xfrm>
            <a:off x="6611112" y="4443984"/>
            <a:ext cx="4572000" cy="0"/>
          </a:xfrm>
          <a:prstGeom prst="line">
            <a:avLst/>
          </a:prstGeom>
          <a:noFill/>
          <a:ln w="9525">
            <a:solidFill>
              <a:srgbClr val="E3DFD5"/>
            </a:solidFill>
            <a:prstDash val="solid"/>
          </a:ln>
        </p:spPr>
      </p:sp>
      <p:sp>
        <p:nvSpPr>
          <p:cNvPr id="22" name="Text 20"/>
          <p:cNvSpPr txBox="1"/>
          <p:nvPr/>
        </p:nvSpPr>
        <p:spPr>
          <a:xfrm>
            <a:off x="6611112" y="4572000"/>
            <a:ext cx="4572000" cy="182880"/>
          </a:xfrm>
          <a:prstGeom prst="rect">
            <a:avLst/>
          </a:prstGeom>
          <a:noFill/>
          <a:ln/>
        </p:spPr>
        <p:txBody>
          <a:bodyPr wrap="square" lIns="0" tIns="0" rIns="0" bIns="0" rtlCol="0" anchor="ctr"/>
          <a:lstStyle/>
          <a:p>
            <a:pPr indent="0" marL="0">
              <a:buNone/>
            </a:pPr>
            <a:r>
              <a:rPr lang="en-US" sz="850" b="1" spc="180" kern="0" dirty="0">
                <a:solidFill>
                  <a:srgbClr val="9AA0A8"/>
                </a:solidFill>
                <a:latin typeface="Arial" pitchFamily="34" charset="0"/>
                <a:ea typeface="Arial" pitchFamily="34" charset="-122"/>
                <a:cs typeface="Arial" pitchFamily="34" charset="-120"/>
              </a:rPr>
              <a:t>AT HOME</a:t>
            </a:r>
            <a:endParaRPr lang="en-US" sz="850" dirty="0"/>
          </a:p>
        </p:txBody>
      </p:sp>
      <p:sp>
        <p:nvSpPr>
          <p:cNvPr id="23" name="Text 21"/>
          <p:cNvSpPr txBox="1"/>
          <p:nvPr/>
        </p:nvSpPr>
        <p:spPr>
          <a:xfrm>
            <a:off x="6611112" y="4754880"/>
            <a:ext cx="4572000" cy="566928"/>
          </a:xfrm>
          <a:prstGeom prst="rect">
            <a:avLst/>
          </a:prstGeom>
          <a:noFill/>
          <a:ln/>
        </p:spPr>
        <p:txBody>
          <a:bodyPr wrap="square" lIns="0" tIns="0" rIns="0" bIns="0" rtlCol="0" anchor="t"/>
          <a:lstStyle/>
          <a:p>
            <a:pPr indent="0" marL="0">
              <a:lnSpc>
                <a:spcPts val="1450"/>
              </a:lnSpc>
              <a:buNone/>
            </a:pPr>
            <a:r>
              <a:rPr lang="en-US" sz="1100" b="1" dirty="0">
                <a:solidFill>
                  <a:srgbClr val="162947"/>
                </a:solidFill>
                <a:latin typeface="Arial" pitchFamily="34" charset="0"/>
                <a:ea typeface="Arial" pitchFamily="34" charset="-122"/>
                <a:cs typeface="Arial" pitchFamily="34" charset="-120"/>
              </a:rPr>
              <a:t>Daily drill: straight from the error log.</a:t>
            </a:r>
            <a:endParaRPr lang="en-US" sz="1100" dirty="0"/>
          </a:p>
        </p:txBody>
      </p:sp>
      <p:sp>
        <p:nvSpPr>
          <p:cNvPr id="24" name="Text 22"/>
          <p:cNvSpPr txBox="1"/>
          <p:nvPr/>
        </p:nvSpPr>
        <p:spPr>
          <a:xfrm>
            <a:off x="6611112" y="5340096"/>
            <a:ext cx="4572000" cy="182880"/>
          </a:xfrm>
          <a:prstGeom prst="rect">
            <a:avLst/>
          </a:prstGeom>
          <a:noFill/>
          <a:ln/>
        </p:spPr>
        <p:txBody>
          <a:bodyPr wrap="square" lIns="0" tIns="0" rIns="0" bIns="0" rtlCol="0" anchor="ctr"/>
          <a:lstStyle/>
          <a:p>
            <a:pPr indent="0" marL="0">
              <a:buNone/>
            </a:pPr>
            <a:r>
              <a:rPr lang="en-US" sz="850" b="1" spc="180" kern="0" dirty="0">
                <a:solidFill>
                  <a:srgbClr val="9AA0A8"/>
                </a:solidFill>
                <a:latin typeface="Arial" pitchFamily="34" charset="0"/>
                <a:ea typeface="Arial" pitchFamily="34" charset="-122"/>
                <a:cs typeface="Arial" pitchFamily="34" charset="-120"/>
              </a:rPr>
              <a:t>PAPER WORK</a:t>
            </a:r>
            <a:endParaRPr lang="en-US" sz="850" dirty="0"/>
          </a:p>
        </p:txBody>
      </p:sp>
      <p:sp>
        <p:nvSpPr>
          <p:cNvPr id="25" name="Text 23"/>
          <p:cNvSpPr txBox="1"/>
          <p:nvPr/>
        </p:nvSpPr>
        <p:spPr>
          <a:xfrm>
            <a:off x="6611112" y="5522976"/>
            <a:ext cx="4572000" cy="566928"/>
          </a:xfrm>
          <a:prstGeom prst="rect">
            <a:avLst/>
          </a:prstGeom>
          <a:noFill/>
          <a:ln/>
        </p:spPr>
        <p:txBody>
          <a:bodyPr wrap="square" lIns="0" tIns="0" rIns="0" bIns="0" rtlCol="0" anchor="t"/>
          <a:lstStyle/>
          <a:p>
            <a:pPr indent="0" marL="0">
              <a:lnSpc>
                <a:spcPts val="1450"/>
              </a:lnSpc>
              <a:buNone/>
            </a:pPr>
            <a:r>
              <a:rPr lang="en-US" sz="1100" b="1" dirty="0">
                <a:solidFill>
                  <a:srgbClr val="C3A965"/>
                </a:solidFill>
                <a:latin typeface="Arial" pitchFamily="34" charset="0"/>
                <a:ea typeface="Arial" pitchFamily="34" charset="-122"/>
                <a:cs typeface="Arial" pitchFamily="34" charset="-120"/>
              </a:rPr>
              <a:t>Two full papers, plus a third if week 5 cleared 35 out of 100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EXAM WEEK</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2 to 6 November</a:t>
            </a:r>
            <a:endParaRPr lang="en-US" sz="3300" dirty="0"/>
          </a:p>
        </p:txBody>
      </p:sp>
      <p:sp>
        <p:nvSpPr>
          <p:cNvPr id="4" name="Shape 2"/>
          <p:cNvSpPr/>
          <p:nvPr/>
        </p:nvSpPr>
        <p:spPr>
          <a:xfrm>
            <a:off x="685800" y="1645920"/>
            <a:ext cx="2587752" cy="3794760"/>
          </a:xfrm>
          <a:prstGeom prst="roundRect">
            <a:avLst>
              <a:gd name="adj" fmla="val 1413"/>
            </a:avLst>
          </a:prstGeom>
          <a:solidFill>
            <a:srgbClr val="FFFFFF"/>
          </a:solidFill>
          <a:ln w="9525">
            <a:solidFill>
              <a:srgbClr val="E3DFD5"/>
            </a:solidFill>
            <a:prstDash val="solid"/>
          </a:ln>
        </p:spPr>
      </p:sp>
      <p:sp>
        <p:nvSpPr>
          <p:cNvPr id="5" name="Text 3"/>
          <p:cNvSpPr txBox="1"/>
          <p:nvPr/>
        </p:nvSpPr>
        <p:spPr>
          <a:xfrm>
            <a:off x="941832" y="1847088"/>
            <a:ext cx="210312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MON 2 NOV</a:t>
            </a:r>
            <a:endParaRPr lang="en-US" sz="950" dirty="0"/>
          </a:p>
        </p:txBody>
      </p:sp>
      <p:sp>
        <p:nvSpPr>
          <p:cNvPr id="6" name="Text 4"/>
          <p:cNvSpPr txBox="1"/>
          <p:nvPr/>
        </p:nvSpPr>
        <p:spPr>
          <a:xfrm>
            <a:off x="941832" y="2103120"/>
            <a:ext cx="2103120" cy="310896"/>
          </a:xfrm>
          <a:prstGeom prst="rect">
            <a:avLst/>
          </a:prstGeom>
          <a:noFill/>
          <a:ln/>
        </p:spPr>
        <p:txBody>
          <a:bodyPr wrap="square" lIns="0" tIns="0" rIns="0" bIns="0" rtlCol="0" anchor="ctr"/>
          <a:lstStyle/>
          <a:p>
            <a:pPr indent="0" marL="0">
              <a:buNone/>
            </a:pPr>
            <a:r>
              <a:rPr lang="en-US" sz="1900" dirty="0">
                <a:solidFill>
                  <a:srgbClr val="162947"/>
                </a:solidFill>
                <a:latin typeface="Cambria" pitchFamily="34" charset="0"/>
                <a:ea typeface="Cambria" pitchFamily="34" charset="-122"/>
                <a:cs typeface="Cambria" pitchFamily="34" charset="-120"/>
              </a:rPr>
              <a:t>Last session</a:t>
            </a:r>
            <a:endParaRPr lang="en-US" sz="1900" dirty="0"/>
          </a:p>
        </p:txBody>
      </p:sp>
      <p:sp>
        <p:nvSpPr>
          <p:cNvPr id="7" name="Text 5"/>
          <p:cNvSpPr txBox="1"/>
          <p:nvPr/>
        </p:nvSpPr>
        <p:spPr>
          <a:xfrm>
            <a:off x="941832" y="2578608"/>
            <a:ext cx="2103120" cy="2651760"/>
          </a:xfrm>
          <a:prstGeom prst="rect">
            <a:avLst/>
          </a:prstGeom>
          <a:noFill/>
          <a:ln/>
        </p:spPr>
        <p:txBody>
          <a:bodyPr wrap="square" lIns="0" tIns="0" rIns="0" bIns="0" rtlCol="0" anchor="t"/>
          <a:lstStyle/>
          <a:p>
            <a:pPr indent="0" marL="0">
              <a:lnSpc>
                <a:spcPts val="1550"/>
              </a:lnSpc>
              <a:buNone/>
            </a:pPr>
            <a:r>
              <a:rPr lang="en-US" sz="1100" dirty="0">
                <a:solidFill>
                  <a:srgbClr val="5D6471"/>
                </a:solidFill>
                <a:latin typeface="Arial" pitchFamily="34" charset="0"/>
                <a:ea typeface="Arial" pitchFamily="34" charset="-122"/>
                <a:cs typeface="Arial" pitchFamily="34" charset="-120"/>
              </a:rPr>
              <a:t>No new content. Retrieval across everything taught, a pacing rehearsal, and a calculator check. The session finishes on a topic she is strong at.</a:t>
            </a:r>
            <a:endParaRPr lang="en-US" sz="1100" dirty="0"/>
          </a:p>
        </p:txBody>
      </p:sp>
      <p:sp>
        <p:nvSpPr>
          <p:cNvPr id="8" name="Shape 6"/>
          <p:cNvSpPr/>
          <p:nvPr/>
        </p:nvSpPr>
        <p:spPr>
          <a:xfrm>
            <a:off x="3429000" y="1645920"/>
            <a:ext cx="2587752" cy="3794760"/>
          </a:xfrm>
          <a:prstGeom prst="roundRect">
            <a:avLst>
              <a:gd name="adj" fmla="val 1413"/>
            </a:avLst>
          </a:prstGeom>
          <a:solidFill>
            <a:srgbClr val="162947"/>
          </a:solidFill>
          <a:ln/>
        </p:spPr>
      </p:sp>
      <p:sp>
        <p:nvSpPr>
          <p:cNvPr id="9" name="Text 7"/>
          <p:cNvSpPr txBox="1"/>
          <p:nvPr/>
        </p:nvSpPr>
        <p:spPr>
          <a:xfrm>
            <a:off x="3685032" y="1847088"/>
            <a:ext cx="210312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WED 4 NOV</a:t>
            </a:r>
            <a:endParaRPr lang="en-US" sz="950" dirty="0"/>
          </a:p>
        </p:txBody>
      </p:sp>
      <p:sp>
        <p:nvSpPr>
          <p:cNvPr id="10" name="Text 8"/>
          <p:cNvSpPr txBox="1"/>
          <p:nvPr/>
        </p:nvSpPr>
        <p:spPr>
          <a:xfrm>
            <a:off x="3685032" y="2103120"/>
            <a:ext cx="2103120" cy="310896"/>
          </a:xfrm>
          <a:prstGeom prst="rect">
            <a:avLst/>
          </a:prstGeom>
          <a:noFill/>
          <a:ln/>
        </p:spPr>
        <p:txBody>
          <a:bodyPr wrap="square" lIns="0" tIns="0" rIns="0" bIns="0" rtlCol="0" anchor="ctr"/>
          <a:lstStyle/>
          <a:p>
            <a:pPr indent="0" marL="0">
              <a:buNone/>
            </a:pPr>
            <a:r>
              <a:rPr lang="en-US" sz="1900" dirty="0">
                <a:solidFill>
                  <a:srgbClr val="F6F4EF"/>
                </a:solidFill>
                <a:latin typeface="Cambria" pitchFamily="34" charset="0"/>
                <a:ea typeface="Cambria" pitchFamily="34" charset="-122"/>
                <a:cs typeface="Cambria" pitchFamily="34" charset="-120"/>
              </a:rPr>
              <a:t>Paper 1H</a:t>
            </a:r>
            <a:endParaRPr lang="en-US" sz="1900" dirty="0"/>
          </a:p>
        </p:txBody>
      </p:sp>
      <p:sp>
        <p:nvSpPr>
          <p:cNvPr id="11" name="Text 9"/>
          <p:cNvSpPr txBox="1"/>
          <p:nvPr/>
        </p:nvSpPr>
        <p:spPr>
          <a:xfrm>
            <a:off x="3685032" y="2578608"/>
            <a:ext cx="2103120" cy="2651760"/>
          </a:xfrm>
          <a:prstGeom prst="rect">
            <a:avLst/>
          </a:prstGeom>
          <a:noFill/>
          <a:ln/>
        </p:spPr>
        <p:txBody>
          <a:bodyPr wrap="square" lIns="0" tIns="0" rIns="0" bIns="0" rtlCol="0" anchor="t"/>
          <a:lstStyle/>
          <a:p>
            <a:pPr indent="0" marL="0">
              <a:lnSpc>
                <a:spcPts val="1550"/>
              </a:lnSpc>
              <a:buNone/>
            </a:pPr>
            <a:r>
              <a:rPr lang="en-US" sz="1100" dirty="0">
                <a:solidFill>
                  <a:srgbClr val="A8B2C2"/>
                </a:solidFill>
                <a:latin typeface="Arial" pitchFamily="34" charset="0"/>
                <a:ea typeface="Arial" pitchFamily="34" charset="-122"/>
                <a:cs typeface="Arial" pitchFamily="34" charset="-120"/>
              </a:rPr>
              <a:t>Morning, 2 hours, 100 marks. Two passes: everything she recognises first, then back to the flagged questions. The last ten minutes go to checking work she has already done.</a:t>
            </a:r>
            <a:endParaRPr lang="en-US" sz="1100" dirty="0"/>
          </a:p>
        </p:txBody>
      </p:sp>
      <p:sp>
        <p:nvSpPr>
          <p:cNvPr id="12" name="Shape 10"/>
          <p:cNvSpPr/>
          <p:nvPr/>
        </p:nvSpPr>
        <p:spPr>
          <a:xfrm>
            <a:off x="6172200" y="1645920"/>
            <a:ext cx="2587752" cy="3794760"/>
          </a:xfrm>
          <a:prstGeom prst="roundRect">
            <a:avLst>
              <a:gd name="adj" fmla="val 1413"/>
            </a:avLst>
          </a:prstGeom>
          <a:solidFill>
            <a:srgbClr val="FFFFFF"/>
          </a:solidFill>
          <a:ln w="9525">
            <a:solidFill>
              <a:srgbClr val="E3DFD5"/>
            </a:solidFill>
            <a:prstDash val="solid"/>
          </a:ln>
        </p:spPr>
      </p:sp>
      <p:sp>
        <p:nvSpPr>
          <p:cNvPr id="13" name="Text 11"/>
          <p:cNvSpPr txBox="1"/>
          <p:nvPr/>
        </p:nvSpPr>
        <p:spPr>
          <a:xfrm>
            <a:off x="6428232" y="1847088"/>
            <a:ext cx="210312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THU 5 NOV</a:t>
            </a:r>
            <a:endParaRPr lang="en-US" sz="950" dirty="0"/>
          </a:p>
        </p:txBody>
      </p:sp>
      <p:sp>
        <p:nvSpPr>
          <p:cNvPr id="14" name="Text 12"/>
          <p:cNvSpPr txBox="1"/>
          <p:nvPr/>
        </p:nvSpPr>
        <p:spPr>
          <a:xfrm>
            <a:off x="6428232" y="2103120"/>
            <a:ext cx="2103120" cy="310896"/>
          </a:xfrm>
          <a:prstGeom prst="rect">
            <a:avLst/>
          </a:prstGeom>
          <a:noFill/>
          <a:ln/>
        </p:spPr>
        <p:txBody>
          <a:bodyPr wrap="square" lIns="0" tIns="0" rIns="0" bIns="0" rtlCol="0" anchor="ctr"/>
          <a:lstStyle/>
          <a:p>
            <a:pPr indent="0" marL="0">
              <a:buNone/>
            </a:pPr>
            <a:r>
              <a:rPr lang="en-US" sz="1900" dirty="0">
                <a:solidFill>
                  <a:srgbClr val="162947"/>
                </a:solidFill>
                <a:latin typeface="Cambria" pitchFamily="34" charset="0"/>
                <a:ea typeface="Cambria" pitchFamily="34" charset="-122"/>
                <a:cs typeface="Cambria" pitchFamily="34" charset="-120"/>
              </a:rPr>
              <a:t>The gap day</a:t>
            </a:r>
            <a:endParaRPr lang="en-US" sz="1900" dirty="0"/>
          </a:p>
        </p:txBody>
      </p:sp>
      <p:sp>
        <p:nvSpPr>
          <p:cNvPr id="15" name="Text 13"/>
          <p:cNvSpPr txBox="1"/>
          <p:nvPr/>
        </p:nvSpPr>
        <p:spPr>
          <a:xfrm>
            <a:off x="6428232" y="2578608"/>
            <a:ext cx="2103120" cy="2651760"/>
          </a:xfrm>
          <a:prstGeom prst="rect">
            <a:avLst/>
          </a:prstGeom>
          <a:noFill/>
          <a:ln/>
        </p:spPr>
        <p:txBody>
          <a:bodyPr wrap="square" lIns="0" tIns="0" rIns="0" bIns="0" rtlCol="0" anchor="t"/>
          <a:lstStyle/>
          <a:p>
            <a:pPr indent="0" marL="0">
              <a:lnSpc>
                <a:spcPts val="1550"/>
              </a:lnSpc>
              <a:buNone/>
            </a:pPr>
            <a:r>
              <a:rPr lang="en-US" sz="1100" dirty="0">
                <a:solidFill>
                  <a:srgbClr val="5D6471"/>
                </a:solidFill>
                <a:latin typeface="Arial" pitchFamily="34" charset="0"/>
                <a:ea typeface="Arial" pitchFamily="34" charset="-122"/>
                <a:cs typeface="Arial" pitchFamily="34" charset="-120"/>
              </a:rPr>
              <a:t>No detailed post-mortem. We re-run the questions she started and abandoned, because those are the ones where a method mark was one line away, then drill the two or three topics she could not begin.</a:t>
            </a:r>
            <a:endParaRPr lang="en-US" sz="1100" dirty="0"/>
          </a:p>
        </p:txBody>
      </p:sp>
      <p:sp>
        <p:nvSpPr>
          <p:cNvPr id="16" name="Shape 14"/>
          <p:cNvSpPr/>
          <p:nvPr/>
        </p:nvSpPr>
        <p:spPr>
          <a:xfrm>
            <a:off x="8915400" y="1645920"/>
            <a:ext cx="2587752" cy="3794760"/>
          </a:xfrm>
          <a:prstGeom prst="roundRect">
            <a:avLst>
              <a:gd name="adj" fmla="val 1413"/>
            </a:avLst>
          </a:prstGeom>
          <a:solidFill>
            <a:srgbClr val="162947"/>
          </a:solidFill>
          <a:ln/>
        </p:spPr>
      </p:sp>
      <p:sp>
        <p:nvSpPr>
          <p:cNvPr id="17" name="Text 15"/>
          <p:cNvSpPr txBox="1"/>
          <p:nvPr/>
        </p:nvSpPr>
        <p:spPr>
          <a:xfrm>
            <a:off x="9171432" y="1847088"/>
            <a:ext cx="210312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FRI 6 NOV</a:t>
            </a:r>
            <a:endParaRPr lang="en-US" sz="950" dirty="0"/>
          </a:p>
        </p:txBody>
      </p:sp>
      <p:sp>
        <p:nvSpPr>
          <p:cNvPr id="18" name="Text 16"/>
          <p:cNvSpPr txBox="1"/>
          <p:nvPr/>
        </p:nvSpPr>
        <p:spPr>
          <a:xfrm>
            <a:off x="9171432" y="2103120"/>
            <a:ext cx="2103120" cy="310896"/>
          </a:xfrm>
          <a:prstGeom prst="rect">
            <a:avLst/>
          </a:prstGeom>
          <a:noFill/>
          <a:ln/>
        </p:spPr>
        <p:txBody>
          <a:bodyPr wrap="square" lIns="0" tIns="0" rIns="0" bIns="0" rtlCol="0" anchor="ctr"/>
          <a:lstStyle/>
          <a:p>
            <a:pPr indent="0" marL="0">
              <a:buNone/>
            </a:pPr>
            <a:r>
              <a:rPr lang="en-US" sz="1900" dirty="0">
                <a:solidFill>
                  <a:srgbClr val="F6F4EF"/>
                </a:solidFill>
                <a:latin typeface="Cambria" pitchFamily="34" charset="0"/>
                <a:ea typeface="Cambria" pitchFamily="34" charset="-122"/>
                <a:cs typeface="Cambria" pitchFamily="34" charset="-120"/>
              </a:rPr>
              <a:t>Paper 2H</a:t>
            </a:r>
            <a:endParaRPr lang="en-US" sz="1900" dirty="0"/>
          </a:p>
        </p:txBody>
      </p:sp>
      <p:sp>
        <p:nvSpPr>
          <p:cNvPr id="19" name="Text 17"/>
          <p:cNvSpPr txBox="1"/>
          <p:nvPr/>
        </p:nvSpPr>
        <p:spPr>
          <a:xfrm>
            <a:off x="9171432" y="2578608"/>
            <a:ext cx="2103120" cy="2651760"/>
          </a:xfrm>
          <a:prstGeom prst="rect">
            <a:avLst/>
          </a:prstGeom>
          <a:noFill/>
          <a:ln/>
        </p:spPr>
        <p:txBody>
          <a:bodyPr wrap="square" lIns="0" tIns="0" rIns="0" bIns="0" rtlCol="0" anchor="t"/>
          <a:lstStyle/>
          <a:p>
            <a:pPr indent="0" marL="0">
              <a:lnSpc>
                <a:spcPts val="1550"/>
              </a:lnSpc>
              <a:buNone/>
            </a:pPr>
            <a:r>
              <a:rPr lang="en-US" sz="1100" dirty="0">
                <a:solidFill>
                  <a:srgbClr val="A8B2C2"/>
                </a:solidFill>
                <a:latin typeface="Arial" pitchFamily="34" charset="0"/>
                <a:ea typeface="Arial" pitchFamily="34" charset="-122"/>
                <a:cs typeface="Arial" pitchFamily="34" charset="-120"/>
              </a:rPr>
              <a:t>Morning, 2 hours, 100 marks. Same pacing rules. Both papers sample the full specification, so topics from Wednesday will recur.</a:t>
            </a:r>
            <a:endParaRPr lang="en-US" sz="1100" dirty="0"/>
          </a:p>
        </p:txBody>
      </p:sp>
      <p:sp>
        <p:nvSpPr>
          <p:cNvPr id="20" name="Shape 18"/>
          <p:cNvSpPr/>
          <p:nvPr/>
        </p:nvSpPr>
        <p:spPr>
          <a:xfrm>
            <a:off x="685800" y="5596128"/>
            <a:ext cx="10817352" cy="566928"/>
          </a:xfrm>
          <a:prstGeom prst="roundRect">
            <a:avLst>
              <a:gd name="adj" fmla="val 6452"/>
            </a:avLst>
          </a:prstGeom>
          <a:solidFill>
            <a:srgbClr val="EFEBE1"/>
          </a:solidFill>
          <a:ln/>
        </p:spPr>
      </p:sp>
      <p:sp>
        <p:nvSpPr>
          <p:cNvPr id="21" name="Text 19"/>
          <p:cNvSpPr txBox="1"/>
          <p:nvPr/>
        </p:nvSpPr>
        <p:spPr>
          <a:xfrm>
            <a:off x="1005840" y="5596128"/>
            <a:ext cx="10149840" cy="566928"/>
          </a:xfrm>
          <a:prstGeom prst="rect">
            <a:avLst/>
          </a:prstGeom>
          <a:noFill/>
          <a:ln/>
        </p:spPr>
        <p:txBody>
          <a:bodyPr wrap="square" lIns="0" tIns="0" rIns="0" bIns="0" rtlCol="0" anchor="ctr"/>
          <a:lstStyle/>
          <a:p>
            <a:pPr indent="0" marL="0">
              <a:buNone/>
            </a:pPr>
            <a:r>
              <a:rPr lang="en-US" sz="1200" b="1" dirty="0">
                <a:solidFill>
                  <a:srgbClr val="162947"/>
                </a:solidFill>
                <a:latin typeface="Arial" pitchFamily="34" charset="0"/>
                <a:ea typeface="Arial" pitchFamily="34" charset="-122"/>
                <a:cs typeface="Arial" pitchFamily="34" charset="-120"/>
              </a:rPr>
              <a:t>No new content after 25 October. The last week and a half consolidate what is already there.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TRIAGE</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What we teach, and what we leave</a:t>
            </a:r>
            <a:endParaRPr lang="en-US" sz="3300" dirty="0"/>
          </a:p>
        </p:txBody>
      </p:sp>
      <p:sp>
        <p:nvSpPr>
          <p:cNvPr id="4" name="Shape 2"/>
          <p:cNvSpPr/>
          <p:nvPr/>
        </p:nvSpPr>
        <p:spPr>
          <a:xfrm>
            <a:off x="685800" y="1572768"/>
            <a:ext cx="5212080" cy="3822192"/>
          </a:xfrm>
          <a:prstGeom prst="roundRect">
            <a:avLst>
              <a:gd name="adj" fmla="val 957"/>
            </a:avLst>
          </a:prstGeom>
          <a:solidFill>
            <a:srgbClr val="FFFFFF"/>
          </a:solidFill>
          <a:ln w="9525">
            <a:solidFill>
              <a:srgbClr val="C3A965"/>
            </a:solidFill>
            <a:prstDash val="solid"/>
          </a:ln>
        </p:spPr>
      </p:sp>
      <p:sp>
        <p:nvSpPr>
          <p:cNvPr id="5" name="Shape 3"/>
          <p:cNvSpPr/>
          <p:nvPr/>
        </p:nvSpPr>
        <p:spPr>
          <a:xfrm>
            <a:off x="1005840" y="1792224"/>
            <a:ext cx="384048" cy="384048"/>
          </a:xfrm>
          <a:prstGeom prst="ellipse">
            <a:avLst/>
          </a:prstGeom>
          <a:solidFill>
            <a:srgbClr val="162947"/>
          </a:solidFill>
          <a:ln/>
        </p:spPr>
      </p:sp>
      <p:sp>
        <p:nvSpPr>
          <p:cNvPr id="6" name="Text 4"/>
          <p:cNvSpPr txBox="1"/>
          <p:nvPr/>
        </p:nvSpPr>
        <p:spPr>
          <a:xfrm>
            <a:off x="1005840" y="1792224"/>
            <a:ext cx="384048" cy="384048"/>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a:t>
            </a:r>
            <a:endParaRPr lang="en-US" sz="1500" dirty="0"/>
          </a:p>
        </p:txBody>
      </p:sp>
      <p:sp>
        <p:nvSpPr>
          <p:cNvPr id="7" name="Text 5"/>
          <p:cNvSpPr txBox="1"/>
          <p:nvPr/>
        </p:nvSpPr>
        <p:spPr>
          <a:xfrm>
            <a:off x="1527048" y="1801368"/>
            <a:ext cx="4114800" cy="329184"/>
          </a:xfrm>
          <a:prstGeom prst="rect">
            <a:avLst/>
          </a:prstGeom>
          <a:noFill/>
          <a:ln/>
        </p:spPr>
        <p:txBody>
          <a:bodyPr wrap="square" lIns="0" tIns="0" rIns="0" bIns="0" rtlCol="0" anchor="ctr"/>
          <a:lstStyle/>
          <a:p>
            <a:pPr indent="0" marL="0">
              <a:buNone/>
            </a:pPr>
            <a:r>
              <a:rPr lang="en-US" sz="2000" dirty="0">
                <a:solidFill>
                  <a:srgbClr val="162947"/>
                </a:solidFill>
                <a:latin typeface="Cambria" pitchFamily="34" charset="0"/>
                <a:ea typeface="Cambria" pitchFamily="34" charset="-122"/>
                <a:cs typeface="Cambria" pitchFamily="34" charset="-120"/>
              </a:rPr>
              <a:t>We teach this</a:t>
            </a:r>
            <a:endParaRPr lang="en-US" sz="2000" dirty="0"/>
          </a:p>
        </p:txBody>
      </p:sp>
      <p:sp>
        <p:nvSpPr>
          <p:cNvPr id="8" name="Text 6"/>
          <p:cNvSpPr txBox="1"/>
          <p:nvPr/>
        </p:nvSpPr>
        <p:spPr>
          <a:xfrm>
            <a:off x="1005840" y="2249424"/>
            <a:ext cx="4572000" cy="420624"/>
          </a:xfrm>
          <a:prstGeom prst="rect">
            <a:avLst/>
          </a:prstGeom>
          <a:noFill/>
          <a:ln/>
        </p:spPr>
        <p:txBody>
          <a:bodyPr wrap="square" lIns="0" tIns="0" rIns="0" bIns="0" rtlCol="0" anchor="ctr"/>
          <a:lstStyle/>
          <a:p>
            <a:pPr indent="0" marL="0">
              <a:lnSpc>
                <a:spcPts val="1400"/>
              </a:lnSpc>
              <a:buNone/>
            </a:pPr>
            <a:r>
              <a:rPr lang="en-US" sz="1050" i="1" dirty="0">
                <a:solidFill>
                  <a:srgbClr val="5D6471"/>
                </a:solidFill>
                <a:latin typeface="Arial" pitchFamily="34" charset="0"/>
                <a:ea typeface="Arial" pitchFamily="34" charset="-122"/>
                <a:cs typeface="Arial" pitchFamily="34" charset="-120"/>
              </a:rPr>
              <a:t>About 105 marks live here. This list, done well, clears the target with margin.</a:t>
            </a:r>
            <a:endParaRPr lang="en-US" sz="1050" dirty="0"/>
          </a:p>
        </p:txBody>
      </p:sp>
      <p:sp>
        <p:nvSpPr>
          <p:cNvPr id="9" name="Text 7"/>
          <p:cNvSpPr txBox="1"/>
          <p:nvPr/>
        </p:nvSpPr>
        <p:spPr>
          <a:xfrm>
            <a:off x="1005840" y="2743200"/>
            <a:ext cx="4572000" cy="2468880"/>
          </a:xfrm>
          <a:prstGeom prst="rect">
            <a:avLst/>
          </a:prstGeom>
          <a:noFill/>
          <a:ln/>
        </p:spPr>
        <p:txBody>
          <a:bodyPr wrap="square" lIns="0" tIns="0" rIns="0" bIns="0" rtlCol="0" anchor="ctr"/>
          <a:lstStyle/>
          <a:p>
            <a:pPr marL="177800" indent="-177800">
              <a:lnSpc>
                <a:spcPts val="1342"/>
              </a:lnSpc>
              <a:spcAft>
                <a:spcPts val="500"/>
              </a:spcAft>
              <a:buSzPct val="100000"/>
              <a:buChar char="•"/>
            </a:pPr>
            <a:r>
              <a:rPr lang="en-US" sz="1100" dirty="0">
                <a:solidFill>
                  <a:srgbClr val="162947"/>
                </a:solidFill>
                <a:latin typeface="Arial" pitchFamily="34" charset="0"/>
                <a:ea typeface="Arial" pitchFamily="34" charset="-122"/>
                <a:cs typeface="Arial" pitchFamily="34" charset="-120"/>
              </a:rPr>
              <a:t>Fractions, decimals, percentages, reverse percentages</a:t>
            </a:r>
            <a:endParaRPr lang="en-US" sz="1100" dirty="0"/>
          </a:p>
          <a:p>
            <a:pPr marL="177800" indent="-177800">
              <a:lnSpc>
                <a:spcPts val="1342"/>
              </a:lnSpc>
              <a:spcAft>
                <a:spcPts val="500"/>
              </a:spcAft>
              <a:buSzPct val="100000"/>
              <a:buChar char="•"/>
            </a:pPr>
            <a:r>
              <a:rPr lang="en-US" sz="1100" dirty="0">
                <a:solidFill>
                  <a:srgbClr val="162947"/>
                </a:solidFill>
                <a:latin typeface="Arial" pitchFamily="34" charset="0"/>
                <a:ea typeface="Arial" pitchFamily="34" charset="-122"/>
                <a:cs typeface="Arial" pitchFamily="34" charset="-120"/>
              </a:rPr>
              <a:t>Negatives, indices, standard form, rounding</a:t>
            </a:r>
            <a:endParaRPr lang="en-US" sz="1100" dirty="0"/>
          </a:p>
          <a:p>
            <a:pPr marL="177800" indent="-177800">
              <a:lnSpc>
                <a:spcPts val="1342"/>
              </a:lnSpc>
              <a:spcAft>
                <a:spcPts val="500"/>
              </a:spcAft>
              <a:buSzPct val="100000"/>
              <a:buChar char="•"/>
            </a:pPr>
            <a:r>
              <a:rPr lang="en-US" sz="1100" dirty="0">
                <a:solidFill>
                  <a:srgbClr val="162947"/>
                </a:solidFill>
                <a:latin typeface="Arial" pitchFamily="34" charset="0"/>
                <a:ea typeface="Arial" pitchFamily="34" charset="-122"/>
                <a:cs typeface="Arial" pitchFamily="34" charset="-120"/>
              </a:rPr>
              <a:t>Ratio and proportion by the unitary method</a:t>
            </a:r>
            <a:endParaRPr lang="en-US" sz="1100" dirty="0"/>
          </a:p>
          <a:p>
            <a:pPr marL="177800" indent="-177800">
              <a:lnSpc>
                <a:spcPts val="1342"/>
              </a:lnSpc>
              <a:spcAft>
                <a:spcPts val="500"/>
              </a:spcAft>
              <a:buSzPct val="100000"/>
              <a:buChar char="•"/>
            </a:pPr>
            <a:r>
              <a:rPr lang="en-US" sz="1100" dirty="0">
                <a:solidFill>
                  <a:srgbClr val="162947"/>
                </a:solidFill>
                <a:latin typeface="Arial" pitchFamily="34" charset="0"/>
                <a:ea typeface="Arial" pitchFamily="34" charset="-122"/>
                <a:cs typeface="Arial" pitchFamily="34" charset="-120"/>
              </a:rPr>
              <a:t>Solving, expanding, substituting, rearranging</a:t>
            </a:r>
            <a:endParaRPr lang="en-US" sz="1100" dirty="0"/>
          </a:p>
          <a:p>
            <a:pPr marL="177800" indent="-177800">
              <a:lnSpc>
                <a:spcPts val="1342"/>
              </a:lnSpc>
              <a:spcAft>
                <a:spcPts val="500"/>
              </a:spcAft>
              <a:buSzPct val="100000"/>
              <a:buChar char="•"/>
            </a:pPr>
            <a:r>
              <a:rPr lang="en-US" sz="1100" dirty="0">
                <a:solidFill>
                  <a:srgbClr val="162947"/>
                </a:solidFill>
                <a:latin typeface="Arial" pitchFamily="34" charset="0"/>
                <a:ea typeface="Arial" pitchFamily="34" charset="-122"/>
                <a:cs typeface="Arial" pitchFamily="34" charset="-120"/>
              </a:rPr>
              <a:t>Linear simultaneous equations</a:t>
            </a:r>
            <a:endParaRPr lang="en-US" sz="1100" dirty="0"/>
          </a:p>
          <a:p>
            <a:pPr marL="177800" indent="-177800">
              <a:lnSpc>
                <a:spcPts val="1342"/>
              </a:lnSpc>
              <a:spcAft>
                <a:spcPts val="500"/>
              </a:spcAft>
              <a:buSzPct val="100000"/>
              <a:buChar char="•"/>
            </a:pPr>
            <a:r>
              <a:rPr lang="en-US" sz="1100" dirty="0">
                <a:solidFill>
                  <a:srgbClr val="162947"/>
                </a:solidFill>
                <a:latin typeface="Arial" pitchFamily="34" charset="0"/>
                <a:ea typeface="Arial" pitchFamily="34" charset="-122"/>
                <a:cs typeface="Arial" pitchFamily="34" charset="-120"/>
              </a:rPr>
              <a:t>Sequences and straight-line graphs</a:t>
            </a:r>
            <a:endParaRPr lang="en-US" sz="1100" dirty="0"/>
          </a:p>
          <a:p>
            <a:pPr marL="177800" indent="-177800">
              <a:lnSpc>
                <a:spcPts val="1342"/>
              </a:lnSpc>
              <a:spcAft>
                <a:spcPts val="500"/>
              </a:spcAft>
              <a:buSzPct val="100000"/>
              <a:buChar char="•"/>
            </a:pPr>
            <a:r>
              <a:rPr lang="en-US" sz="1100" dirty="0">
                <a:solidFill>
                  <a:srgbClr val="162947"/>
                </a:solidFill>
                <a:latin typeface="Arial" pitchFamily="34" charset="0"/>
                <a:ea typeface="Arial" pitchFamily="34" charset="-122"/>
                <a:cs typeface="Arial" pitchFamily="34" charset="-120"/>
              </a:rPr>
              <a:t>Angles, area, circles, prisms, Pythagoras, trigonometry</a:t>
            </a:r>
            <a:endParaRPr lang="en-US" sz="1100" dirty="0"/>
          </a:p>
          <a:p>
            <a:pPr marL="177800" indent="-177800">
              <a:lnSpc>
                <a:spcPts val="1342"/>
              </a:lnSpc>
              <a:spcAft>
                <a:spcPts val="500"/>
              </a:spcAft>
              <a:buSzPct val="100000"/>
              <a:buChar char="•"/>
            </a:pPr>
            <a:r>
              <a:rPr lang="en-US" sz="1100" dirty="0">
                <a:solidFill>
                  <a:srgbClr val="162947"/>
                </a:solidFill>
                <a:latin typeface="Arial" pitchFamily="34" charset="0"/>
                <a:ea typeface="Arial" pitchFamily="34" charset="-122"/>
                <a:cs typeface="Arial" pitchFamily="34" charset="-120"/>
              </a:rPr>
              <a:t>Length, area and volume scale factors</a:t>
            </a:r>
            <a:endParaRPr lang="en-US" sz="1100" dirty="0"/>
          </a:p>
          <a:p>
            <a:pPr marL="177800" indent="-177800">
              <a:lnSpc>
                <a:spcPts val="1342"/>
              </a:lnSpc>
              <a:spcAft>
                <a:spcPts val="500"/>
              </a:spcAft>
              <a:buSzPct val="100000"/>
              <a:buChar char="•"/>
            </a:pPr>
            <a:r>
              <a:rPr lang="en-US" sz="1100" dirty="0">
                <a:solidFill>
                  <a:srgbClr val="162947"/>
                </a:solidFill>
                <a:latin typeface="Arial" pitchFamily="34" charset="0"/>
                <a:ea typeface="Arial" pitchFamily="34" charset="-122"/>
                <a:cs typeface="Arial" pitchFamily="34" charset="-120"/>
              </a:rPr>
              <a:t>Averages, frequency tables, probability, Venn diagrams</a:t>
            </a:r>
            <a:endParaRPr lang="en-US" sz="1100" dirty="0"/>
          </a:p>
        </p:txBody>
      </p:sp>
      <p:sp>
        <p:nvSpPr>
          <p:cNvPr id="10" name="Shape 8"/>
          <p:cNvSpPr/>
          <p:nvPr/>
        </p:nvSpPr>
        <p:spPr>
          <a:xfrm>
            <a:off x="6291072" y="1572768"/>
            <a:ext cx="5212080" cy="3822192"/>
          </a:xfrm>
          <a:prstGeom prst="roundRect">
            <a:avLst>
              <a:gd name="adj" fmla="val 957"/>
            </a:avLst>
          </a:prstGeom>
          <a:solidFill>
            <a:srgbClr val="EFEBE1"/>
          </a:solidFill>
          <a:ln w="9525">
            <a:solidFill>
              <a:srgbClr val="E3DFD5"/>
            </a:solidFill>
            <a:prstDash val="solid"/>
          </a:ln>
        </p:spPr>
      </p:sp>
      <p:sp>
        <p:nvSpPr>
          <p:cNvPr id="11" name="Shape 9"/>
          <p:cNvSpPr/>
          <p:nvPr/>
        </p:nvSpPr>
        <p:spPr>
          <a:xfrm>
            <a:off x="6611112" y="1792224"/>
            <a:ext cx="384048" cy="384048"/>
          </a:xfrm>
          <a:prstGeom prst="ellipse">
            <a:avLst/>
          </a:prstGeom>
          <a:solidFill>
            <a:srgbClr val="C4C8CE"/>
          </a:solidFill>
          <a:ln/>
        </p:spPr>
      </p:sp>
      <p:sp>
        <p:nvSpPr>
          <p:cNvPr id="12" name="Text 10"/>
          <p:cNvSpPr txBox="1"/>
          <p:nvPr/>
        </p:nvSpPr>
        <p:spPr>
          <a:xfrm>
            <a:off x="6611112" y="1792224"/>
            <a:ext cx="384048" cy="384048"/>
          </a:xfrm>
          <a:prstGeom prst="rect">
            <a:avLst/>
          </a:prstGeom>
          <a:noFill/>
          <a:ln/>
        </p:spPr>
        <p:txBody>
          <a:bodyPr wrap="square" lIns="0" tIns="0" rIns="0" bIns="0" rtlCol="0" anchor="ctr"/>
          <a:lstStyle/>
          <a:p>
            <a:pPr algn="ctr" indent="0" marL="0">
              <a:buNone/>
            </a:pPr>
            <a:r>
              <a:rPr lang="en-US" sz="1500" b="1" dirty="0">
                <a:solidFill>
                  <a:srgbClr val="F6F4EF"/>
                </a:solidFill>
                <a:latin typeface="Cambria" pitchFamily="34" charset="0"/>
                <a:ea typeface="Cambria" pitchFamily="34" charset="-122"/>
                <a:cs typeface="Cambria" pitchFamily="34" charset="-120"/>
              </a:rPr>
              <a:t>✕</a:t>
            </a:r>
            <a:endParaRPr lang="en-US" sz="1500" dirty="0"/>
          </a:p>
        </p:txBody>
      </p:sp>
      <p:sp>
        <p:nvSpPr>
          <p:cNvPr id="13" name="Text 11"/>
          <p:cNvSpPr txBox="1"/>
          <p:nvPr/>
        </p:nvSpPr>
        <p:spPr>
          <a:xfrm>
            <a:off x="7132320" y="1801368"/>
            <a:ext cx="4114800" cy="329184"/>
          </a:xfrm>
          <a:prstGeom prst="rect">
            <a:avLst/>
          </a:prstGeom>
          <a:noFill/>
          <a:ln/>
        </p:spPr>
        <p:txBody>
          <a:bodyPr wrap="square" lIns="0" tIns="0" rIns="0" bIns="0" rtlCol="0" anchor="ctr"/>
          <a:lstStyle/>
          <a:p>
            <a:pPr indent="0" marL="0">
              <a:buNone/>
            </a:pPr>
            <a:r>
              <a:rPr lang="en-US" sz="2000" dirty="0">
                <a:solidFill>
                  <a:srgbClr val="162947"/>
                </a:solidFill>
                <a:latin typeface="Cambria" pitchFamily="34" charset="0"/>
                <a:ea typeface="Cambria" pitchFamily="34" charset="-122"/>
                <a:cs typeface="Cambria" pitchFamily="34" charset="-120"/>
              </a:rPr>
              <a:t>We leave this</a:t>
            </a:r>
            <a:endParaRPr lang="en-US" sz="2000" dirty="0"/>
          </a:p>
        </p:txBody>
      </p:sp>
      <p:sp>
        <p:nvSpPr>
          <p:cNvPr id="14" name="Text 12"/>
          <p:cNvSpPr txBox="1"/>
          <p:nvPr/>
        </p:nvSpPr>
        <p:spPr>
          <a:xfrm>
            <a:off x="6611112" y="2249424"/>
            <a:ext cx="4572000" cy="420624"/>
          </a:xfrm>
          <a:prstGeom prst="rect">
            <a:avLst/>
          </a:prstGeom>
          <a:noFill/>
          <a:ln/>
        </p:spPr>
        <p:txBody>
          <a:bodyPr wrap="square" lIns="0" tIns="0" rIns="0" bIns="0" rtlCol="0" anchor="ctr"/>
          <a:lstStyle/>
          <a:p>
            <a:pPr indent="0" marL="0">
              <a:lnSpc>
                <a:spcPts val="1400"/>
              </a:lnSpc>
              <a:buNone/>
            </a:pPr>
            <a:r>
              <a:rPr lang="en-US" sz="1050" i="1" dirty="0">
                <a:solidFill>
                  <a:srgbClr val="5D6471"/>
                </a:solidFill>
                <a:latin typeface="Arial" pitchFamily="34" charset="0"/>
                <a:ea typeface="Arial" pitchFamily="34" charset="-122"/>
                <a:cs typeface="Arial" pitchFamily="34" charset="-120"/>
              </a:rPr>
              <a:t>Worth 60 to 80 marks she would convert very little of in six weeks.</a:t>
            </a:r>
            <a:endParaRPr lang="en-US" sz="1050" dirty="0"/>
          </a:p>
        </p:txBody>
      </p:sp>
      <p:sp>
        <p:nvSpPr>
          <p:cNvPr id="15" name="Text 13"/>
          <p:cNvSpPr txBox="1"/>
          <p:nvPr/>
        </p:nvSpPr>
        <p:spPr>
          <a:xfrm>
            <a:off x="6611112" y="2743200"/>
            <a:ext cx="4572000" cy="2194560"/>
          </a:xfrm>
          <a:prstGeom prst="rect">
            <a:avLst/>
          </a:prstGeom>
          <a:noFill/>
          <a:ln/>
        </p:spPr>
        <p:txBody>
          <a:bodyPr wrap="square" lIns="0" tIns="0" rIns="0" bIns="0" rtlCol="0" anchor="ctr"/>
          <a:lstStyle/>
          <a:p>
            <a:pPr marL="177800" indent="-177800">
              <a:lnSpc>
                <a:spcPts val="1342"/>
              </a:lnSpc>
              <a:spcAft>
                <a:spcPts val="500"/>
              </a:spcAft>
              <a:buSzPct val="100000"/>
              <a:buChar char="•"/>
            </a:pPr>
            <a:r>
              <a:rPr lang="en-US" sz="1100" dirty="0">
                <a:solidFill>
                  <a:srgbClr val="5D6471"/>
                </a:solidFill>
                <a:latin typeface="Arial" pitchFamily="34" charset="0"/>
                <a:ea typeface="Arial" pitchFamily="34" charset="-122"/>
                <a:cs typeface="Arial" pitchFamily="34" charset="-120"/>
              </a:rPr>
              <a:t>Circle theorems and their proofs</a:t>
            </a:r>
            <a:endParaRPr lang="en-US" sz="1100" dirty="0"/>
          </a:p>
          <a:p>
            <a:pPr marL="177800" indent="-177800">
              <a:lnSpc>
                <a:spcPts val="1342"/>
              </a:lnSpc>
              <a:spcAft>
                <a:spcPts val="500"/>
              </a:spcAft>
              <a:buSzPct val="100000"/>
              <a:buChar char="•"/>
            </a:pPr>
            <a:r>
              <a:rPr lang="en-US" sz="1100" dirty="0">
                <a:solidFill>
                  <a:srgbClr val="5D6471"/>
                </a:solidFill>
                <a:latin typeface="Arial" pitchFamily="34" charset="0"/>
                <a:ea typeface="Arial" pitchFamily="34" charset="-122"/>
                <a:cs typeface="Arial" pitchFamily="34" charset="-120"/>
              </a:rPr>
              <a:t>Vectors and vector geometry</a:t>
            </a:r>
            <a:endParaRPr lang="en-US" sz="1100" dirty="0"/>
          </a:p>
          <a:p>
            <a:pPr marL="177800" indent="-177800">
              <a:lnSpc>
                <a:spcPts val="1342"/>
              </a:lnSpc>
              <a:spcAft>
                <a:spcPts val="500"/>
              </a:spcAft>
              <a:buSzPct val="100000"/>
              <a:buChar char="•"/>
            </a:pPr>
            <a:r>
              <a:rPr lang="en-US" sz="1100" dirty="0">
                <a:solidFill>
                  <a:srgbClr val="5D6471"/>
                </a:solidFill>
                <a:latin typeface="Arial" pitchFamily="34" charset="0"/>
                <a:ea typeface="Arial" pitchFamily="34" charset="-122"/>
                <a:cs typeface="Arial" pitchFamily="34" charset="-120"/>
              </a:rPr>
              <a:t>Histograms with unequal class widths</a:t>
            </a:r>
            <a:endParaRPr lang="en-US" sz="1100" dirty="0"/>
          </a:p>
          <a:p>
            <a:pPr marL="177800" indent="-177800">
              <a:lnSpc>
                <a:spcPts val="1342"/>
              </a:lnSpc>
              <a:spcAft>
                <a:spcPts val="500"/>
              </a:spcAft>
              <a:buSzPct val="100000"/>
              <a:buChar char="•"/>
            </a:pPr>
            <a:r>
              <a:rPr lang="en-US" sz="1100" dirty="0">
                <a:solidFill>
                  <a:srgbClr val="5D6471"/>
                </a:solidFill>
                <a:latin typeface="Arial" pitchFamily="34" charset="0"/>
                <a:ea typeface="Arial" pitchFamily="34" charset="-122"/>
                <a:cs typeface="Arial" pitchFamily="34" charset="-120"/>
              </a:rPr>
              <a:t>Algebraic fractions, functions, graph transformations</a:t>
            </a:r>
            <a:endParaRPr lang="en-US" sz="1100" dirty="0"/>
          </a:p>
          <a:p>
            <a:pPr marL="177800" indent="-177800">
              <a:lnSpc>
                <a:spcPts val="1342"/>
              </a:lnSpc>
              <a:spcAft>
                <a:spcPts val="500"/>
              </a:spcAft>
              <a:buSzPct val="100000"/>
              <a:buChar char="•"/>
            </a:pPr>
            <a:r>
              <a:rPr lang="en-US" sz="1100" dirty="0">
                <a:solidFill>
                  <a:srgbClr val="5D6471"/>
                </a:solidFill>
                <a:latin typeface="Arial" pitchFamily="34" charset="0"/>
                <a:ea typeface="Arial" pitchFamily="34" charset="-122"/>
                <a:cs typeface="Arial" pitchFamily="34" charset="-120"/>
              </a:rPr>
              <a:t>Surds, bounds, 3D trigonometry</a:t>
            </a:r>
            <a:endParaRPr lang="en-US" sz="1100" dirty="0"/>
          </a:p>
          <a:p>
            <a:pPr marL="177800" indent="-177800">
              <a:lnSpc>
                <a:spcPts val="1342"/>
              </a:lnSpc>
              <a:spcAft>
                <a:spcPts val="500"/>
              </a:spcAft>
              <a:buSzPct val="100000"/>
              <a:buChar char="•"/>
            </a:pPr>
            <a:r>
              <a:rPr lang="en-US" sz="1100" dirty="0">
                <a:solidFill>
                  <a:srgbClr val="5D6471"/>
                </a:solidFill>
                <a:latin typeface="Arial" pitchFamily="34" charset="0"/>
                <a:ea typeface="Arial" pitchFamily="34" charset="-122"/>
                <a:cs typeface="Arial" pitchFamily="34" charset="-120"/>
              </a:rPr>
              <a:t>Quadratic formula, sine and cosine rules</a:t>
            </a:r>
            <a:endParaRPr lang="en-US" sz="1100" dirty="0"/>
          </a:p>
          <a:p>
            <a:pPr marL="177800" indent="-177800">
              <a:lnSpc>
                <a:spcPts val="1342"/>
              </a:lnSpc>
              <a:spcAft>
                <a:spcPts val="500"/>
              </a:spcAft>
              <a:buSzPct val="100000"/>
              <a:buChar char="•"/>
            </a:pPr>
            <a:r>
              <a:rPr lang="en-US" sz="1100" dirty="0">
                <a:solidFill>
                  <a:srgbClr val="5D6471"/>
                </a:solidFill>
                <a:latin typeface="Arial" pitchFamily="34" charset="0"/>
                <a:ea typeface="Arial" pitchFamily="34" charset="-122"/>
                <a:cs typeface="Arial" pitchFamily="34" charset="-120"/>
              </a:rPr>
              <a:t>Quadratic simultaneous equations and inequalities</a:t>
            </a:r>
            <a:endParaRPr lang="en-US" sz="1100" dirty="0"/>
          </a:p>
          <a:p>
            <a:pPr marL="177800" indent="-177800">
              <a:lnSpc>
                <a:spcPts val="1342"/>
              </a:lnSpc>
              <a:spcAft>
                <a:spcPts val="500"/>
              </a:spcAft>
              <a:buSzPct val="100000"/>
              <a:buChar char="•"/>
            </a:pPr>
            <a:r>
              <a:rPr lang="en-US" sz="1100" dirty="0">
                <a:solidFill>
                  <a:srgbClr val="5D6471"/>
                </a:solidFill>
                <a:latin typeface="Arial" pitchFamily="34" charset="0"/>
                <a:ea typeface="Arial" pitchFamily="34" charset="-122"/>
                <a:cs typeface="Arial" pitchFamily="34" charset="-120"/>
              </a:rPr>
              <a:t>Iteration and numerical methods</a:t>
            </a:r>
            <a:endParaRPr lang="en-US" sz="1100" dirty="0"/>
          </a:p>
        </p:txBody>
      </p:sp>
      <p:sp>
        <p:nvSpPr>
          <p:cNvPr id="16" name="Shape 14"/>
          <p:cNvSpPr/>
          <p:nvPr/>
        </p:nvSpPr>
        <p:spPr>
          <a:xfrm>
            <a:off x="685800" y="5541264"/>
            <a:ext cx="10817352" cy="512064"/>
          </a:xfrm>
          <a:prstGeom prst="roundRect">
            <a:avLst>
              <a:gd name="adj" fmla="val 7143"/>
            </a:avLst>
          </a:prstGeom>
          <a:solidFill>
            <a:srgbClr val="162947"/>
          </a:solidFill>
          <a:ln/>
        </p:spPr>
      </p:sp>
      <p:sp>
        <p:nvSpPr>
          <p:cNvPr id="17" name="Text 15"/>
          <p:cNvSpPr txBox="1"/>
          <p:nvPr/>
        </p:nvSpPr>
        <p:spPr>
          <a:xfrm>
            <a:off x="1005840" y="5541264"/>
            <a:ext cx="10149840" cy="512064"/>
          </a:xfrm>
          <a:prstGeom prst="rect">
            <a:avLst/>
          </a:prstGeom>
          <a:noFill/>
          <a:ln/>
        </p:spPr>
        <p:txBody>
          <a:bodyPr wrap="square" lIns="0" tIns="0" rIns="0" bIns="0" rtlCol="0" anchor="ctr"/>
          <a:lstStyle/>
          <a:p>
            <a:pPr indent="0" marL="0">
              <a:buNone/>
            </a:pPr>
            <a:r>
              <a:rPr lang="en-US" sz="1150" dirty="0">
                <a:solidFill>
                  <a:srgbClr val="E8E4DA"/>
                </a:solidFill>
                <a:latin typeface="Arial" pitchFamily="34" charset="0"/>
                <a:ea typeface="Arial" pitchFamily="34" charset="-122"/>
                <a:cs typeface="Arial" pitchFamily="34" charset="-120"/>
              </a:rPr>
              <a:t>She learns to recognise a left topic within ten seconds and move on. The time saved goes to questions inside her band.</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TECHNIQUE</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Marks that do not require new content</a:t>
            </a:r>
            <a:endParaRPr lang="en-US" sz="3300" dirty="0"/>
          </a:p>
        </p:txBody>
      </p:sp>
      <p:sp>
        <p:nvSpPr>
          <p:cNvPr id="4" name="Text 2"/>
          <p:cNvSpPr txBox="1"/>
          <p:nvPr/>
        </p:nvSpPr>
        <p:spPr>
          <a:xfrm>
            <a:off x="685800" y="1481328"/>
            <a:ext cx="10424160" cy="310896"/>
          </a:xfrm>
          <a:prstGeom prst="rect">
            <a:avLst/>
          </a:prstGeom>
          <a:noFill/>
          <a:ln/>
        </p:spPr>
        <p:txBody>
          <a:bodyPr wrap="square" lIns="0" tIns="0" rIns="0" bIns="0" rtlCol="0" anchor="ctr"/>
          <a:lstStyle/>
          <a:p>
            <a:pPr indent="0" marL="0">
              <a:buNone/>
            </a:pPr>
            <a:r>
              <a:rPr lang="en-US" sz="1250" dirty="0">
                <a:solidFill>
                  <a:srgbClr val="5D6471"/>
                </a:solidFill>
                <a:latin typeface="Arial" pitchFamily="34" charset="0"/>
                <a:ea typeface="Arial" pitchFamily="34" charset="-122"/>
                <a:cs typeface="Arial" pitchFamily="34" charset="-120"/>
              </a:rPr>
              <a:t>Four habits, taught in week one and applied to every timed piece of work after it. On past papers these are worth more to a student at this level than any single topic on the teach list.</a:t>
            </a:r>
            <a:endParaRPr lang="en-US" sz="1250" dirty="0"/>
          </a:p>
        </p:txBody>
      </p:sp>
      <p:sp>
        <p:nvSpPr>
          <p:cNvPr id="5" name="Shape 3"/>
          <p:cNvSpPr/>
          <p:nvPr/>
        </p:nvSpPr>
        <p:spPr>
          <a:xfrm>
            <a:off x="685800" y="1965960"/>
            <a:ext cx="2587752" cy="3246120"/>
          </a:xfrm>
          <a:prstGeom prst="roundRect">
            <a:avLst>
              <a:gd name="adj" fmla="val 1413"/>
            </a:avLst>
          </a:prstGeom>
          <a:solidFill>
            <a:srgbClr val="162947"/>
          </a:solidFill>
          <a:ln/>
        </p:spPr>
      </p:sp>
      <p:sp>
        <p:nvSpPr>
          <p:cNvPr id="6" name="Text 4"/>
          <p:cNvSpPr txBox="1"/>
          <p:nvPr/>
        </p:nvSpPr>
        <p:spPr>
          <a:xfrm>
            <a:off x="941832" y="2176272"/>
            <a:ext cx="1097280" cy="402336"/>
          </a:xfrm>
          <a:prstGeom prst="rect">
            <a:avLst/>
          </a:prstGeom>
          <a:noFill/>
          <a:ln/>
        </p:spPr>
        <p:txBody>
          <a:bodyPr wrap="square" lIns="0" tIns="0" rIns="0" bIns="0" rtlCol="0" anchor="ctr"/>
          <a:lstStyle/>
          <a:p>
            <a:pPr indent="0" marL="0">
              <a:buNone/>
            </a:pPr>
            <a:r>
              <a:rPr lang="en-US" sz="2800" dirty="0">
                <a:solidFill>
                  <a:srgbClr val="C3A965"/>
                </a:solidFill>
                <a:latin typeface="Cambria" pitchFamily="34" charset="0"/>
                <a:ea typeface="Cambria" pitchFamily="34" charset="-122"/>
                <a:cs typeface="Cambria" pitchFamily="34" charset="-120"/>
              </a:rPr>
              <a:t>01</a:t>
            </a:r>
            <a:endParaRPr lang="en-US" sz="2800" dirty="0"/>
          </a:p>
        </p:txBody>
      </p:sp>
      <p:sp>
        <p:nvSpPr>
          <p:cNvPr id="7" name="Text 5"/>
          <p:cNvSpPr txBox="1"/>
          <p:nvPr/>
        </p:nvSpPr>
        <p:spPr>
          <a:xfrm>
            <a:off x="941832" y="2670048"/>
            <a:ext cx="2103120" cy="310896"/>
          </a:xfrm>
          <a:prstGeom prst="rect">
            <a:avLst/>
          </a:prstGeom>
          <a:noFill/>
          <a:ln/>
        </p:spPr>
        <p:txBody>
          <a:bodyPr wrap="square" lIns="0" tIns="0" rIns="0" bIns="0" rtlCol="0" anchor="ctr"/>
          <a:lstStyle/>
          <a:p>
            <a:pPr indent="0" marL="0">
              <a:buNone/>
            </a:pPr>
            <a:r>
              <a:rPr lang="en-US" sz="1800" dirty="0">
                <a:solidFill>
                  <a:srgbClr val="F6F4EF"/>
                </a:solidFill>
                <a:latin typeface="Cambria" pitchFamily="34" charset="0"/>
                <a:ea typeface="Cambria" pitchFamily="34" charset="-122"/>
                <a:cs typeface="Cambria" pitchFamily="34" charset="-120"/>
              </a:rPr>
              <a:t>Method marks</a:t>
            </a:r>
            <a:endParaRPr lang="en-US" sz="1800" dirty="0"/>
          </a:p>
        </p:txBody>
      </p:sp>
      <p:sp>
        <p:nvSpPr>
          <p:cNvPr id="8" name="Text 6"/>
          <p:cNvSpPr txBox="1"/>
          <p:nvPr/>
        </p:nvSpPr>
        <p:spPr>
          <a:xfrm>
            <a:off x="941832" y="3090672"/>
            <a:ext cx="2103120" cy="1965960"/>
          </a:xfrm>
          <a:prstGeom prst="rect">
            <a:avLst/>
          </a:prstGeom>
          <a:noFill/>
          <a:ln/>
        </p:spPr>
        <p:txBody>
          <a:bodyPr wrap="square" lIns="0" tIns="0" rIns="0" bIns="0" rtlCol="0" anchor="t"/>
          <a:lstStyle/>
          <a:p>
            <a:pPr indent="0" marL="0">
              <a:lnSpc>
                <a:spcPts val="1550"/>
              </a:lnSpc>
              <a:buNone/>
            </a:pPr>
            <a:r>
              <a:rPr lang="en-US" sz="1100" dirty="0">
                <a:solidFill>
                  <a:srgbClr val="A8B2C2"/>
                </a:solidFill>
                <a:latin typeface="Arial" pitchFamily="34" charset="0"/>
                <a:ea typeface="Arial" pitchFamily="34" charset="-122"/>
                <a:cs typeface="Arial" pitchFamily="34" charset="-120"/>
              </a:rPr>
              <a:t>Working earns marks on this paper even when the final answer is wrong. Every question gets a substitution line and visible steps. No jumping straight to an answer, and nothing rubbed out.</a:t>
            </a:r>
            <a:endParaRPr lang="en-US" sz="1100" dirty="0"/>
          </a:p>
        </p:txBody>
      </p:sp>
      <p:sp>
        <p:nvSpPr>
          <p:cNvPr id="9" name="Shape 7"/>
          <p:cNvSpPr/>
          <p:nvPr/>
        </p:nvSpPr>
        <p:spPr>
          <a:xfrm>
            <a:off x="3429000" y="1965960"/>
            <a:ext cx="2587752" cy="3246120"/>
          </a:xfrm>
          <a:prstGeom prst="roundRect">
            <a:avLst>
              <a:gd name="adj" fmla="val 1413"/>
            </a:avLst>
          </a:prstGeom>
          <a:solidFill>
            <a:srgbClr val="FFFFFF"/>
          </a:solidFill>
          <a:ln w="9525">
            <a:solidFill>
              <a:srgbClr val="E3DFD5"/>
            </a:solidFill>
            <a:prstDash val="solid"/>
          </a:ln>
        </p:spPr>
      </p:sp>
      <p:sp>
        <p:nvSpPr>
          <p:cNvPr id="10" name="Text 8"/>
          <p:cNvSpPr txBox="1"/>
          <p:nvPr/>
        </p:nvSpPr>
        <p:spPr>
          <a:xfrm>
            <a:off x="3685032" y="2176272"/>
            <a:ext cx="1097280" cy="402336"/>
          </a:xfrm>
          <a:prstGeom prst="rect">
            <a:avLst/>
          </a:prstGeom>
          <a:noFill/>
          <a:ln/>
        </p:spPr>
        <p:txBody>
          <a:bodyPr wrap="square" lIns="0" tIns="0" rIns="0" bIns="0" rtlCol="0" anchor="ctr"/>
          <a:lstStyle/>
          <a:p>
            <a:pPr indent="0" marL="0">
              <a:buNone/>
            </a:pPr>
            <a:r>
              <a:rPr lang="en-US" sz="2800" dirty="0">
                <a:solidFill>
                  <a:srgbClr val="C3A965"/>
                </a:solidFill>
                <a:latin typeface="Cambria" pitchFamily="34" charset="0"/>
                <a:ea typeface="Cambria" pitchFamily="34" charset="-122"/>
                <a:cs typeface="Cambria" pitchFamily="34" charset="-120"/>
              </a:rPr>
              <a:t>02</a:t>
            </a:r>
            <a:endParaRPr lang="en-US" sz="2800" dirty="0"/>
          </a:p>
        </p:txBody>
      </p:sp>
      <p:sp>
        <p:nvSpPr>
          <p:cNvPr id="11" name="Text 9"/>
          <p:cNvSpPr txBox="1"/>
          <p:nvPr/>
        </p:nvSpPr>
        <p:spPr>
          <a:xfrm>
            <a:off x="3685032" y="2670048"/>
            <a:ext cx="2103120" cy="310896"/>
          </a:xfrm>
          <a:prstGeom prst="rect">
            <a:avLst/>
          </a:prstGeom>
          <a:noFill/>
          <a:ln/>
        </p:spPr>
        <p:txBody>
          <a:bodyPr wrap="square" lIns="0" tIns="0" rIns="0" bIns="0" rtlCol="0" anchor="ctr"/>
          <a:lstStyle/>
          <a:p>
            <a:pPr indent="0" marL="0">
              <a:buNone/>
            </a:pPr>
            <a:r>
              <a:rPr lang="en-US" sz="1800" dirty="0">
                <a:solidFill>
                  <a:srgbClr val="162947"/>
                </a:solidFill>
                <a:latin typeface="Cambria" pitchFamily="34" charset="0"/>
                <a:ea typeface="Cambria" pitchFamily="34" charset="-122"/>
                <a:cs typeface="Cambria" pitchFamily="34" charset="-120"/>
              </a:rPr>
              <a:t>Nothing blank</a:t>
            </a:r>
            <a:endParaRPr lang="en-US" sz="1800" dirty="0"/>
          </a:p>
        </p:txBody>
      </p:sp>
      <p:sp>
        <p:nvSpPr>
          <p:cNvPr id="12" name="Text 10"/>
          <p:cNvSpPr txBox="1"/>
          <p:nvPr/>
        </p:nvSpPr>
        <p:spPr>
          <a:xfrm>
            <a:off x="3685032" y="3090672"/>
            <a:ext cx="2103120" cy="1965960"/>
          </a:xfrm>
          <a:prstGeom prst="rect">
            <a:avLst/>
          </a:prstGeom>
          <a:noFill/>
          <a:ln/>
        </p:spPr>
        <p:txBody>
          <a:bodyPr wrap="square" lIns="0" tIns="0" rIns="0" bIns="0" rtlCol="0" anchor="t"/>
          <a:lstStyle/>
          <a:p>
            <a:pPr indent="0" marL="0">
              <a:lnSpc>
                <a:spcPts val="1550"/>
              </a:lnSpc>
              <a:buNone/>
            </a:pPr>
            <a:r>
              <a:rPr lang="en-US" sz="1100" dirty="0">
                <a:solidFill>
                  <a:srgbClr val="5D6471"/>
                </a:solidFill>
                <a:latin typeface="Arial" pitchFamily="34" charset="0"/>
                <a:ea typeface="Arial" pitchFamily="34" charset="-122"/>
                <a:cs typeface="Arial" pitchFamily="34" charset="-120"/>
              </a:rPr>
              <a:t>A first step that is correct scores. A blank scores nothing. Every question gets at least one written line, including the questions we have chosen to leave.</a:t>
            </a:r>
            <a:endParaRPr lang="en-US" sz="1100" dirty="0"/>
          </a:p>
        </p:txBody>
      </p:sp>
      <p:sp>
        <p:nvSpPr>
          <p:cNvPr id="13" name="Shape 11"/>
          <p:cNvSpPr/>
          <p:nvPr/>
        </p:nvSpPr>
        <p:spPr>
          <a:xfrm>
            <a:off x="6172200" y="1965960"/>
            <a:ext cx="2587752" cy="3246120"/>
          </a:xfrm>
          <a:prstGeom prst="roundRect">
            <a:avLst>
              <a:gd name="adj" fmla="val 1413"/>
            </a:avLst>
          </a:prstGeom>
          <a:solidFill>
            <a:srgbClr val="162947"/>
          </a:solidFill>
          <a:ln/>
        </p:spPr>
      </p:sp>
      <p:sp>
        <p:nvSpPr>
          <p:cNvPr id="14" name="Text 12"/>
          <p:cNvSpPr txBox="1"/>
          <p:nvPr/>
        </p:nvSpPr>
        <p:spPr>
          <a:xfrm>
            <a:off x="6428232" y="2176272"/>
            <a:ext cx="1097280" cy="402336"/>
          </a:xfrm>
          <a:prstGeom prst="rect">
            <a:avLst/>
          </a:prstGeom>
          <a:noFill/>
          <a:ln/>
        </p:spPr>
        <p:txBody>
          <a:bodyPr wrap="square" lIns="0" tIns="0" rIns="0" bIns="0" rtlCol="0" anchor="ctr"/>
          <a:lstStyle/>
          <a:p>
            <a:pPr indent="0" marL="0">
              <a:buNone/>
            </a:pPr>
            <a:r>
              <a:rPr lang="en-US" sz="2800" dirty="0">
                <a:solidFill>
                  <a:srgbClr val="C3A965"/>
                </a:solidFill>
                <a:latin typeface="Cambria" pitchFamily="34" charset="0"/>
                <a:ea typeface="Cambria" pitchFamily="34" charset="-122"/>
                <a:cs typeface="Cambria" pitchFamily="34" charset="-120"/>
              </a:rPr>
              <a:t>03</a:t>
            </a:r>
            <a:endParaRPr lang="en-US" sz="2800" dirty="0"/>
          </a:p>
        </p:txBody>
      </p:sp>
      <p:sp>
        <p:nvSpPr>
          <p:cNvPr id="15" name="Text 13"/>
          <p:cNvSpPr txBox="1"/>
          <p:nvPr/>
        </p:nvSpPr>
        <p:spPr>
          <a:xfrm>
            <a:off x="6428232" y="2670048"/>
            <a:ext cx="2103120" cy="310896"/>
          </a:xfrm>
          <a:prstGeom prst="rect">
            <a:avLst/>
          </a:prstGeom>
          <a:noFill/>
          <a:ln/>
        </p:spPr>
        <p:txBody>
          <a:bodyPr wrap="square" lIns="0" tIns="0" rIns="0" bIns="0" rtlCol="0" anchor="ctr"/>
          <a:lstStyle/>
          <a:p>
            <a:pPr indent="0" marL="0">
              <a:buNone/>
            </a:pPr>
            <a:r>
              <a:rPr lang="en-US" sz="1800" dirty="0">
                <a:solidFill>
                  <a:srgbClr val="F6F4EF"/>
                </a:solidFill>
                <a:latin typeface="Cambria" pitchFamily="34" charset="0"/>
                <a:ea typeface="Cambria" pitchFamily="34" charset="-122"/>
                <a:cs typeface="Cambria" pitchFamily="34" charset="-120"/>
              </a:rPr>
              <a:t>Two passes</a:t>
            </a:r>
            <a:endParaRPr lang="en-US" sz="1800" dirty="0"/>
          </a:p>
        </p:txBody>
      </p:sp>
      <p:sp>
        <p:nvSpPr>
          <p:cNvPr id="16" name="Text 14"/>
          <p:cNvSpPr txBox="1"/>
          <p:nvPr/>
        </p:nvSpPr>
        <p:spPr>
          <a:xfrm>
            <a:off x="6428232" y="3090672"/>
            <a:ext cx="2103120" cy="1965960"/>
          </a:xfrm>
          <a:prstGeom prst="rect">
            <a:avLst/>
          </a:prstGeom>
          <a:noFill/>
          <a:ln/>
        </p:spPr>
        <p:txBody>
          <a:bodyPr wrap="square" lIns="0" tIns="0" rIns="0" bIns="0" rtlCol="0" anchor="t"/>
          <a:lstStyle/>
          <a:p>
            <a:pPr indent="0" marL="0">
              <a:lnSpc>
                <a:spcPts val="1550"/>
              </a:lnSpc>
              <a:buNone/>
            </a:pPr>
            <a:r>
              <a:rPr lang="en-US" sz="1100" dirty="0">
                <a:solidFill>
                  <a:srgbClr val="A8B2C2"/>
                </a:solidFill>
                <a:latin typeface="Arial" pitchFamily="34" charset="0"/>
                <a:ea typeface="Arial" pitchFamily="34" charset="-122"/>
                <a:cs typeface="Arial" pitchFamily="34" charset="-120"/>
              </a:rPr>
              <a:t>Pass one takes everything she can start within twenty seconds. Pass two returns to what she flagged. Practised on every timed section from week 3, not introduced on the day.</a:t>
            </a:r>
            <a:endParaRPr lang="en-US" sz="1100" dirty="0"/>
          </a:p>
        </p:txBody>
      </p:sp>
      <p:sp>
        <p:nvSpPr>
          <p:cNvPr id="17" name="Shape 15"/>
          <p:cNvSpPr/>
          <p:nvPr/>
        </p:nvSpPr>
        <p:spPr>
          <a:xfrm>
            <a:off x="8915400" y="1965960"/>
            <a:ext cx="2587752" cy="3246120"/>
          </a:xfrm>
          <a:prstGeom prst="roundRect">
            <a:avLst>
              <a:gd name="adj" fmla="val 1413"/>
            </a:avLst>
          </a:prstGeom>
          <a:solidFill>
            <a:srgbClr val="FFFFFF"/>
          </a:solidFill>
          <a:ln w="9525">
            <a:solidFill>
              <a:srgbClr val="E3DFD5"/>
            </a:solidFill>
            <a:prstDash val="solid"/>
          </a:ln>
        </p:spPr>
      </p:sp>
      <p:sp>
        <p:nvSpPr>
          <p:cNvPr id="18" name="Text 16"/>
          <p:cNvSpPr txBox="1"/>
          <p:nvPr/>
        </p:nvSpPr>
        <p:spPr>
          <a:xfrm>
            <a:off x="9171432" y="2176272"/>
            <a:ext cx="1097280" cy="402336"/>
          </a:xfrm>
          <a:prstGeom prst="rect">
            <a:avLst/>
          </a:prstGeom>
          <a:noFill/>
          <a:ln/>
        </p:spPr>
        <p:txBody>
          <a:bodyPr wrap="square" lIns="0" tIns="0" rIns="0" bIns="0" rtlCol="0" anchor="ctr"/>
          <a:lstStyle/>
          <a:p>
            <a:pPr indent="0" marL="0">
              <a:buNone/>
            </a:pPr>
            <a:r>
              <a:rPr lang="en-US" sz="2800" dirty="0">
                <a:solidFill>
                  <a:srgbClr val="C3A965"/>
                </a:solidFill>
                <a:latin typeface="Cambria" pitchFamily="34" charset="0"/>
                <a:ea typeface="Cambria" pitchFamily="34" charset="-122"/>
                <a:cs typeface="Cambria" pitchFamily="34" charset="-120"/>
              </a:rPr>
              <a:t>04</a:t>
            </a:r>
            <a:endParaRPr lang="en-US" sz="2800" dirty="0"/>
          </a:p>
        </p:txBody>
      </p:sp>
      <p:sp>
        <p:nvSpPr>
          <p:cNvPr id="19" name="Text 17"/>
          <p:cNvSpPr txBox="1"/>
          <p:nvPr/>
        </p:nvSpPr>
        <p:spPr>
          <a:xfrm>
            <a:off x="9171432" y="2670048"/>
            <a:ext cx="2103120" cy="310896"/>
          </a:xfrm>
          <a:prstGeom prst="rect">
            <a:avLst/>
          </a:prstGeom>
          <a:noFill/>
          <a:ln/>
        </p:spPr>
        <p:txBody>
          <a:bodyPr wrap="square" lIns="0" tIns="0" rIns="0" bIns="0" rtlCol="0" anchor="ctr"/>
          <a:lstStyle/>
          <a:p>
            <a:pPr indent="0" marL="0">
              <a:buNone/>
            </a:pPr>
            <a:r>
              <a:rPr lang="en-US" sz="1800" dirty="0">
                <a:solidFill>
                  <a:srgbClr val="162947"/>
                </a:solidFill>
                <a:latin typeface="Cambria" pitchFamily="34" charset="0"/>
                <a:ea typeface="Cambria" pitchFamily="34" charset="-122"/>
                <a:cs typeface="Cambria" pitchFamily="34" charset="-120"/>
              </a:rPr>
              <a:t>The last line</a:t>
            </a:r>
            <a:endParaRPr lang="en-US" sz="1800" dirty="0"/>
          </a:p>
        </p:txBody>
      </p:sp>
      <p:sp>
        <p:nvSpPr>
          <p:cNvPr id="20" name="Text 18"/>
          <p:cNvSpPr txBox="1"/>
          <p:nvPr/>
        </p:nvSpPr>
        <p:spPr>
          <a:xfrm>
            <a:off x="9171432" y="3090672"/>
            <a:ext cx="2103120" cy="1965960"/>
          </a:xfrm>
          <a:prstGeom prst="rect">
            <a:avLst/>
          </a:prstGeom>
          <a:noFill/>
          <a:ln/>
        </p:spPr>
        <p:txBody>
          <a:bodyPr wrap="square" lIns="0" tIns="0" rIns="0" bIns="0" rtlCol="0" anchor="t"/>
          <a:lstStyle/>
          <a:p>
            <a:pPr indent="0" marL="0">
              <a:lnSpc>
                <a:spcPts val="1550"/>
              </a:lnSpc>
              <a:buNone/>
            </a:pPr>
            <a:r>
              <a:rPr lang="en-US" sz="1100" dirty="0">
                <a:solidFill>
                  <a:srgbClr val="5D6471"/>
                </a:solidFill>
                <a:latin typeface="Arial" pitchFamily="34" charset="0"/>
                <a:ea typeface="Arial" pitchFamily="34" charset="-122"/>
                <a:cs typeface="Arial" pitchFamily="34" charset="-120"/>
              </a:rPr>
              <a:t>Marks are lost at the end of correct work. Answers are checked for units, for degrees, and for the rounding the question actually asked for.</a:t>
            </a:r>
            <a:endParaRPr lang="en-US" sz="1100" dirty="0"/>
          </a:p>
        </p:txBody>
      </p:sp>
      <p:sp>
        <p:nvSpPr>
          <p:cNvPr id="21" name="Shape 19"/>
          <p:cNvSpPr/>
          <p:nvPr/>
        </p:nvSpPr>
        <p:spPr>
          <a:xfrm>
            <a:off x="685800" y="5440680"/>
            <a:ext cx="10817352" cy="713232"/>
          </a:xfrm>
          <a:prstGeom prst="roundRect">
            <a:avLst>
              <a:gd name="adj" fmla="val 5128"/>
            </a:avLst>
          </a:prstGeom>
          <a:solidFill>
            <a:srgbClr val="EFEBE1"/>
          </a:solidFill>
          <a:ln/>
        </p:spPr>
      </p:sp>
      <p:sp>
        <p:nvSpPr>
          <p:cNvPr id="22" name="Text 20"/>
          <p:cNvSpPr txBox="1"/>
          <p:nvPr/>
        </p:nvSpPr>
        <p:spPr>
          <a:xfrm>
            <a:off x="1005840" y="5440680"/>
            <a:ext cx="10149840" cy="713232"/>
          </a:xfrm>
          <a:prstGeom prst="rect">
            <a:avLst/>
          </a:prstGeom>
          <a:noFill/>
          <a:ln/>
        </p:spPr>
        <p:txBody>
          <a:bodyPr wrap="square" lIns="0" tIns="0" rIns="0" bIns="0" rtlCol="0" anchor="ctr"/>
          <a:lstStyle/>
          <a:p>
            <a:pPr indent="0" marL="0">
              <a:lnSpc>
                <a:spcPts val="1600"/>
              </a:lnSpc>
              <a:buNone/>
            </a:pPr>
            <a:r>
              <a:rPr lang="en-US" sz="1150" dirty="0">
                <a:solidFill>
                  <a:srgbClr val="162947"/>
                </a:solidFill>
                <a:latin typeface="Arial" pitchFamily="34" charset="0"/>
                <a:ea typeface="Arial" pitchFamily="34" charset="-122"/>
                <a:cs typeface="Arial" pitchFamily="34" charset="-120"/>
              </a:rPr>
              <a:t>Measured the same way as the content: every marked piece of work records marks lost to blanks, to missing working, and to the final line. Those three numbers are reviewed in week 3 and week 5.</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BETWEEN SESSIONS</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Twenty minutes a day, six days a week</a:t>
            </a:r>
            <a:endParaRPr lang="en-US" sz="3300" dirty="0"/>
          </a:p>
        </p:txBody>
      </p:sp>
      <p:sp>
        <p:nvSpPr>
          <p:cNvPr id="4" name="Text 2"/>
          <p:cNvSpPr txBox="1"/>
          <p:nvPr/>
        </p:nvSpPr>
        <p:spPr>
          <a:xfrm>
            <a:off x="685800" y="1481328"/>
            <a:ext cx="10424160" cy="310896"/>
          </a:xfrm>
          <a:prstGeom prst="rect">
            <a:avLst/>
          </a:prstGeom>
          <a:noFill/>
          <a:ln/>
        </p:spPr>
        <p:txBody>
          <a:bodyPr wrap="square" lIns="0" tIns="0" rIns="0" bIns="0" rtlCol="0" anchor="ctr"/>
          <a:lstStyle/>
          <a:p>
            <a:pPr indent="0" marL="0">
              <a:buNone/>
            </a:pPr>
            <a:r>
              <a:rPr lang="en-US" sz="1250" dirty="0">
                <a:solidFill>
                  <a:srgbClr val="5D6471"/>
                </a:solidFill>
                <a:latin typeface="Arial" pitchFamily="34" charset="0"/>
                <a:ea typeface="Arial" pitchFamily="34" charset="-122"/>
                <a:cs typeface="Arial" pitchFamily="34" charset="-120"/>
              </a:rPr>
              <a:t>Six days a week for six weeks is about twelve hours, which is close to the total lesson time. Retention comes from spacing the work out, so a long session at the weekend does not replace it.</a:t>
            </a:r>
            <a:endParaRPr lang="en-US" sz="1250" dirty="0"/>
          </a:p>
        </p:txBody>
      </p:sp>
      <p:sp>
        <p:nvSpPr>
          <p:cNvPr id="5" name="Shape 3"/>
          <p:cNvSpPr/>
          <p:nvPr/>
        </p:nvSpPr>
        <p:spPr>
          <a:xfrm>
            <a:off x="685800" y="1965960"/>
            <a:ext cx="3502152" cy="1783080"/>
          </a:xfrm>
          <a:prstGeom prst="roundRect">
            <a:avLst>
              <a:gd name="adj" fmla="val 2051"/>
            </a:avLst>
          </a:prstGeom>
          <a:solidFill>
            <a:srgbClr val="FFFFFF"/>
          </a:solidFill>
          <a:ln w="9525">
            <a:solidFill>
              <a:srgbClr val="E3DFD5"/>
            </a:solidFill>
            <a:prstDash val="solid"/>
          </a:ln>
        </p:spPr>
      </p:sp>
      <p:sp>
        <p:nvSpPr>
          <p:cNvPr id="6" name="Text 4"/>
          <p:cNvSpPr txBox="1"/>
          <p:nvPr/>
        </p:nvSpPr>
        <p:spPr>
          <a:xfrm>
            <a:off x="960120" y="2148840"/>
            <a:ext cx="1280160" cy="329184"/>
          </a:xfrm>
          <a:prstGeom prst="rect">
            <a:avLst/>
          </a:prstGeom>
          <a:noFill/>
          <a:ln/>
        </p:spPr>
        <p:txBody>
          <a:bodyPr wrap="square" lIns="0" tIns="0" rIns="0" bIns="0" rtlCol="0" anchor="ctr"/>
          <a:lstStyle/>
          <a:p>
            <a:pPr indent="0" marL="0">
              <a:buNone/>
            </a:pPr>
            <a:r>
              <a:rPr lang="en-US" sz="2200" dirty="0">
                <a:solidFill>
                  <a:srgbClr val="C3A965"/>
                </a:solidFill>
                <a:latin typeface="Cambria" pitchFamily="34" charset="0"/>
                <a:ea typeface="Cambria" pitchFamily="34" charset="-122"/>
                <a:cs typeface="Cambria" pitchFamily="34" charset="-120"/>
              </a:rPr>
              <a:t>5 min</a:t>
            </a:r>
            <a:endParaRPr lang="en-US" sz="2200" dirty="0"/>
          </a:p>
        </p:txBody>
      </p:sp>
      <p:sp>
        <p:nvSpPr>
          <p:cNvPr id="7" name="Text 5"/>
          <p:cNvSpPr txBox="1"/>
          <p:nvPr/>
        </p:nvSpPr>
        <p:spPr>
          <a:xfrm>
            <a:off x="2103120" y="2212848"/>
            <a:ext cx="1828800" cy="274320"/>
          </a:xfrm>
          <a:prstGeom prst="rect">
            <a:avLst/>
          </a:prstGeom>
          <a:noFill/>
          <a:ln/>
        </p:spPr>
        <p:txBody>
          <a:bodyPr wrap="square" lIns="0" tIns="0" rIns="0" bIns="0" rtlCol="0" anchor="ctr"/>
          <a:lstStyle/>
          <a:p>
            <a:pPr indent="0" marL="0">
              <a:buNone/>
            </a:pPr>
            <a:r>
              <a:rPr lang="en-US" sz="1250" b="1" dirty="0">
                <a:solidFill>
                  <a:srgbClr val="162947"/>
                </a:solidFill>
                <a:latin typeface="Arial" pitchFamily="34" charset="0"/>
                <a:ea typeface="Arial" pitchFamily="34" charset="-122"/>
                <a:cs typeface="Arial" pitchFamily="34" charset="-120"/>
              </a:rPr>
              <a:t>Method drill</a:t>
            </a:r>
            <a:endParaRPr lang="en-US" sz="1250" dirty="0"/>
          </a:p>
        </p:txBody>
      </p:sp>
      <p:sp>
        <p:nvSpPr>
          <p:cNvPr id="8" name="Text 6"/>
          <p:cNvSpPr txBox="1"/>
          <p:nvPr/>
        </p:nvSpPr>
        <p:spPr>
          <a:xfrm>
            <a:off x="960120" y="2596896"/>
            <a:ext cx="2971800" cy="1024128"/>
          </a:xfrm>
          <a:prstGeom prst="rect">
            <a:avLst/>
          </a:prstGeom>
          <a:noFill/>
          <a:ln/>
        </p:spPr>
        <p:txBody>
          <a:bodyPr wrap="square" lIns="0" tIns="0" rIns="0" bIns="0" rtlCol="0" anchor="t"/>
          <a:lstStyle/>
          <a:p>
            <a:pPr indent="0" marL="0">
              <a:lnSpc>
                <a:spcPts val="1450"/>
              </a:lnSpc>
              <a:buNone/>
            </a:pPr>
            <a:r>
              <a:rPr lang="en-US" sz="1050" dirty="0">
                <a:solidFill>
                  <a:srgbClr val="5D6471"/>
                </a:solidFill>
                <a:latin typeface="Arial" pitchFamily="34" charset="0"/>
                <a:ea typeface="Arial" pitchFamily="34" charset="-122"/>
                <a:cs typeface="Arial" pitchFamily="34" charset="-120"/>
              </a:rPr>
              <a:t>Twenty reps of this week's target skill, written out in full. Timed, and the score is recorded.</a:t>
            </a:r>
            <a:endParaRPr lang="en-US" sz="1050" dirty="0"/>
          </a:p>
        </p:txBody>
      </p:sp>
      <p:sp>
        <p:nvSpPr>
          <p:cNvPr id="9" name="Shape 7"/>
          <p:cNvSpPr/>
          <p:nvPr/>
        </p:nvSpPr>
        <p:spPr>
          <a:xfrm>
            <a:off x="4343400" y="1965960"/>
            <a:ext cx="3502152" cy="1783080"/>
          </a:xfrm>
          <a:prstGeom prst="roundRect">
            <a:avLst>
              <a:gd name="adj" fmla="val 2051"/>
            </a:avLst>
          </a:prstGeom>
          <a:solidFill>
            <a:srgbClr val="FFFFFF"/>
          </a:solidFill>
          <a:ln w="9525">
            <a:solidFill>
              <a:srgbClr val="E3DFD5"/>
            </a:solidFill>
            <a:prstDash val="solid"/>
          </a:ln>
        </p:spPr>
      </p:sp>
      <p:sp>
        <p:nvSpPr>
          <p:cNvPr id="10" name="Text 8"/>
          <p:cNvSpPr txBox="1"/>
          <p:nvPr/>
        </p:nvSpPr>
        <p:spPr>
          <a:xfrm>
            <a:off x="4617720" y="2148840"/>
            <a:ext cx="1280160" cy="329184"/>
          </a:xfrm>
          <a:prstGeom prst="rect">
            <a:avLst/>
          </a:prstGeom>
          <a:noFill/>
          <a:ln/>
        </p:spPr>
        <p:txBody>
          <a:bodyPr wrap="square" lIns="0" tIns="0" rIns="0" bIns="0" rtlCol="0" anchor="ctr"/>
          <a:lstStyle/>
          <a:p>
            <a:pPr indent="0" marL="0">
              <a:buNone/>
            </a:pPr>
            <a:r>
              <a:rPr lang="en-US" sz="2200" dirty="0">
                <a:solidFill>
                  <a:srgbClr val="C3A965"/>
                </a:solidFill>
                <a:latin typeface="Cambria" pitchFamily="34" charset="0"/>
                <a:ea typeface="Cambria" pitchFamily="34" charset="-122"/>
                <a:cs typeface="Cambria" pitchFamily="34" charset="-120"/>
              </a:rPr>
              <a:t>10 min</a:t>
            </a:r>
            <a:endParaRPr lang="en-US" sz="2200" dirty="0"/>
          </a:p>
        </p:txBody>
      </p:sp>
      <p:sp>
        <p:nvSpPr>
          <p:cNvPr id="11" name="Text 9"/>
          <p:cNvSpPr txBox="1"/>
          <p:nvPr/>
        </p:nvSpPr>
        <p:spPr>
          <a:xfrm>
            <a:off x="5760720" y="2212848"/>
            <a:ext cx="1828800" cy="274320"/>
          </a:xfrm>
          <a:prstGeom prst="rect">
            <a:avLst/>
          </a:prstGeom>
          <a:noFill/>
          <a:ln/>
        </p:spPr>
        <p:txBody>
          <a:bodyPr wrap="square" lIns="0" tIns="0" rIns="0" bIns="0" rtlCol="0" anchor="ctr"/>
          <a:lstStyle/>
          <a:p>
            <a:pPr indent="0" marL="0">
              <a:buNone/>
            </a:pPr>
            <a:r>
              <a:rPr lang="en-US" sz="1250" b="1" dirty="0">
                <a:solidFill>
                  <a:srgbClr val="162947"/>
                </a:solidFill>
                <a:latin typeface="Arial" pitchFamily="34" charset="0"/>
                <a:ea typeface="Arial" pitchFamily="34" charset="-122"/>
                <a:cs typeface="Arial" pitchFamily="34" charset="-120"/>
              </a:rPr>
              <a:t>Mixed retrieval</a:t>
            </a:r>
            <a:endParaRPr lang="en-US" sz="1250" dirty="0"/>
          </a:p>
        </p:txBody>
      </p:sp>
      <p:sp>
        <p:nvSpPr>
          <p:cNvPr id="12" name="Text 10"/>
          <p:cNvSpPr txBox="1"/>
          <p:nvPr/>
        </p:nvSpPr>
        <p:spPr>
          <a:xfrm>
            <a:off x="4617720" y="2596896"/>
            <a:ext cx="2971800" cy="1024128"/>
          </a:xfrm>
          <a:prstGeom prst="rect">
            <a:avLst/>
          </a:prstGeom>
          <a:noFill/>
          <a:ln/>
        </p:spPr>
        <p:txBody>
          <a:bodyPr wrap="square" lIns="0" tIns="0" rIns="0" bIns="0" rtlCol="0" anchor="t"/>
          <a:lstStyle/>
          <a:p>
            <a:pPr indent="0" marL="0">
              <a:lnSpc>
                <a:spcPts val="1450"/>
              </a:lnSpc>
              <a:buNone/>
            </a:pPr>
            <a:r>
              <a:rPr lang="en-US" sz="1050" dirty="0">
                <a:solidFill>
                  <a:srgbClr val="5D6471"/>
                </a:solidFill>
                <a:latin typeface="Arial" pitchFamily="34" charset="0"/>
                <a:ea typeface="Arial" pitchFamily="34" charset="-122"/>
                <a:cs typeface="Arial" pitchFamily="34" charset="-120"/>
              </a:rPr>
              <a:t>Six questions from topics already taught, deliberately not grouped by topic, so she has to identify the method first.</a:t>
            </a:r>
            <a:endParaRPr lang="en-US" sz="1050" dirty="0"/>
          </a:p>
        </p:txBody>
      </p:sp>
      <p:sp>
        <p:nvSpPr>
          <p:cNvPr id="13" name="Shape 11"/>
          <p:cNvSpPr/>
          <p:nvPr/>
        </p:nvSpPr>
        <p:spPr>
          <a:xfrm>
            <a:off x="8001000" y="1965960"/>
            <a:ext cx="3502152" cy="1783080"/>
          </a:xfrm>
          <a:prstGeom prst="roundRect">
            <a:avLst>
              <a:gd name="adj" fmla="val 2051"/>
            </a:avLst>
          </a:prstGeom>
          <a:solidFill>
            <a:srgbClr val="FFFFFF"/>
          </a:solidFill>
          <a:ln w="9525">
            <a:solidFill>
              <a:srgbClr val="E3DFD5"/>
            </a:solidFill>
            <a:prstDash val="solid"/>
          </a:ln>
        </p:spPr>
      </p:sp>
      <p:sp>
        <p:nvSpPr>
          <p:cNvPr id="14" name="Text 12"/>
          <p:cNvSpPr txBox="1"/>
          <p:nvPr/>
        </p:nvSpPr>
        <p:spPr>
          <a:xfrm>
            <a:off x="8275320" y="2148840"/>
            <a:ext cx="1280160" cy="329184"/>
          </a:xfrm>
          <a:prstGeom prst="rect">
            <a:avLst/>
          </a:prstGeom>
          <a:noFill/>
          <a:ln/>
        </p:spPr>
        <p:txBody>
          <a:bodyPr wrap="square" lIns="0" tIns="0" rIns="0" bIns="0" rtlCol="0" anchor="ctr"/>
          <a:lstStyle/>
          <a:p>
            <a:pPr indent="0" marL="0">
              <a:buNone/>
            </a:pPr>
            <a:r>
              <a:rPr lang="en-US" sz="2200" dirty="0">
                <a:solidFill>
                  <a:srgbClr val="C3A965"/>
                </a:solidFill>
                <a:latin typeface="Cambria" pitchFamily="34" charset="0"/>
                <a:ea typeface="Cambria" pitchFamily="34" charset="-122"/>
                <a:cs typeface="Cambria" pitchFamily="34" charset="-120"/>
              </a:rPr>
              <a:t>5 min</a:t>
            </a:r>
            <a:endParaRPr lang="en-US" sz="2200" dirty="0"/>
          </a:p>
        </p:txBody>
      </p:sp>
      <p:sp>
        <p:nvSpPr>
          <p:cNvPr id="15" name="Text 13"/>
          <p:cNvSpPr txBox="1"/>
          <p:nvPr/>
        </p:nvSpPr>
        <p:spPr>
          <a:xfrm>
            <a:off x="9418320" y="2212848"/>
            <a:ext cx="1828800" cy="274320"/>
          </a:xfrm>
          <a:prstGeom prst="rect">
            <a:avLst/>
          </a:prstGeom>
          <a:noFill/>
          <a:ln/>
        </p:spPr>
        <p:txBody>
          <a:bodyPr wrap="square" lIns="0" tIns="0" rIns="0" bIns="0" rtlCol="0" anchor="ctr"/>
          <a:lstStyle/>
          <a:p>
            <a:pPr indent="0" marL="0">
              <a:buNone/>
            </a:pPr>
            <a:r>
              <a:rPr lang="en-US" sz="1250" b="1" dirty="0">
                <a:solidFill>
                  <a:srgbClr val="162947"/>
                </a:solidFill>
                <a:latin typeface="Arial" pitchFamily="34" charset="0"/>
                <a:ea typeface="Arial" pitchFamily="34" charset="-122"/>
                <a:cs typeface="Arial" pitchFamily="34" charset="-120"/>
              </a:rPr>
              <a:t>Error log</a:t>
            </a:r>
            <a:endParaRPr lang="en-US" sz="1250" dirty="0"/>
          </a:p>
        </p:txBody>
      </p:sp>
      <p:sp>
        <p:nvSpPr>
          <p:cNvPr id="16" name="Text 14"/>
          <p:cNvSpPr txBox="1"/>
          <p:nvPr/>
        </p:nvSpPr>
        <p:spPr>
          <a:xfrm>
            <a:off x="8275320" y="2596896"/>
            <a:ext cx="2971800" cy="1024128"/>
          </a:xfrm>
          <a:prstGeom prst="rect">
            <a:avLst/>
          </a:prstGeom>
          <a:noFill/>
          <a:ln/>
        </p:spPr>
        <p:txBody>
          <a:bodyPr wrap="square" lIns="0" tIns="0" rIns="0" bIns="0" rtlCol="0" anchor="t"/>
          <a:lstStyle/>
          <a:p>
            <a:pPr indent="0" marL="0">
              <a:lnSpc>
                <a:spcPts val="1450"/>
              </a:lnSpc>
              <a:buNone/>
            </a:pPr>
            <a:r>
              <a:rPr lang="en-US" sz="1050" dirty="0">
                <a:solidFill>
                  <a:srgbClr val="5D6471"/>
                </a:solidFill>
                <a:latin typeface="Arial" pitchFamily="34" charset="0"/>
                <a:ea typeface="Arial" pitchFamily="34" charset="-122"/>
                <a:cs typeface="Arial" pitchFamily="34" charset="-120"/>
              </a:rPr>
              <a:t>Read it, then redo two past errors without looking at the correction.</a:t>
            </a:r>
            <a:endParaRPr lang="en-US" sz="1050" dirty="0"/>
          </a:p>
        </p:txBody>
      </p:sp>
      <p:sp>
        <p:nvSpPr>
          <p:cNvPr id="17" name="Shape 15"/>
          <p:cNvSpPr/>
          <p:nvPr/>
        </p:nvSpPr>
        <p:spPr>
          <a:xfrm>
            <a:off x="685800" y="4069080"/>
            <a:ext cx="347472" cy="347472"/>
          </a:xfrm>
          <a:prstGeom prst="ellipse">
            <a:avLst/>
          </a:prstGeom>
          <a:solidFill>
            <a:srgbClr val="162947"/>
          </a:solidFill>
          <a:ln/>
        </p:spPr>
      </p:sp>
      <p:sp>
        <p:nvSpPr>
          <p:cNvPr id="18" name="Text 16"/>
          <p:cNvSpPr txBox="1"/>
          <p:nvPr/>
        </p:nvSpPr>
        <p:spPr>
          <a:xfrm>
            <a:off x="685800" y="4069080"/>
            <a:ext cx="347472" cy="347472"/>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1</a:t>
            </a:r>
            <a:endParaRPr lang="en-US" sz="1500" dirty="0"/>
          </a:p>
        </p:txBody>
      </p:sp>
      <p:sp>
        <p:nvSpPr>
          <p:cNvPr id="19" name="Text 17"/>
          <p:cNvSpPr txBox="1"/>
          <p:nvPr/>
        </p:nvSpPr>
        <p:spPr>
          <a:xfrm>
            <a:off x="685800" y="4498848"/>
            <a:ext cx="2011680" cy="512064"/>
          </a:xfrm>
          <a:prstGeom prst="rect">
            <a:avLst/>
          </a:prstGeom>
          <a:noFill/>
          <a:ln/>
        </p:spPr>
        <p:txBody>
          <a:bodyPr wrap="square" lIns="0" tIns="0" rIns="0" bIns="0" rtlCol="0" anchor="ctr"/>
          <a:lstStyle/>
          <a:p>
            <a:pPr indent="0" marL="0">
              <a:lnSpc>
                <a:spcPts val="1450"/>
              </a:lnSpc>
              <a:buNone/>
            </a:pPr>
            <a:r>
              <a:rPr lang="en-US" sz="1100" b="1" dirty="0">
                <a:solidFill>
                  <a:srgbClr val="162947"/>
                </a:solidFill>
                <a:latin typeface="Arial" pitchFamily="34" charset="0"/>
                <a:ea typeface="Arial" pitchFamily="34" charset="-122"/>
                <a:cs typeface="Arial" pitchFamily="34" charset="-120"/>
              </a:rPr>
              <a:t>No new learning at home</a:t>
            </a:r>
            <a:endParaRPr lang="en-US" sz="1100" dirty="0"/>
          </a:p>
        </p:txBody>
      </p:sp>
      <p:sp>
        <p:nvSpPr>
          <p:cNvPr id="20" name="Shape 18"/>
          <p:cNvSpPr/>
          <p:nvPr/>
        </p:nvSpPr>
        <p:spPr>
          <a:xfrm>
            <a:off x="2880360" y="4069080"/>
            <a:ext cx="347472" cy="347472"/>
          </a:xfrm>
          <a:prstGeom prst="ellipse">
            <a:avLst/>
          </a:prstGeom>
          <a:solidFill>
            <a:srgbClr val="162947"/>
          </a:solidFill>
          <a:ln/>
        </p:spPr>
      </p:sp>
      <p:sp>
        <p:nvSpPr>
          <p:cNvPr id="21" name="Text 19"/>
          <p:cNvSpPr txBox="1"/>
          <p:nvPr/>
        </p:nvSpPr>
        <p:spPr>
          <a:xfrm>
            <a:off x="2880360" y="4069080"/>
            <a:ext cx="347472" cy="347472"/>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2</a:t>
            </a:r>
            <a:endParaRPr lang="en-US" sz="1500" dirty="0"/>
          </a:p>
        </p:txBody>
      </p:sp>
      <p:sp>
        <p:nvSpPr>
          <p:cNvPr id="22" name="Text 20"/>
          <p:cNvSpPr txBox="1"/>
          <p:nvPr/>
        </p:nvSpPr>
        <p:spPr>
          <a:xfrm>
            <a:off x="2880360" y="4498848"/>
            <a:ext cx="2011680" cy="512064"/>
          </a:xfrm>
          <a:prstGeom prst="rect">
            <a:avLst/>
          </a:prstGeom>
          <a:noFill/>
          <a:ln/>
        </p:spPr>
        <p:txBody>
          <a:bodyPr wrap="square" lIns="0" tIns="0" rIns="0" bIns="0" rtlCol="0" anchor="ctr"/>
          <a:lstStyle/>
          <a:p>
            <a:pPr indent="0" marL="0">
              <a:lnSpc>
                <a:spcPts val="1450"/>
              </a:lnSpc>
              <a:buNone/>
            </a:pPr>
            <a:r>
              <a:rPr lang="en-US" sz="1100" b="1" dirty="0">
                <a:solidFill>
                  <a:srgbClr val="162947"/>
                </a:solidFill>
                <a:latin typeface="Arial" pitchFamily="34" charset="0"/>
                <a:ea typeface="Arial" pitchFamily="34" charset="-122"/>
                <a:cs typeface="Arial" pitchFamily="34" charset="-120"/>
              </a:rPr>
              <a:t>She marks her own work</a:t>
            </a:r>
            <a:endParaRPr lang="en-US" sz="1100" dirty="0"/>
          </a:p>
        </p:txBody>
      </p:sp>
      <p:sp>
        <p:nvSpPr>
          <p:cNvPr id="23" name="Shape 21"/>
          <p:cNvSpPr/>
          <p:nvPr/>
        </p:nvSpPr>
        <p:spPr>
          <a:xfrm>
            <a:off x="5074920" y="4069080"/>
            <a:ext cx="347472" cy="347472"/>
          </a:xfrm>
          <a:prstGeom prst="ellipse">
            <a:avLst/>
          </a:prstGeom>
          <a:solidFill>
            <a:srgbClr val="162947"/>
          </a:solidFill>
          <a:ln/>
        </p:spPr>
      </p:sp>
      <p:sp>
        <p:nvSpPr>
          <p:cNvPr id="24" name="Text 22"/>
          <p:cNvSpPr txBox="1"/>
          <p:nvPr/>
        </p:nvSpPr>
        <p:spPr>
          <a:xfrm>
            <a:off x="5074920" y="4069080"/>
            <a:ext cx="347472" cy="347472"/>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3</a:t>
            </a:r>
            <a:endParaRPr lang="en-US" sz="1500" dirty="0"/>
          </a:p>
        </p:txBody>
      </p:sp>
      <p:sp>
        <p:nvSpPr>
          <p:cNvPr id="25" name="Text 23"/>
          <p:cNvSpPr txBox="1"/>
          <p:nvPr/>
        </p:nvSpPr>
        <p:spPr>
          <a:xfrm>
            <a:off x="5074920" y="4498848"/>
            <a:ext cx="2011680" cy="512064"/>
          </a:xfrm>
          <a:prstGeom prst="rect">
            <a:avLst/>
          </a:prstGeom>
          <a:noFill/>
          <a:ln/>
        </p:spPr>
        <p:txBody>
          <a:bodyPr wrap="square" lIns="0" tIns="0" rIns="0" bIns="0" rtlCol="0" anchor="ctr"/>
          <a:lstStyle/>
          <a:p>
            <a:pPr indent="0" marL="0">
              <a:lnSpc>
                <a:spcPts val="1450"/>
              </a:lnSpc>
              <a:buNone/>
            </a:pPr>
            <a:r>
              <a:rPr lang="en-US" sz="1100" b="1" dirty="0">
                <a:solidFill>
                  <a:srgbClr val="162947"/>
                </a:solidFill>
                <a:latin typeface="Arial" pitchFamily="34" charset="0"/>
                <a:ea typeface="Arial" pitchFamily="34" charset="-122"/>
                <a:cs typeface="Arial" pitchFamily="34" charset="-120"/>
              </a:rPr>
              <a:t>Same time every day</a:t>
            </a:r>
            <a:endParaRPr lang="en-US" sz="1100" dirty="0"/>
          </a:p>
        </p:txBody>
      </p:sp>
      <p:sp>
        <p:nvSpPr>
          <p:cNvPr id="26" name="Shape 24"/>
          <p:cNvSpPr/>
          <p:nvPr/>
        </p:nvSpPr>
        <p:spPr>
          <a:xfrm>
            <a:off x="7269480" y="4069080"/>
            <a:ext cx="347472" cy="347472"/>
          </a:xfrm>
          <a:prstGeom prst="ellipse">
            <a:avLst/>
          </a:prstGeom>
          <a:solidFill>
            <a:srgbClr val="162947"/>
          </a:solidFill>
          <a:ln/>
        </p:spPr>
      </p:sp>
      <p:sp>
        <p:nvSpPr>
          <p:cNvPr id="27" name="Text 25"/>
          <p:cNvSpPr txBox="1"/>
          <p:nvPr/>
        </p:nvSpPr>
        <p:spPr>
          <a:xfrm>
            <a:off x="7269480" y="4069080"/>
            <a:ext cx="347472" cy="347472"/>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4</a:t>
            </a:r>
            <a:endParaRPr lang="en-US" sz="1500" dirty="0"/>
          </a:p>
        </p:txBody>
      </p:sp>
      <p:sp>
        <p:nvSpPr>
          <p:cNvPr id="28" name="Text 26"/>
          <p:cNvSpPr txBox="1"/>
          <p:nvPr/>
        </p:nvSpPr>
        <p:spPr>
          <a:xfrm>
            <a:off x="7269480" y="4498848"/>
            <a:ext cx="2011680" cy="512064"/>
          </a:xfrm>
          <a:prstGeom prst="rect">
            <a:avLst/>
          </a:prstGeom>
          <a:noFill/>
          <a:ln/>
        </p:spPr>
        <p:txBody>
          <a:bodyPr wrap="square" lIns="0" tIns="0" rIns="0" bIns="0" rtlCol="0" anchor="ctr"/>
          <a:lstStyle/>
          <a:p>
            <a:pPr indent="0" marL="0">
              <a:lnSpc>
                <a:spcPts val="1450"/>
              </a:lnSpc>
              <a:buNone/>
            </a:pPr>
            <a:r>
              <a:rPr lang="en-US" sz="1100" b="1" dirty="0">
                <a:solidFill>
                  <a:srgbClr val="162947"/>
                </a:solidFill>
                <a:latin typeface="Arial" pitchFamily="34" charset="0"/>
                <a:ea typeface="Arial" pitchFamily="34" charset="-122"/>
                <a:cs typeface="Arial" pitchFamily="34" charset="-120"/>
              </a:rPr>
              <a:t>Sunday is five minutes, error log only</a:t>
            </a:r>
            <a:endParaRPr lang="en-US" sz="1100" dirty="0"/>
          </a:p>
        </p:txBody>
      </p:sp>
      <p:sp>
        <p:nvSpPr>
          <p:cNvPr id="29" name="Shape 27"/>
          <p:cNvSpPr/>
          <p:nvPr/>
        </p:nvSpPr>
        <p:spPr>
          <a:xfrm>
            <a:off x="9464040" y="4069080"/>
            <a:ext cx="347472" cy="347472"/>
          </a:xfrm>
          <a:prstGeom prst="ellipse">
            <a:avLst/>
          </a:prstGeom>
          <a:solidFill>
            <a:srgbClr val="162947"/>
          </a:solidFill>
          <a:ln/>
        </p:spPr>
      </p:sp>
      <p:sp>
        <p:nvSpPr>
          <p:cNvPr id="30" name="Text 28"/>
          <p:cNvSpPr txBox="1"/>
          <p:nvPr/>
        </p:nvSpPr>
        <p:spPr>
          <a:xfrm>
            <a:off x="9464040" y="4069080"/>
            <a:ext cx="347472" cy="347472"/>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5</a:t>
            </a:r>
            <a:endParaRPr lang="en-US" sz="1500" dirty="0"/>
          </a:p>
        </p:txBody>
      </p:sp>
      <p:sp>
        <p:nvSpPr>
          <p:cNvPr id="31" name="Text 29"/>
          <p:cNvSpPr txBox="1"/>
          <p:nvPr/>
        </p:nvSpPr>
        <p:spPr>
          <a:xfrm>
            <a:off x="9464040" y="4498848"/>
            <a:ext cx="2011680" cy="512064"/>
          </a:xfrm>
          <a:prstGeom prst="rect">
            <a:avLst/>
          </a:prstGeom>
          <a:noFill/>
          <a:ln/>
        </p:spPr>
        <p:txBody>
          <a:bodyPr wrap="square" lIns="0" tIns="0" rIns="0" bIns="0" rtlCol="0" anchor="ctr"/>
          <a:lstStyle/>
          <a:p>
            <a:pPr indent="0" marL="0">
              <a:lnSpc>
                <a:spcPts val="1450"/>
              </a:lnSpc>
              <a:buNone/>
            </a:pPr>
            <a:r>
              <a:rPr lang="en-US" sz="1100" b="1" dirty="0">
                <a:solidFill>
                  <a:srgbClr val="162947"/>
                </a:solidFill>
                <a:latin typeface="Arial" pitchFamily="34" charset="0"/>
                <a:ea typeface="Arial" pitchFamily="34" charset="-122"/>
                <a:cs typeface="Arial" pitchFamily="34" charset="-120"/>
              </a:rPr>
              <a:t>Photo of the marked sheet by 8pm</a:t>
            </a:r>
            <a:endParaRPr lang="en-US" sz="1100" dirty="0"/>
          </a:p>
        </p:txBody>
      </p:sp>
      <p:sp>
        <p:nvSpPr>
          <p:cNvPr id="32" name="Shape 30"/>
          <p:cNvSpPr/>
          <p:nvPr/>
        </p:nvSpPr>
        <p:spPr>
          <a:xfrm>
            <a:off x="685800" y="5212080"/>
            <a:ext cx="10817352" cy="914400"/>
          </a:xfrm>
          <a:prstGeom prst="roundRect">
            <a:avLst>
              <a:gd name="adj" fmla="val 4000"/>
            </a:avLst>
          </a:prstGeom>
          <a:solidFill>
            <a:srgbClr val="162947"/>
          </a:solidFill>
          <a:ln/>
        </p:spPr>
      </p:sp>
      <p:sp>
        <p:nvSpPr>
          <p:cNvPr id="33" name="Text 31"/>
          <p:cNvSpPr txBox="1"/>
          <p:nvPr/>
        </p:nvSpPr>
        <p:spPr>
          <a:xfrm>
            <a:off x="1005840" y="5376672"/>
            <a:ext cx="10149840" cy="256032"/>
          </a:xfrm>
          <a:prstGeom prst="rect">
            <a:avLst/>
          </a:prstGeom>
          <a:noFill/>
          <a:ln/>
        </p:spPr>
        <p:txBody>
          <a:bodyPr wrap="square" lIns="0" tIns="0" rIns="0" bIns="0" rtlCol="0" anchor="ctr"/>
          <a:lstStyle/>
          <a:p>
            <a:pPr indent="0" marL="0">
              <a:buNone/>
            </a:pPr>
            <a:r>
              <a:rPr lang="en-US" sz="1250" b="1" dirty="0">
                <a:solidFill>
                  <a:srgbClr val="C3A965"/>
                </a:solidFill>
                <a:latin typeface="Arial" pitchFamily="34" charset="0"/>
                <a:ea typeface="Arial" pitchFamily="34" charset="-122"/>
                <a:cs typeface="Arial" pitchFamily="34" charset="-120"/>
              </a:rPr>
              <a:t>If the daily work is not happening by the end of week 2, that is the problem we solve before we teach anything else.</a:t>
            </a:r>
            <a:endParaRPr lang="en-US" sz="1250" dirty="0"/>
          </a:p>
        </p:txBody>
      </p:sp>
      <p:sp>
        <p:nvSpPr>
          <p:cNvPr id="34" name="Text 32"/>
          <p:cNvSpPr txBox="1"/>
          <p:nvPr/>
        </p:nvSpPr>
        <p:spPr>
          <a:xfrm>
            <a:off x="1005840" y="5669280"/>
            <a:ext cx="10149840" cy="310896"/>
          </a:xfrm>
          <a:prstGeom prst="rect">
            <a:avLst/>
          </a:prstGeom>
          <a:noFill/>
          <a:ln/>
        </p:spPr>
        <p:txBody>
          <a:bodyPr wrap="square" lIns="0" tIns="0" rIns="0" bIns="0" rtlCol="0" anchor="ctr"/>
          <a:lstStyle/>
          <a:p>
            <a:pPr indent="0" marL="0">
              <a:buNone/>
            </a:pPr>
            <a:r>
              <a:rPr lang="en-US" sz="1100" dirty="0">
                <a:solidFill>
                  <a:srgbClr val="A8B2C2"/>
                </a:solidFill>
                <a:latin typeface="Arial" pitchFamily="34" charset="0"/>
                <a:ea typeface="Arial" pitchFamily="34" charset="-122"/>
                <a:cs typeface="Arial" pitchFamily="34" charset="-120"/>
              </a:rPr>
              <a:t>A plan that assumes twelve hours of home practice and gets three is a different plan. We would drop the week 5 shape content to three topics and put the time into the number and algebra weeks instead.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PROGRESS</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Two numbers, and what we do about them</a:t>
            </a:r>
            <a:endParaRPr lang="en-US" sz="3300" dirty="0"/>
          </a:p>
        </p:txBody>
      </p:sp>
      <p:sp>
        <p:nvSpPr>
          <p:cNvPr id="4" name="Text 2"/>
          <p:cNvSpPr txBox="1"/>
          <p:nvPr/>
        </p:nvSpPr>
        <p:spPr>
          <a:xfrm>
            <a:off x="685800" y="1481328"/>
            <a:ext cx="10424160" cy="274320"/>
          </a:xfrm>
          <a:prstGeom prst="rect">
            <a:avLst/>
          </a:prstGeom>
          <a:noFill/>
          <a:ln/>
        </p:spPr>
        <p:txBody>
          <a:bodyPr wrap="square" lIns="0" tIns="0" rIns="0" bIns="0" rtlCol="0" anchor="ctr"/>
          <a:lstStyle/>
          <a:p>
            <a:pPr indent="0" marL="0">
              <a:buNone/>
            </a:pPr>
            <a:r>
              <a:rPr lang="en-US" sz="1250" dirty="0">
                <a:solidFill>
                  <a:srgbClr val="5D6471"/>
                </a:solidFill>
                <a:latin typeface="Arial" pitchFamily="34" charset="0"/>
                <a:ea typeface="Arial" pitchFamily="34" charset="-122"/>
                <a:cs typeface="Arial" pitchFamily="34" charset="-120"/>
              </a:rPr>
              <a:t>Her audit score and her marks on a timed paper. Nothing else is tracked, and each checkpoint has a stated response rather than an opinion.</a:t>
            </a:r>
            <a:endParaRPr lang="en-US" sz="1250" dirty="0"/>
          </a:p>
        </p:txBody>
      </p:sp>
      <p:sp>
        <p:nvSpPr>
          <p:cNvPr id="5" name="Shape 3"/>
          <p:cNvSpPr/>
          <p:nvPr/>
        </p:nvSpPr>
        <p:spPr>
          <a:xfrm>
            <a:off x="685800" y="1920240"/>
            <a:ext cx="2587752" cy="2331720"/>
          </a:xfrm>
          <a:prstGeom prst="roundRect">
            <a:avLst>
              <a:gd name="adj" fmla="val 1569"/>
            </a:avLst>
          </a:prstGeom>
          <a:solidFill>
            <a:srgbClr val="FFFFFF"/>
          </a:solidFill>
          <a:ln w="9525">
            <a:solidFill>
              <a:srgbClr val="E3DFD5"/>
            </a:solidFill>
            <a:prstDash val="solid"/>
          </a:ln>
        </p:spPr>
      </p:sp>
      <p:sp>
        <p:nvSpPr>
          <p:cNvPr id="6" name="Text 4"/>
          <p:cNvSpPr txBox="1"/>
          <p:nvPr/>
        </p:nvSpPr>
        <p:spPr>
          <a:xfrm>
            <a:off x="941832" y="2103120"/>
            <a:ext cx="210312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WEEK 1</a:t>
            </a:r>
            <a:endParaRPr lang="en-US" sz="950" dirty="0"/>
          </a:p>
        </p:txBody>
      </p:sp>
      <p:sp>
        <p:nvSpPr>
          <p:cNvPr id="7" name="Text 5"/>
          <p:cNvSpPr txBox="1"/>
          <p:nvPr/>
        </p:nvSpPr>
        <p:spPr>
          <a:xfrm>
            <a:off x="941832" y="2359152"/>
            <a:ext cx="2103120" cy="274320"/>
          </a:xfrm>
          <a:prstGeom prst="rect">
            <a:avLst/>
          </a:prstGeom>
          <a:noFill/>
          <a:ln/>
        </p:spPr>
        <p:txBody>
          <a:bodyPr wrap="square" lIns="0" tIns="0" rIns="0" bIns="0" rtlCol="0" anchor="ctr"/>
          <a:lstStyle/>
          <a:p>
            <a:pPr indent="0" marL="0">
              <a:buNone/>
            </a:pPr>
            <a:r>
              <a:rPr lang="en-US" sz="1250" b="1" dirty="0">
                <a:solidFill>
                  <a:srgbClr val="162947"/>
                </a:solidFill>
                <a:latin typeface="Arial" pitchFamily="34" charset="0"/>
                <a:ea typeface="Arial" pitchFamily="34" charset="-122"/>
                <a:cs typeface="Arial" pitchFamily="34" charset="-120"/>
              </a:rPr>
              <a:t>Baseline</a:t>
            </a:r>
            <a:endParaRPr lang="en-US" sz="1250" dirty="0"/>
          </a:p>
        </p:txBody>
      </p:sp>
      <p:sp>
        <p:nvSpPr>
          <p:cNvPr id="8" name="Text 6"/>
          <p:cNvSpPr txBox="1"/>
          <p:nvPr/>
        </p:nvSpPr>
        <p:spPr>
          <a:xfrm>
            <a:off x="941832" y="2724912"/>
            <a:ext cx="2103120" cy="548640"/>
          </a:xfrm>
          <a:prstGeom prst="rect">
            <a:avLst/>
          </a:prstGeom>
          <a:noFill/>
          <a:ln/>
        </p:spPr>
        <p:txBody>
          <a:bodyPr wrap="square" lIns="0" tIns="0" rIns="0" bIns="0" rtlCol="0" anchor="t"/>
          <a:lstStyle/>
          <a:p>
            <a:pPr indent="0" marL="0">
              <a:lnSpc>
                <a:spcPts val="2000"/>
              </a:lnSpc>
              <a:buNone/>
            </a:pPr>
            <a:r>
              <a:rPr lang="en-US" sz="1700" dirty="0">
                <a:solidFill>
                  <a:srgbClr val="162947"/>
                </a:solidFill>
                <a:latin typeface="Cambria" pitchFamily="34" charset="0"/>
                <a:ea typeface="Cambria" pitchFamily="34" charset="-122"/>
                <a:cs typeface="Cambria" pitchFamily="34" charset="-120"/>
              </a:rPr>
              <a:t>Audit plus a full paper</a:t>
            </a:r>
            <a:endParaRPr lang="en-US" sz="1700" dirty="0"/>
          </a:p>
        </p:txBody>
      </p:sp>
      <p:sp>
        <p:nvSpPr>
          <p:cNvPr id="9" name="Text 7"/>
          <p:cNvSpPr txBox="1"/>
          <p:nvPr/>
        </p:nvSpPr>
        <p:spPr>
          <a:xfrm>
            <a:off x="941832" y="3346704"/>
            <a:ext cx="2103120" cy="777240"/>
          </a:xfrm>
          <a:prstGeom prst="rect">
            <a:avLst/>
          </a:prstGeom>
          <a:noFill/>
          <a:ln/>
        </p:spPr>
        <p:txBody>
          <a:bodyPr wrap="square" lIns="0" tIns="0" rIns="0" bIns="0" rtlCol="0" anchor="t"/>
          <a:lstStyle/>
          <a:p>
            <a:pPr indent="0" marL="0">
              <a:lnSpc>
                <a:spcPts val="1450"/>
              </a:lnSpc>
              <a:buNone/>
            </a:pPr>
            <a:r>
              <a:rPr lang="en-US" sz="1050" dirty="0">
                <a:solidFill>
                  <a:srgbClr val="5D6471"/>
                </a:solidFill>
                <a:latin typeface="Arial" pitchFamily="34" charset="0"/>
                <a:ea typeface="Arial" pitchFamily="34" charset="-122"/>
                <a:cs typeface="Arial" pitchFamily="34" charset="-120"/>
              </a:rPr>
              <a:t>Recorded, not graded. This is the map.</a:t>
            </a:r>
            <a:endParaRPr lang="en-US" sz="1050" dirty="0"/>
          </a:p>
        </p:txBody>
      </p:sp>
      <p:sp>
        <p:nvSpPr>
          <p:cNvPr id="10" name="Shape 8"/>
          <p:cNvSpPr/>
          <p:nvPr/>
        </p:nvSpPr>
        <p:spPr>
          <a:xfrm>
            <a:off x="3429000" y="1920240"/>
            <a:ext cx="2587752" cy="2331720"/>
          </a:xfrm>
          <a:prstGeom prst="roundRect">
            <a:avLst>
              <a:gd name="adj" fmla="val 1569"/>
            </a:avLst>
          </a:prstGeom>
          <a:solidFill>
            <a:srgbClr val="FFFFFF"/>
          </a:solidFill>
          <a:ln w="9525">
            <a:solidFill>
              <a:srgbClr val="E3DFD5"/>
            </a:solidFill>
            <a:prstDash val="solid"/>
          </a:ln>
        </p:spPr>
      </p:sp>
      <p:sp>
        <p:nvSpPr>
          <p:cNvPr id="11" name="Text 9"/>
          <p:cNvSpPr txBox="1"/>
          <p:nvPr/>
        </p:nvSpPr>
        <p:spPr>
          <a:xfrm>
            <a:off x="3685032" y="2103120"/>
            <a:ext cx="210312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WEEK 3</a:t>
            </a:r>
            <a:endParaRPr lang="en-US" sz="950" dirty="0"/>
          </a:p>
        </p:txBody>
      </p:sp>
      <p:sp>
        <p:nvSpPr>
          <p:cNvPr id="12" name="Text 10"/>
          <p:cNvSpPr txBox="1"/>
          <p:nvPr/>
        </p:nvSpPr>
        <p:spPr>
          <a:xfrm>
            <a:off x="3685032" y="2359152"/>
            <a:ext cx="2103120" cy="274320"/>
          </a:xfrm>
          <a:prstGeom prst="rect">
            <a:avLst/>
          </a:prstGeom>
          <a:noFill/>
          <a:ln/>
        </p:spPr>
        <p:txBody>
          <a:bodyPr wrap="square" lIns="0" tIns="0" rIns="0" bIns="0" rtlCol="0" anchor="ctr"/>
          <a:lstStyle/>
          <a:p>
            <a:pPr indent="0" marL="0">
              <a:buNone/>
            </a:pPr>
            <a:r>
              <a:rPr lang="en-US" sz="1250" b="1" dirty="0">
                <a:solidFill>
                  <a:srgbClr val="162947"/>
                </a:solidFill>
                <a:latin typeface="Arial" pitchFamily="34" charset="0"/>
                <a:ea typeface="Arial" pitchFamily="34" charset="-122"/>
                <a:cs typeface="Arial" pitchFamily="34" charset="-120"/>
              </a:rPr>
              <a:t>Checkpoint 1</a:t>
            </a:r>
            <a:endParaRPr lang="en-US" sz="1250" dirty="0"/>
          </a:p>
        </p:txBody>
      </p:sp>
      <p:sp>
        <p:nvSpPr>
          <p:cNvPr id="13" name="Text 11"/>
          <p:cNvSpPr txBox="1"/>
          <p:nvPr/>
        </p:nvSpPr>
        <p:spPr>
          <a:xfrm>
            <a:off x="3685032" y="2724912"/>
            <a:ext cx="2103120" cy="548640"/>
          </a:xfrm>
          <a:prstGeom prst="rect">
            <a:avLst/>
          </a:prstGeom>
          <a:noFill/>
          <a:ln/>
        </p:spPr>
        <p:txBody>
          <a:bodyPr wrap="square" lIns="0" tIns="0" rIns="0" bIns="0" rtlCol="0" anchor="t"/>
          <a:lstStyle/>
          <a:p>
            <a:pPr indent="0" marL="0">
              <a:lnSpc>
                <a:spcPts val="2000"/>
              </a:lnSpc>
              <a:buNone/>
            </a:pPr>
            <a:r>
              <a:rPr lang="en-US" sz="1700" dirty="0">
                <a:solidFill>
                  <a:srgbClr val="162947"/>
                </a:solidFill>
                <a:latin typeface="Cambria" pitchFamily="34" charset="0"/>
                <a:ea typeface="Cambria" pitchFamily="34" charset="-122"/>
                <a:cs typeface="Cambria" pitchFamily="34" charset="-120"/>
              </a:rPr>
              <a:t>Audit re-run</a:t>
            </a:r>
            <a:endParaRPr lang="en-US" sz="1700" dirty="0"/>
          </a:p>
        </p:txBody>
      </p:sp>
      <p:sp>
        <p:nvSpPr>
          <p:cNvPr id="14" name="Text 12"/>
          <p:cNvSpPr txBox="1"/>
          <p:nvPr/>
        </p:nvSpPr>
        <p:spPr>
          <a:xfrm>
            <a:off x="3685032" y="3346704"/>
            <a:ext cx="2103120" cy="777240"/>
          </a:xfrm>
          <a:prstGeom prst="rect">
            <a:avLst/>
          </a:prstGeom>
          <a:noFill/>
          <a:ln/>
        </p:spPr>
        <p:txBody>
          <a:bodyPr wrap="square" lIns="0" tIns="0" rIns="0" bIns="0" rtlCol="0" anchor="t"/>
          <a:lstStyle/>
          <a:p>
            <a:pPr indent="0" marL="0">
              <a:lnSpc>
                <a:spcPts val="1450"/>
              </a:lnSpc>
              <a:buNone/>
            </a:pPr>
            <a:r>
              <a:rPr lang="en-US" sz="1050" dirty="0">
                <a:solidFill>
                  <a:srgbClr val="5D6471"/>
                </a:solidFill>
                <a:latin typeface="Arial" pitchFamily="34" charset="0"/>
                <a:ea typeface="Arial" pitchFamily="34" charset="-122"/>
                <a:cs typeface="Arial" pitchFamily="34" charset="-120"/>
              </a:rPr>
              <a:t>Bottleneck scores should have moved.</a:t>
            </a:r>
            <a:endParaRPr lang="en-US" sz="1050" dirty="0"/>
          </a:p>
        </p:txBody>
      </p:sp>
      <p:sp>
        <p:nvSpPr>
          <p:cNvPr id="15" name="Shape 13"/>
          <p:cNvSpPr/>
          <p:nvPr/>
        </p:nvSpPr>
        <p:spPr>
          <a:xfrm>
            <a:off x="6172200" y="1920240"/>
            <a:ext cx="2587752" cy="2331720"/>
          </a:xfrm>
          <a:prstGeom prst="roundRect">
            <a:avLst>
              <a:gd name="adj" fmla="val 1569"/>
            </a:avLst>
          </a:prstGeom>
          <a:solidFill>
            <a:srgbClr val="162947"/>
          </a:solidFill>
          <a:ln/>
        </p:spPr>
      </p:sp>
      <p:sp>
        <p:nvSpPr>
          <p:cNvPr id="16" name="Text 14"/>
          <p:cNvSpPr txBox="1"/>
          <p:nvPr/>
        </p:nvSpPr>
        <p:spPr>
          <a:xfrm>
            <a:off x="6428232" y="2103120"/>
            <a:ext cx="210312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WEEK 5</a:t>
            </a:r>
            <a:endParaRPr lang="en-US" sz="950" dirty="0"/>
          </a:p>
        </p:txBody>
      </p:sp>
      <p:sp>
        <p:nvSpPr>
          <p:cNvPr id="17" name="Text 15"/>
          <p:cNvSpPr txBox="1"/>
          <p:nvPr/>
        </p:nvSpPr>
        <p:spPr>
          <a:xfrm>
            <a:off x="6428232" y="2359152"/>
            <a:ext cx="2103120" cy="274320"/>
          </a:xfrm>
          <a:prstGeom prst="rect">
            <a:avLst/>
          </a:prstGeom>
          <a:noFill/>
          <a:ln/>
        </p:spPr>
        <p:txBody>
          <a:bodyPr wrap="square" lIns="0" tIns="0" rIns="0" bIns="0" rtlCol="0" anchor="ctr"/>
          <a:lstStyle/>
          <a:p>
            <a:pPr indent="0" marL="0">
              <a:buNone/>
            </a:pPr>
            <a:r>
              <a:rPr lang="en-US" sz="1250" b="1" dirty="0">
                <a:solidFill>
                  <a:srgbClr val="F6F4EF"/>
                </a:solidFill>
                <a:latin typeface="Arial" pitchFamily="34" charset="0"/>
                <a:ea typeface="Arial" pitchFamily="34" charset="-122"/>
                <a:cs typeface="Arial" pitchFamily="34" charset="-120"/>
              </a:rPr>
              <a:t>First full paper</a:t>
            </a:r>
            <a:endParaRPr lang="en-US" sz="1250" dirty="0"/>
          </a:p>
        </p:txBody>
      </p:sp>
      <p:sp>
        <p:nvSpPr>
          <p:cNvPr id="18" name="Text 16"/>
          <p:cNvSpPr txBox="1"/>
          <p:nvPr/>
        </p:nvSpPr>
        <p:spPr>
          <a:xfrm>
            <a:off x="6428232" y="2724912"/>
            <a:ext cx="2103120" cy="548640"/>
          </a:xfrm>
          <a:prstGeom prst="rect">
            <a:avLst/>
          </a:prstGeom>
          <a:noFill/>
          <a:ln/>
        </p:spPr>
        <p:txBody>
          <a:bodyPr wrap="square" lIns="0" tIns="0" rIns="0" bIns="0" rtlCol="0" anchor="t"/>
          <a:lstStyle/>
          <a:p>
            <a:pPr indent="0" marL="0">
              <a:lnSpc>
                <a:spcPts val="2000"/>
              </a:lnSpc>
              <a:buNone/>
            </a:pPr>
            <a:r>
              <a:rPr lang="en-US" sz="1700" dirty="0">
                <a:solidFill>
                  <a:srgbClr val="C3A965"/>
                </a:solidFill>
                <a:latin typeface="Cambria" pitchFamily="34" charset="0"/>
                <a:ea typeface="Cambria" pitchFamily="34" charset="-122"/>
                <a:cs typeface="Cambria" pitchFamily="34" charset="-120"/>
              </a:rPr>
              <a:t>35 / 100 or better</a:t>
            </a:r>
            <a:endParaRPr lang="en-US" sz="1700" dirty="0"/>
          </a:p>
        </p:txBody>
      </p:sp>
      <p:sp>
        <p:nvSpPr>
          <p:cNvPr id="19" name="Text 17"/>
          <p:cNvSpPr txBox="1"/>
          <p:nvPr/>
        </p:nvSpPr>
        <p:spPr>
          <a:xfrm>
            <a:off x="6428232" y="3346704"/>
            <a:ext cx="2103120" cy="777240"/>
          </a:xfrm>
          <a:prstGeom prst="rect">
            <a:avLst/>
          </a:prstGeom>
          <a:noFill/>
          <a:ln/>
        </p:spPr>
        <p:txBody>
          <a:bodyPr wrap="square" lIns="0" tIns="0" rIns="0" bIns="0" rtlCol="0" anchor="t"/>
          <a:lstStyle/>
          <a:p>
            <a:pPr indent="0" marL="0">
              <a:lnSpc>
                <a:spcPts val="1450"/>
              </a:lnSpc>
              <a:buNone/>
            </a:pPr>
            <a:r>
              <a:rPr lang="en-US" sz="1050" dirty="0">
                <a:solidFill>
                  <a:srgbClr val="A8B2C2"/>
                </a:solidFill>
                <a:latin typeface="Arial" pitchFamily="34" charset="0"/>
                <a:ea typeface="Arial" pitchFamily="34" charset="-122"/>
                <a:cs typeface="Arial" pitchFamily="34" charset="-120"/>
              </a:rPr>
              <a:t>On track. Below this, see the rule opposite.</a:t>
            </a:r>
            <a:endParaRPr lang="en-US" sz="1050" dirty="0"/>
          </a:p>
        </p:txBody>
      </p:sp>
      <p:sp>
        <p:nvSpPr>
          <p:cNvPr id="20" name="Shape 18"/>
          <p:cNvSpPr/>
          <p:nvPr/>
        </p:nvSpPr>
        <p:spPr>
          <a:xfrm>
            <a:off x="8915400" y="1920240"/>
            <a:ext cx="2587752" cy="2331720"/>
          </a:xfrm>
          <a:prstGeom prst="roundRect">
            <a:avLst>
              <a:gd name="adj" fmla="val 1569"/>
            </a:avLst>
          </a:prstGeom>
          <a:solidFill>
            <a:srgbClr val="162947"/>
          </a:solidFill>
          <a:ln/>
        </p:spPr>
      </p:sp>
      <p:sp>
        <p:nvSpPr>
          <p:cNvPr id="21" name="Text 19"/>
          <p:cNvSpPr txBox="1"/>
          <p:nvPr/>
        </p:nvSpPr>
        <p:spPr>
          <a:xfrm>
            <a:off x="9171432" y="2103120"/>
            <a:ext cx="2103120" cy="219456"/>
          </a:xfrm>
          <a:prstGeom prst="rect">
            <a:avLst/>
          </a:prstGeom>
          <a:noFill/>
          <a:ln/>
        </p:spPr>
        <p:txBody>
          <a:bodyPr wrap="square" lIns="0" tIns="0" rIns="0" bIns="0" rtlCol="0" anchor="ctr"/>
          <a:lstStyle/>
          <a:p>
            <a:pPr indent="0" marL="0">
              <a:buNone/>
            </a:pPr>
            <a:r>
              <a:rPr lang="en-US" sz="950" b="1" spc="140" kern="0" dirty="0">
                <a:solidFill>
                  <a:srgbClr val="C3A965"/>
                </a:solidFill>
                <a:latin typeface="Arial" pitchFamily="34" charset="0"/>
                <a:ea typeface="Arial" pitchFamily="34" charset="-122"/>
                <a:cs typeface="Arial" pitchFamily="34" charset="-120"/>
              </a:rPr>
              <a:t>WEEK 6</a:t>
            </a:r>
            <a:endParaRPr lang="en-US" sz="950" dirty="0"/>
          </a:p>
        </p:txBody>
      </p:sp>
      <p:sp>
        <p:nvSpPr>
          <p:cNvPr id="22" name="Text 20"/>
          <p:cNvSpPr txBox="1"/>
          <p:nvPr/>
        </p:nvSpPr>
        <p:spPr>
          <a:xfrm>
            <a:off x="9171432" y="2359152"/>
            <a:ext cx="2103120" cy="274320"/>
          </a:xfrm>
          <a:prstGeom prst="rect">
            <a:avLst/>
          </a:prstGeom>
          <a:noFill/>
          <a:ln/>
        </p:spPr>
        <p:txBody>
          <a:bodyPr wrap="square" lIns="0" tIns="0" rIns="0" bIns="0" rtlCol="0" anchor="ctr"/>
          <a:lstStyle/>
          <a:p>
            <a:pPr indent="0" marL="0">
              <a:buNone/>
            </a:pPr>
            <a:r>
              <a:rPr lang="en-US" sz="1250" b="1" dirty="0">
                <a:solidFill>
                  <a:srgbClr val="F6F4EF"/>
                </a:solidFill>
                <a:latin typeface="Arial" pitchFamily="34" charset="0"/>
                <a:ea typeface="Arial" pitchFamily="34" charset="-122"/>
                <a:cs typeface="Arial" pitchFamily="34" charset="-120"/>
              </a:rPr>
              <a:t>Second full paper</a:t>
            </a:r>
            <a:endParaRPr lang="en-US" sz="1250" dirty="0"/>
          </a:p>
        </p:txBody>
      </p:sp>
      <p:sp>
        <p:nvSpPr>
          <p:cNvPr id="23" name="Text 21"/>
          <p:cNvSpPr txBox="1"/>
          <p:nvPr/>
        </p:nvSpPr>
        <p:spPr>
          <a:xfrm>
            <a:off x="9171432" y="2724912"/>
            <a:ext cx="2103120" cy="548640"/>
          </a:xfrm>
          <a:prstGeom prst="rect">
            <a:avLst/>
          </a:prstGeom>
          <a:noFill/>
          <a:ln/>
        </p:spPr>
        <p:txBody>
          <a:bodyPr wrap="square" lIns="0" tIns="0" rIns="0" bIns="0" rtlCol="0" anchor="t"/>
          <a:lstStyle/>
          <a:p>
            <a:pPr indent="0" marL="0">
              <a:lnSpc>
                <a:spcPts val="2000"/>
              </a:lnSpc>
              <a:buNone/>
            </a:pPr>
            <a:r>
              <a:rPr lang="en-US" sz="1700" dirty="0">
                <a:solidFill>
                  <a:srgbClr val="C3A965"/>
                </a:solidFill>
                <a:latin typeface="Cambria" pitchFamily="34" charset="0"/>
                <a:ea typeface="Cambria" pitchFamily="34" charset="-122"/>
                <a:cs typeface="Cambria" pitchFamily="34" charset="-120"/>
              </a:rPr>
              <a:t>40 / 100 or better</a:t>
            </a:r>
            <a:endParaRPr lang="en-US" sz="1700" dirty="0"/>
          </a:p>
        </p:txBody>
      </p:sp>
      <p:sp>
        <p:nvSpPr>
          <p:cNvPr id="24" name="Text 22"/>
          <p:cNvSpPr txBox="1"/>
          <p:nvPr/>
        </p:nvSpPr>
        <p:spPr>
          <a:xfrm>
            <a:off x="9171432" y="3346704"/>
            <a:ext cx="2103120" cy="777240"/>
          </a:xfrm>
          <a:prstGeom prst="rect">
            <a:avLst/>
          </a:prstGeom>
          <a:noFill/>
          <a:ln/>
        </p:spPr>
        <p:txBody>
          <a:bodyPr wrap="square" lIns="0" tIns="0" rIns="0" bIns="0" rtlCol="0" anchor="t"/>
          <a:lstStyle/>
          <a:p>
            <a:pPr indent="0" marL="0">
              <a:lnSpc>
                <a:spcPts val="1450"/>
              </a:lnSpc>
              <a:buNone/>
            </a:pPr>
            <a:r>
              <a:rPr lang="en-US" sz="1050" dirty="0">
                <a:solidFill>
                  <a:srgbClr val="A8B2C2"/>
                </a:solidFill>
                <a:latin typeface="Arial" pitchFamily="34" charset="0"/>
                <a:ea typeface="Arial" pitchFamily="34" charset="-122"/>
                <a:cs typeface="Arial" pitchFamily="34" charset="-120"/>
              </a:rPr>
              <a:t>80 of 200, which is 15 clear of the boundary.</a:t>
            </a:r>
            <a:endParaRPr lang="en-US" sz="1050" dirty="0"/>
          </a:p>
        </p:txBody>
      </p:sp>
      <p:sp>
        <p:nvSpPr>
          <p:cNvPr id="25" name="Shape 23"/>
          <p:cNvSpPr/>
          <p:nvPr/>
        </p:nvSpPr>
        <p:spPr>
          <a:xfrm>
            <a:off x="685800" y="4462272"/>
            <a:ext cx="10817352" cy="1664208"/>
          </a:xfrm>
          <a:prstGeom prst="roundRect">
            <a:avLst>
              <a:gd name="adj" fmla="val 2198"/>
            </a:avLst>
          </a:prstGeom>
          <a:solidFill>
            <a:srgbClr val="EFEBE1"/>
          </a:solidFill>
          <a:ln/>
        </p:spPr>
      </p:sp>
      <p:sp>
        <p:nvSpPr>
          <p:cNvPr id="26" name="Text 24"/>
          <p:cNvSpPr txBox="1"/>
          <p:nvPr/>
        </p:nvSpPr>
        <p:spPr>
          <a:xfrm>
            <a:off x="1005840" y="4617720"/>
            <a:ext cx="4754880" cy="274320"/>
          </a:xfrm>
          <a:prstGeom prst="rect">
            <a:avLst/>
          </a:prstGeom>
          <a:noFill/>
          <a:ln/>
        </p:spPr>
        <p:txBody>
          <a:bodyPr wrap="square" lIns="0" tIns="0" rIns="0" bIns="0" rtlCol="0" anchor="ctr"/>
          <a:lstStyle/>
          <a:p>
            <a:pPr indent="0" marL="0">
              <a:buNone/>
            </a:pPr>
            <a:r>
              <a:rPr lang="en-US" sz="1700" dirty="0">
                <a:solidFill>
                  <a:srgbClr val="162947"/>
                </a:solidFill>
                <a:latin typeface="Cambria" pitchFamily="34" charset="0"/>
                <a:ea typeface="Cambria" pitchFamily="34" charset="-122"/>
                <a:cs typeface="Cambria" pitchFamily="34" charset="-120"/>
              </a:rPr>
              <a:t>What happens if a number comes in low</a:t>
            </a:r>
            <a:endParaRPr lang="en-US" sz="1700" dirty="0"/>
          </a:p>
        </p:txBody>
      </p:sp>
      <p:sp>
        <p:nvSpPr>
          <p:cNvPr id="27" name="Text 25"/>
          <p:cNvSpPr txBox="1"/>
          <p:nvPr/>
        </p:nvSpPr>
        <p:spPr>
          <a:xfrm>
            <a:off x="1005840" y="4983480"/>
            <a:ext cx="6949440" cy="768096"/>
          </a:xfrm>
          <a:prstGeom prst="rect">
            <a:avLst/>
          </a:prstGeom>
          <a:noFill/>
          <a:ln/>
        </p:spPr>
        <p:txBody>
          <a:bodyPr wrap="square" lIns="0" tIns="0" rIns="0" bIns="0" rtlCol="0" anchor="ctr"/>
          <a:lstStyle/>
          <a:p>
            <a:pPr marL="177800" indent="-177800">
              <a:lnSpc>
                <a:spcPts val="1281"/>
              </a:lnSpc>
              <a:spcAft>
                <a:spcPts val="500"/>
              </a:spcAft>
              <a:buSzPct val="100000"/>
              <a:buChar char="•"/>
            </a:pPr>
            <a:r>
              <a:rPr lang="en-US" sz="1050" dirty="0">
                <a:solidFill>
                  <a:srgbClr val="5D6471"/>
                </a:solidFill>
                <a:latin typeface="Arial" pitchFamily="34" charset="0"/>
                <a:ea typeface="Arial" pitchFamily="34" charset="-122"/>
                <a:cs typeface="Arial" pitchFamily="34" charset="-120"/>
              </a:rPr>
              <a:t>Audit has not moved by week 3: the cause is the daily work, and we fix that before adding content.</a:t>
            </a:r>
            <a:endParaRPr lang="en-US" sz="1050" dirty="0"/>
          </a:p>
          <a:p>
            <a:pPr marL="177800" indent="-177800">
              <a:lnSpc>
                <a:spcPts val="1281"/>
              </a:lnSpc>
              <a:spcAft>
                <a:spcPts val="500"/>
              </a:spcAft>
              <a:buSzPct val="100000"/>
              <a:buChar char="•"/>
            </a:pPr>
            <a:r>
              <a:rPr lang="en-US" sz="1050" dirty="0">
                <a:solidFill>
                  <a:srgbClr val="5D6471"/>
                </a:solidFill>
                <a:latin typeface="Arial" pitchFamily="34" charset="0"/>
                <a:ea typeface="Arial" pitchFamily="34" charset="-122"/>
                <a:cs typeface="Arial" pitchFamily="34" charset="-120"/>
              </a:rPr>
              <a:t>Below 35 out of 100 in week 5: week 6 drops the third paper and returns to the two weakest topics on the teach list.</a:t>
            </a:r>
            <a:endParaRPr lang="en-US" sz="1050" dirty="0"/>
          </a:p>
          <a:p>
            <a:pPr marL="177800" indent="-177800">
              <a:lnSpc>
                <a:spcPts val="1281"/>
              </a:lnSpc>
              <a:spcAft>
                <a:spcPts val="500"/>
              </a:spcAft>
              <a:buSzPct val="100000"/>
              <a:buChar char="•"/>
            </a:pPr>
            <a:r>
              <a:rPr lang="en-US" sz="1050" dirty="0">
                <a:solidFill>
                  <a:srgbClr val="5D6471"/>
                </a:solidFill>
                <a:latin typeface="Arial" pitchFamily="34" charset="0"/>
                <a:ea typeface="Arial" pitchFamily="34" charset="-122"/>
                <a:cs typeface="Arial" pitchFamily="34" charset="-120"/>
              </a:rPr>
              <a:t>Above 50 out of 100 in week 5: we add the single-step grade 6 shortlist rather than repeating work she already has.</a:t>
            </a:r>
            <a:endParaRPr lang="en-US" sz="1050" dirty="0"/>
          </a:p>
        </p:txBody>
      </p:sp>
      <p:sp>
        <p:nvSpPr>
          <p:cNvPr id="28" name="Shape 26"/>
          <p:cNvSpPr/>
          <p:nvPr/>
        </p:nvSpPr>
        <p:spPr>
          <a:xfrm>
            <a:off x="8321040" y="4663440"/>
            <a:ext cx="0" cy="0"/>
          </a:xfrm>
          <a:prstGeom prst="line">
            <a:avLst/>
          </a:prstGeom>
          <a:noFill/>
          <a:ln w="9525">
            <a:solidFill>
              <a:srgbClr val="E3DFD5"/>
            </a:solidFill>
            <a:prstDash val="solid"/>
          </a:ln>
        </p:spPr>
      </p:sp>
      <p:sp>
        <p:nvSpPr>
          <p:cNvPr id="29" name="Shape 27"/>
          <p:cNvSpPr/>
          <p:nvPr/>
        </p:nvSpPr>
        <p:spPr>
          <a:xfrm>
            <a:off x="8275320" y="4617720"/>
            <a:ext cx="0" cy="1325880"/>
          </a:xfrm>
          <a:prstGeom prst="line">
            <a:avLst/>
          </a:prstGeom>
          <a:noFill/>
          <a:ln w="9525">
            <a:solidFill>
              <a:srgbClr val="D8D3C6"/>
            </a:solidFill>
            <a:prstDash val="solid"/>
          </a:ln>
        </p:spPr>
      </p:sp>
      <p:sp>
        <p:nvSpPr>
          <p:cNvPr id="30" name="Text 28"/>
          <p:cNvSpPr txBox="1"/>
          <p:nvPr/>
        </p:nvSpPr>
        <p:spPr>
          <a:xfrm>
            <a:off x="8595360" y="4617720"/>
            <a:ext cx="2743200" cy="219456"/>
          </a:xfrm>
          <a:prstGeom prst="rect">
            <a:avLst/>
          </a:prstGeom>
          <a:noFill/>
          <a:ln/>
        </p:spPr>
        <p:txBody>
          <a:bodyPr wrap="square" lIns="0" tIns="0" rIns="0" bIns="0" rtlCol="0" anchor="ctr"/>
          <a:lstStyle/>
          <a:p>
            <a:pPr indent="0" marL="0">
              <a:buNone/>
            </a:pPr>
            <a:r>
              <a:rPr lang="en-US" sz="900" b="1" spc="140" kern="0" dirty="0">
                <a:solidFill>
                  <a:srgbClr val="C3A965"/>
                </a:solidFill>
                <a:latin typeface="Arial" pitchFamily="34" charset="0"/>
                <a:ea typeface="Arial" pitchFamily="34" charset="-122"/>
                <a:cs typeface="Arial" pitchFamily="34" charset="-120"/>
              </a:rPr>
              <a:t>REPORTING</a:t>
            </a:r>
            <a:endParaRPr lang="en-US" sz="900" dirty="0"/>
          </a:p>
        </p:txBody>
      </p:sp>
      <p:sp>
        <p:nvSpPr>
          <p:cNvPr id="31" name="Text 29"/>
          <p:cNvSpPr txBox="1"/>
          <p:nvPr/>
        </p:nvSpPr>
        <p:spPr>
          <a:xfrm>
            <a:off x="8595360" y="4882896"/>
            <a:ext cx="2834640" cy="1005840"/>
          </a:xfrm>
          <a:prstGeom prst="rect">
            <a:avLst/>
          </a:prstGeom>
          <a:noFill/>
          <a:ln/>
        </p:spPr>
        <p:txBody>
          <a:bodyPr wrap="square" lIns="0" tIns="0" rIns="0" bIns="0" rtlCol="0" anchor="ctr"/>
          <a:lstStyle/>
          <a:p>
            <a:pPr indent="0" marL="0">
              <a:lnSpc>
                <a:spcPts val="1500"/>
              </a:lnSpc>
              <a:buNone/>
            </a:pPr>
            <a:r>
              <a:rPr lang="en-US" sz="1100" dirty="0">
                <a:solidFill>
                  <a:srgbClr val="5D6471"/>
                </a:solidFill>
                <a:latin typeface="Arial" pitchFamily="34" charset="0"/>
                <a:ea typeface="Arial" pitchFamily="34" charset="-122"/>
                <a:cs typeface="Arial" pitchFamily="34" charset="-120"/>
              </a:rPr>
              <a:t>After every session you get one line: what we taught, her retrieval score out of six, and whether the homework came back.</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37744"/>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IF SOMETHING GOES WRONG</a:t>
            </a:r>
            <a:endParaRPr lang="en-US" sz="1050" dirty="0"/>
          </a:p>
        </p:txBody>
      </p:sp>
      <p:sp>
        <p:nvSpPr>
          <p:cNvPr id="3"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dirty="0">
                <a:solidFill>
                  <a:srgbClr val="162947"/>
                </a:solidFill>
                <a:latin typeface="Cambria" pitchFamily="34" charset="0"/>
                <a:ea typeface="Cambria" pitchFamily="34" charset="-122"/>
                <a:cs typeface="Cambria" pitchFamily="34" charset="-120"/>
              </a:rPr>
              <a:t>The four things most likely to cost the grade</a:t>
            </a:r>
            <a:endParaRPr lang="en-US" sz="3300" dirty="0"/>
          </a:p>
        </p:txBody>
      </p:sp>
      <p:sp>
        <p:nvSpPr>
          <p:cNvPr id="4" name="Shape 2"/>
          <p:cNvSpPr/>
          <p:nvPr/>
        </p:nvSpPr>
        <p:spPr>
          <a:xfrm>
            <a:off x="685800" y="1627632"/>
            <a:ext cx="5212080" cy="1874520"/>
          </a:xfrm>
          <a:prstGeom prst="roundRect">
            <a:avLst>
              <a:gd name="adj" fmla="val 1951"/>
            </a:avLst>
          </a:prstGeom>
          <a:solidFill>
            <a:srgbClr val="FFFFFF"/>
          </a:solidFill>
          <a:ln w="9525">
            <a:solidFill>
              <a:srgbClr val="E3DFD5"/>
            </a:solidFill>
            <a:prstDash val="solid"/>
          </a:ln>
        </p:spPr>
      </p:sp>
      <p:sp>
        <p:nvSpPr>
          <p:cNvPr id="5" name="Shape 3"/>
          <p:cNvSpPr/>
          <p:nvPr/>
        </p:nvSpPr>
        <p:spPr>
          <a:xfrm>
            <a:off x="1005840" y="1865376"/>
            <a:ext cx="384048" cy="384048"/>
          </a:xfrm>
          <a:prstGeom prst="ellipse">
            <a:avLst/>
          </a:prstGeom>
          <a:solidFill>
            <a:srgbClr val="162947"/>
          </a:solidFill>
          <a:ln/>
        </p:spPr>
      </p:sp>
      <p:sp>
        <p:nvSpPr>
          <p:cNvPr id="6" name="Text 4"/>
          <p:cNvSpPr txBox="1"/>
          <p:nvPr/>
        </p:nvSpPr>
        <p:spPr>
          <a:xfrm>
            <a:off x="1005840" y="1865376"/>
            <a:ext cx="384048" cy="384048"/>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527048" y="1883664"/>
            <a:ext cx="4114800" cy="310896"/>
          </a:xfrm>
          <a:prstGeom prst="rect">
            <a:avLst/>
          </a:prstGeom>
          <a:noFill/>
          <a:ln/>
        </p:spPr>
        <p:txBody>
          <a:bodyPr wrap="square" lIns="0" tIns="0" rIns="0" bIns="0" rtlCol="0" anchor="ctr"/>
          <a:lstStyle/>
          <a:p>
            <a:pPr indent="0" marL="0">
              <a:buNone/>
            </a:pPr>
            <a:r>
              <a:rPr lang="en-US" sz="1700" dirty="0">
                <a:solidFill>
                  <a:srgbClr val="162947"/>
                </a:solidFill>
                <a:latin typeface="Cambria" pitchFamily="34" charset="0"/>
                <a:ea typeface="Cambria" pitchFamily="34" charset="-122"/>
                <a:cs typeface="Cambria" pitchFamily="34" charset="-120"/>
              </a:rPr>
              <a:t>Entry or tier not confirmed</a:t>
            </a:r>
            <a:endParaRPr lang="en-US" sz="1700" dirty="0"/>
          </a:p>
        </p:txBody>
      </p:sp>
      <p:sp>
        <p:nvSpPr>
          <p:cNvPr id="8" name="Text 6"/>
          <p:cNvSpPr txBox="1"/>
          <p:nvPr/>
        </p:nvSpPr>
        <p:spPr>
          <a:xfrm>
            <a:off x="1005840" y="2359152"/>
            <a:ext cx="4572000" cy="1005840"/>
          </a:xfrm>
          <a:prstGeom prst="rect">
            <a:avLst/>
          </a:prstGeom>
          <a:noFill/>
          <a:ln/>
        </p:spPr>
        <p:txBody>
          <a:bodyPr wrap="square" lIns="0" tIns="0" rIns="0" bIns="0" rtlCol="0" anchor="t"/>
          <a:lstStyle/>
          <a:p>
            <a:pPr indent="0" marL="0">
              <a:lnSpc>
                <a:spcPts val="1550"/>
              </a:lnSpc>
              <a:buNone/>
            </a:pPr>
            <a:r>
              <a:rPr lang="en-US" sz="1100" dirty="0">
                <a:solidFill>
                  <a:srgbClr val="5D6471"/>
                </a:solidFill>
                <a:latin typeface="Arial" pitchFamily="34" charset="0"/>
                <a:ea typeface="Arial" pitchFamily="34" charset="-122"/>
                <a:cs typeface="Arial" pitchFamily="34" charset="-120"/>
              </a:rPr>
              <a:t>Confirmed with the school in week 1. The parent owns this one, because late entry deadlines for the November series fall in early October and nothing else in the plan matters if the entry is wrong.</a:t>
            </a:r>
            <a:endParaRPr lang="en-US" sz="1100" dirty="0"/>
          </a:p>
        </p:txBody>
      </p:sp>
      <p:sp>
        <p:nvSpPr>
          <p:cNvPr id="9" name="Shape 7"/>
          <p:cNvSpPr/>
          <p:nvPr/>
        </p:nvSpPr>
        <p:spPr>
          <a:xfrm>
            <a:off x="6291072" y="1627632"/>
            <a:ext cx="5212080" cy="1874520"/>
          </a:xfrm>
          <a:prstGeom prst="roundRect">
            <a:avLst>
              <a:gd name="adj" fmla="val 1951"/>
            </a:avLst>
          </a:prstGeom>
          <a:solidFill>
            <a:srgbClr val="EFEBE1"/>
          </a:solidFill>
          <a:ln w="9525">
            <a:solidFill>
              <a:srgbClr val="E3DFD5"/>
            </a:solidFill>
            <a:prstDash val="solid"/>
          </a:ln>
        </p:spPr>
      </p:sp>
      <p:sp>
        <p:nvSpPr>
          <p:cNvPr id="10" name="Shape 8"/>
          <p:cNvSpPr/>
          <p:nvPr/>
        </p:nvSpPr>
        <p:spPr>
          <a:xfrm>
            <a:off x="6611112" y="1865376"/>
            <a:ext cx="384048" cy="384048"/>
          </a:xfrm>
          <a:prstGeom prst="ellipse">
            <a:avLst/>
          </a:prstGeom>
          <a:solidFill>
            <a:srgbClr val="162947"/>
          </a:solidFill>
          <a:ln/>
        </p:spPr>
      </p:sp>
      <p:sp>
        <p:nvSpPr>
          <p:cNvPr id="11" name="Text 9"/>
          <p:cNvSpPr txBox="1"/>
          <p:nvPr/>
        </p:nvSpPr>
        <p:spPr>
          <a:xfrm>
            <a:off x="6611112" y="1865376"/>
            <a:ext cx="384048" cy="384048"/>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7132320" y="1883664"/>
            <a:ext cx="4114800" cy="310896"/>
          </a:xfrm>
          <a:prstGeom prst="rect">
            <a:avLst/>
          </a:prstGeom>
          <a:noFill/>
          <a:ln/>
        </p:spPr>
        <p:txBody>
          <a:bodyPr wrap="square" lIns="0" tIns="0" rIns="0" bIns="0" rtlCol="0" anchor="ctr"/>
          <a:lstStyle/>
          <a:p>
            <a:pPr indent="0" marL="0">
              <a:buNone/>
            </a:pPr>
            <a:r>
              <a:rPr lang="en-US" sz="1700" dirty="0">
                <a:solidFill>
                  <a:srgbClr val="162947"/>
                </a:solidFill>
                <a:latin typeface="Cambria" pitchFamily="34" charset="0"/>
                <a:ea typeface="Cambria" pitchFamily="34" charset="-122"/>
                <a:cs typeface="Cambria" pitchFamily="34" charset="-120"/>
              </a:rPr>
              <a:t>A week is lost to illness</a:t>
            </a:r>
            <a:endParaRPr lang="en-US" sz="1700" dirty="0"/>
          </a:p>
        </p:txBody>
      </p:sp>
      <p:sp>
        <p:nvSpPr>
          <p:cNvPr id="13" name="Text 11"/>
          <p:cNvSpPr txBox="1"/>
          <p:nvPr/>
        </p:nvSpPr>
        <p:spPr>
          <a:xfrm>
            <a:off x="6611112" y="2359152"/>
            <a:ext cx="4572000" cy="1005840"/>
          </a:xfrm>
          <a:prstGeom prst="rect">
            <a:avLst/>
          </a:prstGeom>
          <a:noFill/>
          <a:ln/>
        </p:spPr>
        <p:txBody>
          <a:bodyPr wrap="square" lIns="0" tIns="0" rIns="0" bIns="0" rtlCol="0" anchor="t"/>
          <a:lstStyle/>
          <a:p>
            <a:pPr indent="0" marL="0">
              <a:lnSpc>
                <a:spcPts val="1550"/>
              </a:lnSpc>
              <a:buNone/>
            </a:pPr>
            <a:r>
              <a:rPr lang="en-US" sz="1100" dirty="0">
                <a:solidFill>
                  <a:srgbClr val="5D6471"/>
                </a:solidFill>
                <a:latin typeface="Arial" pitchFamily="34" charset="0"/>
                <a:ea typeface="Arial" pitchFamily="34" charset="-122"/>
                <a:cs typeface="Arial" pitchFamily="34" charset="-120"/>
              </a:rPr>
              <a:t>Week 6 carries the slack. The third full paper is the first thing dropped, then the pacing session. The teaching weeks are not compressed.</a:t>
            </a:r>
            <a:endParaRPr lang="en-US" sz="1100" dirty="0"/>
          </a:p>
        </p:txBody>
      </p:sp>
      <p:sp>
        <p:nvSpPr>
          <p:cNvPr id="14" name="Shape 12"/>
          <p:cNvSpPr/>
          <p:nvPr/>
        </p:nvSpPr>
        <p:spPr>
          <a:xfrm>
            <a:off x="685800" y="3685032"/>
            <a:ext cx="5212080" cy="1874520"/>
          </a:xfrm>
          <a:prstGeom prst="roundRect">
            <a:avLst>
              <a:gd name="adj" fmla="val 1951"/>
            </a:avLst>
          </a:prstGeom>
          <a:solidFill>
            <a:srgbClr val="FFFFFF"/>
          </a:solidFill>
          <a:ln w="9525">
            <a:solidFill>
              <a:srgbClr val="E3DFD5"/>
            </a:solidFill>
            <a:prstDash val="solid"/>
          </a:ln>
        </p:spPr>
      </p:sp>
      <p:sp>
        <p:nvSpPr>
          <p:cNvPr id="15" name="Shape 13"/>
          <p:cNvSpPr/>
          <p:nvPr/>
        </p:nvSpPr>
        <p:spPr>
          <a:xfrm>
            <a:off x="1005840" y="3922776"/>
            <a:ext cx="384048" cy="384048"/>
          </a:xfrm>
          <a:prstGeom prst="ellipse">
            <a:avLst/>
          </a:prstGeom>
          <a:solidFill>
            <a:srgbClr val="162947"/>
          </a:solidFill>
          <a:ln/>
        </p:spPr>
      </p:sp>
      <p:sp>
        <p:nvSpPr>
          <p:cNvPr id="16" name="Text 14"/>
          <p:cNvSpPr txBox="1"/>
          <p:nvPr/>
        </p:nvSpPr>
        <p:spPr>
          <a:xfrm>
            <a:off x="1005840" y="3922776"/>
            <a:ext cx="384048" cy="384048"/>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527048" y="3941064"/>
            <a:ext cx="4114800" cy="310896"/>
          </a:xfrm>
          <a:prstGeom prst="rect">
            <a:avLst/>
          </a:prstGeom>
          <a:noFill/>
          <a:ln/>
        </p:spPr>
        <p:txBody>
          <a:bodyPr wrap="square" lIns="0" tIns="0" rIns="0" bIns="0" rtlCol="0" anchor="ctr"/>
          <a:lstStyle/>
          <a:p>
            <a:pPr indent="0" marL="0">
              <a:buNone/>
            </a:pPr>
            <a:r>
              <a:rPr lang="en-US" sz="1700" dirty="0">
                <a:solidFill>
                  <a:srgbClr val="162947"/>
                </a:solidFill>
                <a:latin typeface="Cambria" pitchFamily="34" charset="0"/>
                <a:ea typeface="Cambria" pitchFamily="34" charset="-122"/>
                <a:cs typeface="Cambria" pitchFamily="34" charset="-120"/>
              </a:rPr>
              <a:t>The daily work does not happen</a:t>
            </a:r>
            <a:endParaRPr lang="en-US" sz="1700" dirty="0"/>
          </a:p>
        </p:txBody>
      </p:sp>
      <p:sp>
        <p:nvSpPr>
          <p:cNvPr id="18" name="Text 16"/>
          <p:cNvSpPr txBox="1"/>
          <p:nvPr/>
        </p:nvSpPr>
        <p:spPr>
          <a:xfrm>
            <a:off x="1005840" y="4416552"/>
            <a:ext cx="4572000" cy="1005840"/>
          </a:xfrm>
          <a:prstGeom prst="rect">
            <a:avLst/>
          </a:prstGeom>
          <a:noFill/>
          <a:ln/>
        </p:spPr>
        <p:txBody>
          <a:bodyPr wrap="square" lIns="0" tIns="0" rIns="0" bIns="0" rtlCol="0" anchor="t"/>
          <a:lstStyle/>
          <a:p>
            <a:pPr indent="0" marL="0">
              <a:lnSpc>
                <a:spcPts val="1550"/>
              </a:lnSpc>
              <a:buNone/>
            </a:pPr>
            <a:r>
              <a:rPr lang="en-US" sz="1100" dirty="0">
                <a:solidFill>
                  <a:srgbClr val="5D6471"/>
                </a:solidFill>
                <a:latin typeface="Arial" pitchFamily="34" charset="0"/>
                <a:ea typeface="Arial" pitchFamily="34" charset="-122"/>
                <a:cs typeface="Arial" pitchFamily="34" charset="-120"/>
              </a:rPr>
              <a:t>Reviewed at the end of week 2. If it is not running, the shape week is cut to three topics and that time moves to number and algebra.</a:t>
            </a:r>
            <a:endParaRPr lang="en-US" sz="1100" dirty="0"/>
          </a:p>
        </p:txBody>
      </p:sp>
      <p:sp>
        <p:nvSpPr>
          <p:cNvPr id="19" name="Shape 17"/>
          <p:cNvSpPr/>
          <p:nvPr/>
        </p:nvSpPr>
        <p:spPr>
          <a:xfrm>
            <a:off x="6291072" y="3685032"/>
            <a:ext cx="5212080" cy="1874520"/>
          </a:xfrm>
          <a:prstGeom prst="roundRect">
            <a:avLst>
              <a:gd name="adj" fmla="val 1951"/>
            </a:avLst>
          </a:prstGeom>
          <a:solidFill>
            <a:srgbClr val="EFEBE1"/>
          </a:solidFill>
          <a:ln w="9525">
            <a:solidFill>
              <a:srgbClr val="E3DFD5"/>
            </a:solidFill>
            <a:prstDash val="solid"/>
          </a:ln>
        </p:spPr>
      </p:sp>
      <p:sp>
        <p:nvSpPr>
          <p:cNvPr id="20" name="Shape 18"/>
          <p:cNvSpPr/>
          <p:nvPr/>
        </p:nvSpPr>
        <p:spPr>
          <a:xfrm>
            <a:off x="6611112" y="3922776"/>
            <a:ext cx="384048" cy="384048"/>
          </a:xfrm>
          <a:prstGeom prst="ellipse">
            <a:avLst/>
          </a:prstGeom>
          <a:solidFill>
            <a:srgbClr val="162947"/>
          </a:solidFill>
          <a:ln/>
        </p:spPr>
      </p:sp>
      <p:sp>
        <p:nvSpPr>
          <p:cNvPr id="21" name="Text 19"/>
          <p:cNvSpPr txBox="1"/>
          <p:nvPr/>
        </p:nvSpPr>
        <p:spPr>
          <a:xfrm>
            <a:off x="6611112" y="3922776"/>
            <a:ext cx="384048" cy="384048"/>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132320" y="3941064"/>
            <a:ext cx="4114800" cy="310896"/>
          </a:xfrm>
          <a:prstGeom prst="rect">
            <a:avLst/>
          </a:prstGeom>
          <a:noFill/>
          <a:ln/>
        </p:spPr>
        <p:txBody>
          <a:bodyPr wrap="square" lIns="0" tIns="0" rIns="0" bIns="0" rtlCol="0" anchor="ctr"/>
          <a:lstStyle/>
          <a:p>
            <a:pPr indent="0" marL="0">
              <a:buNone/>
            </a:pPr>
            <a:r>
              <a:rPr lang="en-US" sz="1700" dirty="0">
                <a:solidFill>
                  <a:srgbClr val="162947"/>
                </a:solidFill>
                <a:latin typeface="Cambria" pitchFamily="34" charset="0"/>
                <a:ea typeface="Cambria" pitchFamily="34" charset="-122"/>
                <a:cs typeface="Cambria" pitchFamily="34" charset="-120"/>
              </a:rPr>
              <a:t>The audit is worse than expected</a:t>
            </a:r>
            <a:endParaRPr lang="en-US" sz="1700" dirty="0"/>
          </a:p>
        </p:txBody>
      </p:sp>
      <p:sp>
        <p:nvSpPr>
          <p:cNvPr id="23" name="Text 21"/>
          <p:cNvSpPr txBox="1"/>
          <p:nvPr/>
        </p:nvSpPr>
        <p:spPr>
          <a:xfrm>
            <a:off x="6611112" y="4416552"/>
            <a:ext cx="4572000" cy="1005840"/>
          </a:xfrm>
          <a:prstGeom prst="rect">
            <a:avLst/>
          </a:prstGeom>
          <a:noFill/>
          <a:ln/>
        </p:spPr>
        <p:txBody>
          <a:bodyPr wrap="square" lIns="0" tIns="0" rIns="0" bIns="0" rtlCol="0" anchor="t"/>
          <a:lstStyle/>
          <a:p>
            <a:pPr indent="0" marL="0">
              <a:lnSpc>
                <a:spcPts val="1550"/>
              </a:lnSpc>
              <a:buNone/>
            </a:pPr>
            <a:r>
              <a:rPr lang="en-US" sz="1100" dirty="0">
                <a:solidFill>
                  <a:srgbClr val="5D6471"/>
                </a:solidFill>
                <a:latin typeface="Arial" pitchFamily="34" charset="0"/>
                <a:ea typeface="Arial" pitchFamily="34" charset="-122"/>
                <a:cs typeface="Arial" pitchFamily="34" charset="-120"/>
              </a:rPr>
              <a:t>Weeks 2 and 3 hold, and week 4 loses sequences and straight-line graphs. Number and algebra are never the thing we cut.</a:t>
            </a:r>
            <a:endParaRPr lang="en-US" sz="1100" dirty="0"/>
          </a:p>
        </p:txBody>
      </p:sp>
      <p:sp>
        <p:nvSpPr>
          <p:cNvPr id="24" name="Text 22"/>
          <p:cNvSpPr txBox="1"/>
          <p:nvPr/>
        </p:nvSpPr>
        <p:spPr>
          <a:xfrm>
            <a:off x="685800" y="5852160"/>
            <a:ext cx="10817352" cy="274320"/>
          </a:xfrm>
          <a:prstGeom prst="rect">
            <a:avLst/>
          </a:prstGeom>
          <a:noFill/>
          <a:ln/>
        </p:spPr>
        <p:txBody>
          <a:bodyPr wrap="square" lIns="0" tIns="0" rIns="0" bIns="0" rtlCol="0" anchor="ctr"/>
          <a:lstStyle/>
          <a:p>
            <a:pPr indent="0" marL="0">
              <a:buNone/>
            </a:pPr>
            <a:r>
              <a:rPr lang="en-US" sz="1150" dirty="0">
                <a:solidFill>
                  <a:srgbClr val="5D6471"/>
                </a:solidFill>
                <a:latin typeface="Arial" pitchFamily="34" charset="0"/>
                <a:ea typeface="Arial" pitchFamily="34" charset="-122"/>
                <a:cs typeface="Arial" pitchFamily="34" charset="-120"/>
              </a:rPr>
              <a:t>Every item above has a named response and a week by which it is decided. None of them is left to be noticed in week 5.</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947"/>
        </a:solidFill>
      </p:bgPr>
    </p:bg>
    <p:spTree>
      <p:nvGrpSpPr>
        <p:cNvPr id="1" name=""/>
        <p:cNvGrpSpPr/>
        <p:nvPr/>
      </p:nvGrpSpPr>
      <p:grpSpPr>
        <a:xfrm>
          <a:off x="0" y="0"/>
          <a:ext cx="0" cy="0"/>
          <a:chOff x="0" y="0"/>
          <a:chExt cx="0" cy="0"/>
        </a:xfrm>
      </p:grpSpPr>
      <p:sp>
        <p:nvSpPr>
          <p:cNvPr id="2" name="Shape 0"/>
          <p:cNvSpPr/>
          <p:nvPr/>
        </p:nvSpPr>
        <p:spPr>
          <a:xfrm>
            <a:off x="9692640" y="5120640"/>
            <a:ext cx="3108960" cy="3108960"/>
          </a:xfrm>
          <a:prstGeom prst="ellipse">
            <a:avLst/>
          </a:prstGeom>
          <a:solidFill>
            <a:srgbClr val="1C3255"/>
          </a:solidFill>
          <a:ln/>
        </p:spPr>
      </p:sp>
      <p:sp>
        <p:nvSpPr>
          <p:cNvPr id="3" name="Text 1"/>
          <p:cNvSpPr txBox="1"/>
          <p:nvPr/>
        </p:nvSpPr>
        <p:spPr>
          <a:xfrm>
            <a:off x="685800" y="868680"/>
            <a:ext cx="5486400" cy="274320"/>
          </a:xfrm>
          <a:prstGeom prst="rect">
            <a:avLst/>
          </a:prstGeom>
          <a:noFill/>
          <a:ln/>
        </p:spPr>
        <p:txBody>
          <a:bodyPr wrap="square" lIns="0" tIns="0" rIns="0" bIns="0" rtlCol="0" anchor="ctr"/>
          <a:lstStyle/>
          <a:p>
            <a:pPr indent="0" marL="0">
              <a:buNone/>
            </a:pPr>
            <a:r>
              <a:rPr lang="en-US" sz="1050" b="1" spc="260" kern="0" dirty="0">
                <a:solidFill>
                  <a:srgbClr val="C3A965"/>
                </a:solidFill>
                <a:latin typeface="Arial" pitchFamily="34" charset="0"/>
                <a:ea typeface="Arial" pitchFamily="34" charset="-122"/>
                <a:cs typeface="Arial" pitchFamily="34" charset="-120"/>
              </a:rPr>
              <a:t>THE PLAN</a:t>
            </a:r>
            <a:endParaRPr lang="en-US" sz="1050" dirty="0"/>
          </a:p>
        </p:txBody>
      </p:sp>
      <p:sp>
        <p:nvSpPr>
          <p:cNvPr id="4" name="Text 2"/>
          <p:cNvSpPr txBox="1"/>
          <p:nvPr/>
        </p:nvSpPr>
        <p:spPr>
          <a:xfrm>
            <a:off x="685800" y="1325880"/>
            <a:ext cx="10241280" cy="2011680"/>
          </a:xfrm>
          <a:prstGeom prst="rect">
            <a:avLst/>
          </a:prstGeom>
          <a:noFill/>
          <a:ln/>
        </p:spPr>
        <p:txBody>
          <a:bodyPr wrap="square" lIns="0" tIns="0" rIns="0" bIns="0" rtlCol="0" anchor="t"/>
          <a:lstStyle/>
          <a:p>
            <a:pPr indent="0" marL="0">
              <a:lnSpc>
                <a:spcPts val="4400"/>
              </a:lnSpc>
              <a:buNone/>
            </a:pPr>
            <a:r>
              <a:rPr lang="en-US" sz="2800" dirty="0">
                <a:solidFill>
                  <a:srgbClr val="F6F4EF"/>
                </a:solidFill>
                <a:latin typeface="Cambria" pitchFamily="34" charset="0"/>
                <a:ea typeface="Cambria" pitchFamily="34" charset="-122"/>
                <a:cs typeface="Cambria" pitchFamily="34" charset="-120"/>
              </a:rPr>
              <a:t>Fix the fundamentals in number and algebra.</a:t>
            </a:r>
            <a:endParaRPr lang="en-US" sz="2800" dirty="0"/>
          </a:p>
          <a:p>
            <a:pPr indent="0" marL="0">
              <a:lnSpc>
                <a:spcPts val="4400"/>
              </a:lnSpc>
              <a:buNone/>
            </a:pPr>
            <a:r>
              <a:rPr lang="en-US" sz="2800" dirty="0">
                <a:solidFill>
                  <a:srgbClr val="F6F4EF"/>
                </a:solidFill>
                <a:latin typeface="Cambria" pitchFamily="34" charset="0"/>
                <a:ea typeface="Cambria" pitchFamily="34" charset="-122"/>
                <a:cs typeface="Cambria" pitchFamily="34" charset="-120"/>
              </a:rPr>
              <a:t>Teach a pool of about 105 marks and work to 80.</a:t>
            </a:r>
            <a:endParaRPr lang="en-US" sz="2800" dirty="0"/>
          </a:p>
          <a:p>
            <a:pPr indent="0" marL="0">
              <a:lnSpc>
                <a:spcPts val="4400"/>
              </a:lnSpc>
              <a:buNone/>
            </a:pPr>
            <a:r>
              <a:rPr lang="en-US" sz="2800" dirty="0">
                <a:solidFill>
                  <a:srgbClr val="F6F4EF"/>
                </a:solidFill>
                <a:latin typeface="Cambria" pitchFamily="34" charset="0"/>
                <a:ea typeface="Cambria" pitchFamily="34" charset="-122"/>
                <a:cs typeface="Cambria" pitchFamily="34" charset="-120"/>
              </a:rPr>
              <a:t>Leave the rest of the paper alone.</a:t>
            </a:r>
            <a:endParaRPr lang="en-US" sz="2800" dirty="0"/>
          </a:p>
        </p:txBody>
      </p:sp>
      <p:sp>
        <p:nvSpPr>
          <p:cNvPr id="5" name="Shape 3"/>
          <p:cNvSpPr/>
          <p:nvPr/>
        </p:nvSpPr>
        <p:spPr>
          <a:xfrm>
            <a:off x="685800" y="3703320"/>
            <a:ext cx="5669280" cy="0"/>
          </a:xfrm>
          <a:prstGeom prst="line">
            <a:avLst/>
          </a:prstGeom>
          <a:noFill/>
          <a:ln w="9525">
            <a:solidFill>
              <a:srgbClr val="3A4E70"/>
            </a:solidFill>
            <a:prstDash val="solid"/>
          </a:ln>
        </p:spPr>
      </p:sp>
      <p:sp>
        <p:nvSpPr>
          <p:cNvPr id="6" name="Text 4"/>
          <p:cNvSpPr txBox="1"/>
          <p:nvPr/>
        </p:nvSpPr>
        <p:spPr>
          <a:xfrm>
            <a:off x="685800" y="3977640"/>
            <a:ext cx="3657600" cy="274320"/>
          </a:xfrm>
          <a:prstGeom prst="rect">
            <a:avLst/>
          </a:prstGeom>
          <a:noFill/>
          <a:ln/>
        </p:spPr>
        <p:txBody>
          <a:bodyPr wrap="square" lIns="0" tIns="0" rIns="0" bIns="0" rtlCol="0" anchor="ctr"/>
          <a:lstStyle/>
          <a:p>
            <a:pPr indent="0" marL="0">
              <a:buNone/>
            </a:pPr>
            <a:r>
              <a:rPr lang="en-US" sz="1050" b="1" spc="220" kern="0" dirty="0">
                <a:solidFill>
                  <a:srgbClr val="C3A965"/>
                </a:solidFill>
                <a:latin typeface="Arial" pitchFamily="34" charset="0"/>
                <a:ea typeface="Arial" pitchFamily="34" charset="-122"/>
                <a:cs typeface="Arial" pitchFamily="34" charset="-120"/>
              </a:rPr>
              <a:t>THIS WEEK</a:t>
            </a:r>
            <a:endParaRPr lang="en-US" sz="1050" dirty="0"/>
          </a:p>
        </p:txBody>
      </p:sp>
      <p:sp>
        <p:nvSpPr>
          <p:cNvPr id="7" name="Shape 5"/>
          <p:cNvSpPr/>
          <p:nvPr/>
        </p:nvSpPr>
        <p:spPr>
          <a:xfrm>
            <a:off x="685800" y="4370832"/>
            <a:ext cx="347472" cy="347472"/>
          </a:xfrm>
          <a:prstGeom prst="ellipse">
            <a:avLst/>
          </a:prstGeom>
          <a:solidFill>
            <a:srgbClr val="22355A"/>
          </a:solidFill>
          <a:ln/>
        </p:spPr>
      </p:sp>
      <p:sp>
        <p:nvSpPr>
          <p:cNvPr id="8" name="Text 6"/>
          <p:cNvSpPr txBox="1"/>
          <p:nvPr/>
        </p:nvSpPr>
        <p:spPr>
          <a:xfrm>
            <a:off x="685800" y="4370832"/>
            <a:ext cx="347472" cy="347472"/>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1188720" y="4407408"/>
            <a:ext cx="7772400" cy="274320"/>
          </a:xfrm>
          <a:prstGeom prst="rect">
            <a:avLst/>
          </a:prstGeom>
          <a:noFill/>
          <a:ln/>
        </p:spPr>
        <p:txBody>
          <a:bodyPr wrap="square" lIns="0" tIns="0" rIns="0" bIns="0" rtlCol="0" anchor="ctr"/>
          <a:lstStyle/>
          <a:p>
            <a:pPr indent="0" marL="0">
              <a:buNone/>
            </a:pPr>
            <a:r>
              <a:rPr lang="en-US" sz="1300" dirty="0">
                <a:solidFill>
                  <a:srgbClr val="E8E4DA"/>
                </a:solidFill>
                <a:latin typeface="Arial" pitchFamily="34" charset="0"/>
                <a:ea typeface="Arial" pitchFamily="34" charset="-122"/>
                <a:cs typeface="Arial" pitchFamily="34" charset="-120"/>
              </a:rPr>
              <a:t>Confirm the entry, tier and exam times with the school</a:t>
            </a:r>
            <a:endParaRPr lang="en-US" sz="1300" dirty="0"/>
          </a:p>
        </p:txBody>
      </p:sp>
      <p:sp>
        <p:nvSpPr>
          <p:cNvPr id="10" name="Shape 8"/>
          <p:cNvSpPr/>
          <p:nvPr/>
        </p:nvSpPr>
        <p:spPr>
          <a:xfrm>
            <a:off x="685800" y="4901184"/>
            <a:ext cx="347472" cy="347472"/>
          </a:xfrm>
          <a:prstGeom prst="ellipse">
            <a:avLst/>
          </a:prstGeom>
          <a:solidFill>
            <a:srgbClr val="22355A"/>
          </a:solidFill>
          <a:ln/>
        </p:spPr>
      </p:sp>
      <p:sp>
        <p:nvSpPr>
          <p:cNvPr id="11" name="Text 9"/>
          <p:cNvSpPr txBox="1"/>
          <p:nvPr/>
        </p:nvSpPr>
        <p:spPr>
          <a:xfrm>
            <a:off x="685800" y="4901184"/>
            <a:ext cx="347472" cy="347472"/>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1188720" y="4937760"/>
            <a:ext cx="7772400" cy="274320"/>
          </a:xfrm>
          <a:prstGeom prst="rect">
            <a:avLst/>
          </a:prstGeom>
          <a:noFill/>
          <a:ln/>
        </p:spPr>
        <p:txBody>
          <a:bodyPr wrap="square" lIns="0" tIns="0" rIns="0" bIns="0" rtlCol="0" anchor="ctr"/>
          <a:lstStyle/>
          <a:p>
            <a:pPr indent="0" marL="0">
              <a:buNone/>
            </a:pPr>
            <a:r>
              <a:rPr lang="en-US" sz="1300" dirty="0">
                <a:solidFill>
                  <a:srgbClr val="E8E4DA"/>
                </a:solidFill>
                <a:latin typeface="Arial" pitchFamily="34" charset="0"/>
                <a:ea typeface="Arial" pitchFamily="34" charset="-122"/>
                <a:cs typeface="Arial" pitchFamily="34" charset="-120"/>
              </a:rPr>
              <a:t>Run the fluency audit and the calculator setup in session one</a:t>
            </a:r>
            <a:endParaRPr lang="en-US" sz="1300" dirty="0"/>
          </a:p>
        </p:txBody>
      </p:sp>
      <p:sp>
        <p:nvSpPr>
          <p:cNvPr id="13" name="Shape 11"/>
          <p:cNvSpPr/>
          <p:nvPr/>
        </p:nvSpPr>
        <p:spPr>
          <a:xfrm>
            <a:off x="685800" y="5431536"/>
            <a:ext cx="347472" cy="347472"/>
          </a:xfrm>
          <a:prstGeom prst="ellipse">
            <a:avLst/>
          </a:prstGeom>
          <a:solidFill>
            <a:srgbClr val="22355A"/>
          </a:solidFill>
          <a:ln/>
        </p:spPr>
      </p:sp>
      <p:sp>
        <p:nvSpPr>
          <p:cNvPr id="14" name="Text 12"/>
          <p:cNvSpPr txBox="1"/>
          <p:nvPr/>
        </p:nvSpPr>
        <p:spPr>
          <a:xfrm>
            <a:off x="685800" y="5431536"/>
            <a:ext cx="347472" cy="347472"/>
          </a:xfrm>
          <a:prstGeom prst="rect">
            <a:avLst/>
          </a:prstGeom>
          <a:noFill/>
          <a:ln/>
        </p:spPr>
        <p:txBody>
          <a:bodyPr wrap="square" lIns="0" tIns="0" rIns="0" bIns="0" rtlCol="0" anchor="ctr"/>
          <a:lstStyle/>
          <a:p>
            <a:pPr algn="ctr" indent="0" marL="0">
              <a:buNone/>
            </a:pPr>
            <a:r>
              <a:rPr lang="en-US" sz="1500" b="1" dirty="0">
                <a:solidFill>
                  <a:srgbClr val="C3A965"/>
                </a:solidFill>
                <a:latin typeface="Cambria" pitchFamily="34" charset="0"/>
                <a:ea typeface="Cambria" pitchFamily="34" charset="-122"/>
                <a:cs typeface="Cambria" pitchFamily="34" charset="-120"/>
              </a:rPr>
              <a:t>3</a:t>
            </a:r>
            <a:endParaRPr lang="en-US" sz="1500" dirty="0"/>
          </a:p>
        </p:txBody>
      </p:sp>
      <p:sp>
        <p:nvSpPr>
          <p:cNvPr id="15" name="Text 13"/>
          <p:cNvSpPr txBox="1"/>
          <p:nvPr/>
        </p:nvSpPr>
        <p:spPr>
          <a:xfrm>
            <a:off x="1188720" y="5468112"/>
            <a:ext cx="7772400" cy="274320"/>
          </a:xfrm>
          <a:prstGeom prst="rect">
            <a:avLst/>
          </a:prstGeom>
          <a:noFill/>
          <a:ln/>
        </p:spPr>
        <p:txBody>
          <a:bodyPr wrap="square" lIns="0" tIns="0" rIns="0" bIns="0" rtlCol="0" anchor="ctr"/>
          <a:lstStyle/>
          <a:p>
            <a:pPr indent="0" marL="0">
              <a:buNone/>
            </a:pPr>
            <a:r>
              <a:rPr lang="en-US" sz="1300" dirty="0">
                <a:solidFill>
                  <a:srgbClr val="E8E4DA"/>
                </a:solidFill>
                <a:latin typeface="Arial" pitchFamily="34" charset="0"/>
                <a:ea typeface="Arial" pitchFamily="34" charset="-122"/>
                <a:cs typeface="Arial" pitchFamily="34" charset="-120"/>
              </a:rPr>
              <a:t>Sit the baseline paper at home, and set up the error log</a:t>
            </a:r>
            <a:endParaRPr lang="en-US" sz="1300" dirty="0"/>
          </a:p>
        </p:txBody>
      </p:sp>
      <p:sp>
        <p:nvSpPr>
          <p:cNvPr id="16" name="Text 14"/>
          <p:cNvSpPr txBox="1"/>
          <p:nvPr/>
        </p:nvSpPr>
        <p:spPr>
          <a:xfrm>
            <a:off x="685800" y="6172200"/>
            <a:ext cx="3657600" cy="274320"/>
          </a:xfrm>
          <a:prstGeom prst="rect">
            <a:avLst/>
          </a:prstGeom>
          <a:noFill/>
          <a:ln/>
        </p:spPr>
        <p:txBody>
          <a:bodyPr wrap="square" lIns="0" tIns="0" rIns="0" bIns="0" rtlCol="0" anchor="ctr"/>
          <a:lstStyle/>
          <a:p>
            <a:pPr indent="0" marL="0">
              <a:buNone/>
            </a:pPr>
            <a:r>
              <a:rPr lang="en-US" sz="1400" dirty="0">
                <a:solidFill>
                  <a:srgbClr val="A8B2C2"/>
                </a:solidFill>
                <a:latin typeface="Cambria" pitchFamily="34" charset="0"/>
                <a:ea typeface="Cambria" pitchFamily="34" charset="-122"/>
                <a:cs typeface="Cambria" pitchFamily="34" charset="-120"/>
              </a:rPr>
              <a:t>Ali Tutors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November Maths Plan</dc:title>
  <dc:subject>PptxGenJS Presentation</dc:subject>
  <dc:creator>Ali Tutors</dc:creator>
  <cp:lastModifiedBy>Ali Tutors</cp:lastModifiedBy>
  <cp:revision>1</cp:revision>
  <dcterms:created xsi:type="dcterms:W3CDTF">2026-09-21T12:12:52Z</dcterms:created>
  <dcterms:modified xsi:type="dcterms:W3CDTF">2026-09-21T12:12:52Z</dcterms:modified>
</cp:coreProperties>
</file>